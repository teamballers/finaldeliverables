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6858000" cx="12192000"/>
  <p:notesSz cx="6858000" cy="9144000"/>
  <p:embeddedFontLst>
    <p:embeddedFont>
      <p:font typeface="Oswald Medium"/>
      <p:regular r:id="rId35"/>
      <p:bold r:id="rId36"/>
    </p:embeddedFont>
    <p:embeddedFont>
      <p:font typeface="Open Sans ExtraBold"/>
      <p:bold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3" roundtripDataSignature="AMtx7mj79O42cSL2N+mWZHAW+t6wVwhw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3DDFAE-A062-47EA-B7A2-C0F85B01F83A}">
  <a:tblStyle styleId="{513DDFAE-A062-47EA-B7A2-C0F85B01F8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3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OswaldMedium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OpenSansExtraBold-bold.fntdata"/><Relationship Id="rId14" Type="http://schemas.openxmlformats.org/officeDocument/2006/relationships/slide" Target="slides/slide7.xml"/><Relationship Id="rId36" Type="http://schemas.openxmlformats.org/officeDocument/2006/relationships/font" Target="fonts/OswaldMedium-bold.fntdata"/><Relationship Id="rId17" Type="http://schemas.openxmlformats.org/officeDocument/2006/relationships/slide" Target="slides/slide10.xml"/><Relationship Id="rId39" Type="http://schemas.openxmlformats.org/officeDocument/2006/relationships/font" Target="fonts/OpenSans-regular.fntdata"/><Relationship Id="rId16" Type="http://schemas.openxmlformats.org/officeDocument/2006/relationships/slide" Target="slides/slide9.xml"/><Relationship Id="rId38" Type="http://schemas.openxmlformats.org/officeDocument/2006/relationships/font" Target="fonts/OpenSansExtraBold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responders routinely enter dangerous and unfamiliar environments with limited situational awareness, increasing the likelihood of injury, delayed rescue, and poor tactical decision-making.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Existing technologies, such as drones, body-worn cameras, and robots are often not good enough for current situations, and do not significantly reduce risks for first responders.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505a0edd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responders routinely enter dangerous and unfamiliar environments with limited situational awareness, increasing the likelihood of injury, delayed rescue, and poor tactical decision-making.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Existing technologies, such as drones, body-worn cameras, and robots are often not good enough for current situations, and do not significantly reduce risks for first responders.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c505a0edd8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778fd06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responders routinely enter dangerous and unfamiliar environments with limited situational awareness, increasing the likelihood of injury, delayed rescue, and poor tactical decision-making.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Existing technologies, such as drones, body-worn cameras, and robots are often not good enough for current situations, and do not significantly reduce risks for first responders.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d778fd065e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05a0edd8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505a0edd8_2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505a0edd8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505a0edd8_2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778fd065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778fd065e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d96a981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bd96a98101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d96a9810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bd96a9810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d66542a1e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d66542a1e_2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778fd065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778fd065e_1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d66542a1e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d66542a1e_2_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d66542a1e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d66542a1e_2_2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d66542a1e_2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cd66542a1e_2_3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5d6e6cf6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c5d6e6cf66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505a0edd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c505a0edd8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505a0edd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c505a0edd8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505a0edd8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505a0edd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c505a0edd8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505a0edd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c505a0edd8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505a0edd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c505a0edd8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5d6e6cf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c5d6e6cf66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04432fb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3d04432fbc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5d6e6cf6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c5d6e6cf66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5d6e6cf6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c5d6e6cf66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04432fbc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g3d04432fbcb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ademicBdlg.jpg" id="19" name="Google Shape;1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4459" y="207095"/>
            <a:ext cx="11663082" cy="645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 txBox="1"/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  <a:defRPr b="0" i="0" sz="5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1828800" y="4235390"/>
            <a:ext cx="8534400" cy="1189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929" y="1017297"/>
            <a:ext cx="1462142" cy="111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-2967296" y="3299573"/>
            <a:ext cx="6463510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8695786" y="3289723"/>
            <a:ext cx="6463510" cy="258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body"/>
          </p:nvPr>
        </p:nvSpPr>
        <p:spPr>
          <a:xfrm>
            <a:off x="609600" y="2294022"/>
            <a:ext cx="5384800" cy="3832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Char char="•"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6197600" y="2294022"/>
            <a:ext cx="5384800" cy="3832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Char char="•"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609600" y="1282318"/>
            <a:ext cx="10972800" cy="8936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SCwall.psd"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9938" y="208038"/>
            <a:ext cx="11672125" cy="644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/>
          <p:nvPr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1499616" y="2857500"/>
            <a:ext cx="91927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400"/>
              <a:buFont typeface="Oswald Medium"/>
              <a:buNone/>
              <a:defRPr b="0" i="0" sz="3400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-2967296" y="3299573"/>
            <a:ext cx="6463510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8695786" y="3289723"/>
            <a:ext cx="6463510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1830" y="1661939"/>
            <a:ext cx="908339" cy="91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09601" y="245097"/>
            <a:ext cx="7416800" cy="923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 Medium"/>
              <a:buNone/>
              <a:defRPr b="0" i="0" sz="28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09600" y="1478844"/>
            <a:ext cx="10972799" cy="4647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600"/>
              <a:buFont typeface="Oswald Medium"/>
              <a:buNone/>
              <a:defRPr b="0" i="0" sz="3600" cap="none"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3E3E3E"/>
              </a:buClr>
              <a:buSzPts val="1600"/>
              <a:buNone/>
              <a:defRPr b="1" i="0" sz="1600">
                <a:solidFill>
                  <a:srgbClr val="3E3E3E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609600" y="1282318"/>
            <a:ext cx="10972800" cy="8936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609600" y="2307098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None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609600" y="2946861"/>
            <a:ext cx="5386917" cy="317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11"/>
          <p:cNvSpPr txBox="1"/>
          <p:nvPr>
            <p:ph idx="3" type="body"/>
          </p:nvPr>
        </p:nvSpPr>
        <p:spPr>
          <a:xfrm>
            <a:off x="6193378" y="2307098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i="0" sz="20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1"/>
          <p:cNvSpPr txBox="1"/>
          <p:nvPr>
            <p:ph idx="4" type="body"/>
          </p:nvPr>
        </p:nvSpPr>
        <p:spPr>
          <a:xfrm>
            <a:off x="6193378" y="2946861"/>
            <a:ext cx="5389033" cy="317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609611" y="1285460"/>
            <a:ext cx="4011084" cy="1047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swald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766733" y="1285461"/>
            <a:ext cx="6815667" cy="4840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609611" y="2492188"/>
            <a:ext cx="4011084" cy="363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389717" y="480060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swald Medium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2389717" y="1311965"/>
            <a:ext cx="7315200" cy="341561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389717" y="5367343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ademicBdlg.jpg" id="94" name="Google Shape;94;g3cd66542a1e_2_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4459" y="207095"/>
            <a:ext cx="11663084" cy="64536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cd66542a1e_2_114"/>
          <p:cNvSpPr txBox="1"/>
          <p:nvPr>
            <p:ph type="ctrTitle"/>
          </p:nvPr>
        </p:nvSpPr>
        <p:spPr>
          <a:xfrm>
            <a:off x="914400" y="2693989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  <a:defRPr b="0" i="0" sz="5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cd66542a1e_2_114"/>
          <p:cNvSpPr txBox="1"/>
          <p:nvPr>
            <p:ph idx="1" type="subTitle"/>
          </p:nvPr>
        </p:nvSpPr>
        <p:spPr>
          <a:xfrm>
            <a:off x="1828800" y="4235390"/>
            <a:ext cx="85344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g3cd66542a1e_2_11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cd66542a1e_2_11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cd66542a1e_2_1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g3cd66542a1e_2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929" y="1017297"/>
            <a:ext cx="1462141" cy="111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cd66542a1e_2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-2967295" y="3299572"/>
            <a:ext cx="6463507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cd66542a1e_2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8695787" y="3289722"/>
            <a:ext cx="6463507" cy="258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66542a1e_2_124"/>
          <p:cNvSpPr txBox="1"/>
          <p:nvPr>
            <p:ph idx="1" type="body"/>
          </p:nvPr>
        </p:nvSpPr>
        <p:spPr>
          <a:xfrm>
            <a:off x="609600" y="2294022"/>
            <a:ext cx="53847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Char char="•"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5" name="Google Shape;105;g3cd66542a1e_2_124"/>
          <p:cNvSpPr txBox="1"/>
          <p:nvPr>
            <p:ph idx="2" type="body"/>
          </p:nvPr>
        </p:nvSpPr>
        <p:spPr>
          <a:xfrm>
            <a:off x="6197600" y="2294022"/>
            <a:ext cx="53847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Char char="•"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6" name="Google Shape;106;g3cd66542a1e_2_12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cd66542a1e_2_12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cd66542a1e_2_12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cd66542a1e_2_124"/>
          <p:cNvSpPr txBox="1"/>
          <p:nvPr>
            <p:ph type="title"/>
          </p:nvPr>
        </p:nvSpPr>
        <p:spPr>
          <a:xfrm>
            <a:off x="609600" y="12823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SCwall.psd" id="111" name="Google Shape;111;g3cd66542a1e_2_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9938" y="208038"/>
            <a:ext cx="11672125" cy="6441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cd66542a1e_2_131"/>
          <p:cNvSpPr/>
          <p:nvPr/>
        </p:nvSpPr>
        <p:spPr>
          <a:xfrm>
            <a:off x="1060470" y="2093434"/>
            <a:ext cx="10071000" cy="2671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cd66542a1e_2_13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cd66542a1e_2_13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cd66542a1e_2_13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cd66542a1e_2_131"/>
          <p:cNvSpPr txBox="1"/>
          <p:nvPr>
            <p:ph type="title"/>
          </p:nvPr>
        </p:nvSpPr>
        <p:spPr>
          <a:xfrm>
            <a:off x="1499616" y="2857500"/>
            <a:ext cx="9192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400"/>
              <a:buFont typeface="Oswald Medium"/>
              <a:buNone/>
              <a:defRPr b="0" i="0" sz="3400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7" name="Google Shape;117;g3cd66542a1e_2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-2967295" y="3299572"/>
            <a:ext cx="6463507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cd66542a1e_2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8695787" y="3289722"/>
            <a:ext cx="6463507" cy="258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cd66542a1e_2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1830" y="1661939"/>
            <a:ext cx="908340" cy="918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d66542a1e_2_141"/>
          <p:cNvSpPr txBox="1"/>
          <p:nvPr>
            <p:ph type="title"/>
          </p:nvPr>
        </p:nvSpPr>
        <p:spPr>
          <a:xfrm>
            <a:off x="609601" y="245097"/>
            <a:ext cx="7416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 Medium"/>
              <a:buNone/>
              <a:defRPr b="0" i="0" sz="28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cd66542a1e_2_141"/>
          <p:cNvSpPr txBox="1"/>
          <p:nvPr>
            <p:ph idx="1" type="body"/>
          </p:nvPr>
        </p:nvSpPr>
        <p:spPr>
          <a:xfrm>
            <a:off x="609600" y="1478844"/>
            <a:ext cx="10972800" cy="4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cd66542a1e_2_14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cd66542a1e_2_14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cd66542a1e_2_14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d66542a1e_2_147"/>
          <p:cNvSpPr txBox="1"/>
          <p:nvPr>
            <p:ph type="title"/>
          </p:nvPr>
        </p:nvSpPr>
        <p:spPr>
          <a:xfrm>
            <a:off x="963084" y="4406902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600"/>
              <a:buFont typeface="Oswald Medium"/>
              <a:buNone/>
              <a:defRPr b="0" i="0" sz="3600" cap="none"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cd66542a1e_2_147"/>
          <p:cNvSpPr txBox="1"/>
          <p:nvPr>
            <p:ph idx="1" type="body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rgbClr val="3E3E3E"/>
              </a:buClr>
              <a:buSzPts val="1600"/>
              <a:buNone/>
              <a:defRPr b="1" i="0" sz="1600">
                <a:solidFill>
                  <a:srgbClr val="3E3E3E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g3cd66542a1e_2_147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cd66542a1e_2_147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cd66542a1e_2_14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d66542a1e_2_153"/>
          <p:cNvSpPr txBox="1"/>
          <p:nvPr>
            <p:ph type="title"/>
          </p:nvPr>
        </p:nvSpPr>
        <p:spPr>
          <a:xfrm>
            <a:off x="609600" y="12823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cd66542a1e_2_153"/>
          <p:cNvSpPr txBox="1"/>
          <p:nvPr>
            <p:ph idx="1" type="body"/>
          </p:nvPr>
        </p:nvSpPr>
        <p:spPr>
          <a:xfrm>
            <a:off x="609600" y="2307098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rgbClr val="500000"/>
              </a:buClr>
              <a:buSzPts val="2200"/>
              <a:buNone/>
              <a:defRPr b="1" i="0" sz="22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5" name="Google Shape;135;g3cd66542a1e_2_153"/>
          <p:cNvSpPr txBox="1"/>
          <p:nvPr>
            <p:ph idx="2" type="body"/>
          </p:nvPr>
        </p:nvSpPr>
        <p:spPr>
          <a:xfrm>
            <a:off x="609600" y="2946861"/>
            <a:ext cx="53868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6" name="Google Shape;136;g3cd66542a1e_2_153"/>
          <p:cNvSpPr txBox="1"/>
          <p:nvPr>
            <p:ph idx="3" type="body"/>
          </p:nvPr>
        </p:nvSpPr>
        <p:spPr>
          <a:xfrm>
            <a:off x="6193378" y="2307098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i="0" sz="20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g3cd66542a1e_2_153"/>
          <p:cNvSpPr txBox="1"/>
          <p:nvPr>
            <p:ph idx="4" type="body"/>
          </p:nvPr>
        </p:nvSpPr>
        <p:spPr>
          <a:xfrm>
            <a:off x="6193378" y="2946861"/>
            <a:ext cx="53889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500000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g3cd66542a1e_2_15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cd66542a1e_2_15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cd66542a1e_2_15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d66542a1e_2_162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cd66542a1e_2_162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cd66542a1e_2_16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d66542a1e_2_166"/>
          <p:cNvSpPr txBox="1"/>
          <p:nvPr>
            <p:ph type="title"/>
          </p:nvPr>
        </p:nvSpPr>
        <p:spPr>
          <a:xfrm>
            <a:off x="609611" y="1285460"/>
            <a:ext cx="40110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swald Medium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cd66542a1e_2_166"/>
          <p:cNvSpPr txBox="1"/>
          <p:nvPr>
            <p:ph idx="1" type="body"/>
          </p:nvPr>
        </p:nvSpPr>
        <p:spPr>
          <a:xfrm>
            <a:off x="4766733" y="1285461"/>
            <a:ext cx="68157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8" name="Google Shape;148;g3cd66542a1e_2_166"/>
          <p:cNvSpPr txBox="1"/>
          <p:nvPr>
            <p:ph idx="2" type="body"/>
          </p:nvPr>
        </p:nvSpPr>
        <p:spPr>
          <a:xfrm>
            <a:off x="609611" y="2492188"/>
            <a:ext cx="4011000" cy="3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9" name="Google Shape;149;g3cd66542a1e_2_166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cd66542a1e_2_166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cd66542a1e_2_16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d66542a1e_2_173"/>
          <p:cNvSpPr txBox="1"/>
          <p:nvPr>
            <p:ph type="title"/>
          </p:nvPr>
        </p:nvSpPr>
        <p:spPr>
          <a:xfrm>
            <a:off x="2389717" y="4800602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swald Medium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cd66542a1e_2_173"/>
          <p:cNvSpPr/>
          <p:nvPr>
            <p:ph idx="2" type="pic"/>
          </p:nvPr>
        </p:nvSpPr>
        <p:spPr>
          <a:xfrm>
            <a:off x="2389717" y="1311965"/>
            <a:ext cx="7315200" cy="3415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g3cd66542a1e_2_173"/>
          <p:cNvSpPr txBox="1"/>
          <p:nvPr>
            <p:ph idx="1" type="body"/>
          </p:nvPr>
        </p:nvSpPr>
        <p:spPr>
          <a:xfrm>
            <a:off x="2389717" y="5367343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6" name="Google Shape;156;g3cd66542a1e_2_17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cd66542a1e_2_17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cd66542a1e_2_17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09600" y="1196535"/>
            <a:ext cx="10972800" cy="926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 b="0" i="0" sz="4400" u="none" cap="none" strike="noStrike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09600" y="2253006"/>
            <a:ext cx="10972800" cy="3873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64459" y="213662"/>
            <a:ext cx="11663082" cy="92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335" y="701811"/>
            <a:ext cx="113192" cy="520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335" y="152520"/>
            <a:ext cx="113192" cy="52068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d66542a1e_2_105"/>
          <p:cNvSpPr txBox="1"/>
          <p:nvPr>
            <p:ph type="title"/>
          </p:nvPr>
        </p:nvSpPr>
        <p:spPr>
          <a:xfrm>
            <a:off x="609600" y="1196535"/>
            <a:ext cx="10972800" cy="9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  <a:defRPr b="0" i="0" sz="4400" u="none" cap="none" strike="noStrike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g3cd66542a1e_2_105"/>
          <p:cNvSpPr txBox="1"/>
          <p:nvPr>
            <p:ph idx="1" type="body"/>
          </p:nvPr>
        </p:nvSpPr>
        <p:spPr>
          <a:xfrm>
            <a:off x="609600" y="2253006"/>
            <a:ext cx="10972800" cy="38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rgbClr val="5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rgbClr val="5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rgbClr val="5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cd66542a1e_2_105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cd66542a1e_2_105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3cd66542a1e_2_10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g3cd66542a1e_2_10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64459" y="213662"/>
            <a:ext cx="11663082" cy="92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cd66542a1e_2_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335" y="701811"/>
            <a:ext cx="113193" cy="520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cd66542a1e_2_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335" y="152520"/>
            <a:ext cx="113193" cy="52068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mikroe.com/gyro-5-click?srsltid=AfmBOoojjLbsTIfW4IwwWhsBtR1SH7V1Y8wzSb68w5equoQyeZHqkRWi" TargetMode="External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Relationship Id="rId4" Type="http://schemas.openxmlformats.org/officeDocument/2006/relationships/image" Target="../media/image32.jpg"/><Relationship Id="rId5" Type="http://schemas.openxmlformats.org/officeDocument/2006/relationships/image" Target="../media/image27.jpg"/><Relationship Id="rId6" Type="http://schemas.openxmlformats.org/officeDocument/2006/relationships/image" Target="../media/image2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c_UUt__d6W8s-4g1pv_sh3pAPB7HZzq7/view" TargetMode="External"/><Relationship Id="rId4" Type="http://schemas.openxmlformats.org/officeDocument/2006/relationships/image" Target="../media/image1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ctrTitle"/>
          </p:nvPr>
        </p:nvSpPr>
        <p:spPr>
          <a:xfrm>
            <a:off x="914400" y="3257950"/>
            <a:ext cx="103632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</a:pPr>
            <a:r>
              <a:rPr lang="en-US"/>
              <a:t>CDR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</a:pPr>
            <a:r>
              <a:rPr i="1" lang="en-US" sz="3600"/>
              <a:t>Emergency Response Mapping Sphere</a:t>
            </a:r>
            <a:endParaRPr i="1"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</a:pPr>
            <a:r>
              <a:t/>
            </a:r>
            <a:endParaRPr/>
          </a:p>
        </p:txBody>
      </p:sp>
      <p:sp>
        <p:nvSpPr>
          <p:cNvPr id="165" name="Google Shape;165;p1"/>
          <p:cNvSpPr txBox="1"/>
          <p:nvPr>
            <p:ph idx="1" type="subTitle"/>
          </p:nvPr>
        </p:nvSpPr>
        <p:spPr>
          <a:xfrm>
            <a:off x="1804050" y="4365226"/>
            <a:ext cx="8583900" cy="1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lang="en-US"/>
              <a:t>Team ERMS</a:t>
            </a:r>
            <a:endParaRPr b="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Brandon Le, Kiet Nguyen, Hai Yen Nguyen, Antony Quach, Josh Wu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609600" y="1390375"/>
            <a:ext cx="11228700" cy="3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Emergency response operations require </a:t>
            </a:r>
            <a:r>
              <a:rPr b="0" lang="en-US"/>
              <a:t>rapid, accurate situational awareness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in hazardous environments. 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First responders routinely enter </a:t>
            </a:r>
            <a:r>
              <a:rPr b="0" lang="en-US"/>
              <a:t>dangerous, unfamiliar environments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with </a:t>
            </a:r>
            <a:r>
              <a:rPr b="0" lang="en-US"/>
              <a:t>limited visibility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This increases the risk of </a:t>
            </a:r>
            <a:r>
              <a:rPr b="0" lang="en-US"/>
              <a:t>injury, delayed rescue, and poor tactical decisions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Existing technologies, such as drones, body-worn cameras, and robots often provide </a:t>
            </a:r>
            <a:r>
              <a:rPr b="0" lang="en-US"/>
              <a:t>incomplete or unreliable information.</a:t>
            </a:r>
            <a:endParaRPr b="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578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Current technologies do not sufficiently reduce </a:t>
            </a:r>
            <a:r>
              <a:rPr b="0" lang="en-US"/>
              <a:t>operational risk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 due to impracticality to deploy in confined or chaotic events.</a:t>
            </a:r>
            <a:endParaRPr b="0"/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"/>
          <p:cNvSpPr txBox="1"/>
          <p:nvPr>
            <p:ph type="title"/>
          </p:nvPr>
        </p:nvSpPr>
        <p:spPr>
          <a:xfrm>
            <a:off x="609600" y="366400"/>
            <a:ext cx="10972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ct val="1000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05a0edd8_2_1"/>
          <p:cNvSpPr txBox="1"/>
          <p:nvPr>
            <p:ph idx="1" type="body"/>
          </p:nvPr>
        </p:nvSpPr>
        <p:spPr>
          <a:xfrm>
            <a:off x="609600" y="1339825"/>
            <a:ext cx="10972800" cy="53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Performance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take no longer than 30 seconds from capturing the first image to displaying a 3D model of the environment.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achieve at least 5 fps streaming at 720p resolution.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Functionality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cameras and raspberry pi should all fit inside the ball and remain functional while the ball is rolling.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be able to identify which camera is facing downwards.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require minimal setup for operators, not exceeding 20 seconds to prepare to throw the ball.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Energy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reduce power consumption by cutting the downward facing camera when not needed.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Environmental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not exceed 7 inches in diameter for portability.</a:t>
            </a:r>
            <a:endParaRPr sz="1800"/>
          </a:p>
        </p:txBody>
      </p:sp>
      <p:sp>
        <p:nvSpPr>
          <p:cNvPr id="177" name="Google Shape;177;g3c505a0edd8_2_1"/>
          <p:cNvSpPr txBox="1"/>
          <p:nvPr>
            <p:ph type="title"/>
          </p:nvPr>
        </p:nvSpPr>
        <p:spPr>
          <a:xfrm>
            <a:off x="609600" y="366400"/>
            <a:ext cx="10972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ct val="1000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Requirements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778fd065e_1_0"/>
          <p:cNvSpPr txBox="1"/>
          <p:nvPr>
            <p:ph idx="1" type="body"/>
          </p:nvPr>
        </p:nvSpPr>
        <p:spPr>
          <a:xfrm>
            <a:off x="609600" y="1339825"/>
            <a:ext cx="10972800" cy="53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Economic</a:t>
            </a:r>
            <a:endParaRPr b="0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prototyping cost of the ball should not exceed $250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Legal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system shall use a commercial Wi-Fi module with documented FCC compliance.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Safety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enclosure shall be constructed from a material with a documented flame resistance rating to protect internal electronics </a:t>
            </a: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from ignition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Maintainability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shall allow access to internal electronics using standard tools without damaging the enclosure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Usability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system shall provide a user interface that can be operated without requiring programming knowledge.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Reliability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lang="en-US" sz="1800">
                <a:latin typeface="Open Sans"/>
                <a:ea typeface="Open Sans"/>
                <a:cs typeface="Open Sans"/>
                <a:sym typeface="Open Sans"/>
              </a:rPr>
              <a:t>The ball should be able to withstand a 2-meter drop with no damage to the external structure or internal electronics.</a:t>
            </a:r>
            <a:endParaRPr b="0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g3d778fd065e_1_0"/>
          <p:cNvSpPr txBox="1"/>
          <p:nvPr>
            <p:ph type="title"/>
          </p:nvPr>
        </p:nvSpPr>
        <p:spPr>
          <a:xfrm>
            <a:off x="609600" y="366400"/>
            <a:ext cx="10972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ct val="1000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Requirements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505a0edd8_2_6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3900">
                <a:solidFill>
                  <a:schemeClr val="lt1"/>
                </a:solidFill>
              </a:rPr>
              <a:t>Testable specification for requirements</a:t>
            </a:r>
            <a:endParaRPr sz="3900">
              <a:solidFill>
                <a:schemeClr val="lt1"/>
              </a:solidFill>
            </a:endParaRPr>
          </a:p>
        </p:txBody>
      </p:sp>
      <p:graphicFrame>
        <p:nvGraphicFramePr>
          <p:cNvPr id="189" name="Google Shape;189;g3c505a0edd8_2_6"/>
          <p:cNvGraphicFramePr/>
          <p:nvPr/>
        </p:nvGraphicFramePr>
        <p:xfrm>
          <a:off x="276263" y="113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{513DDFAE-A062-47EA-B7A2-C0F85B01F83A}</a:tableStyleId>
              </a:tblPr>
              <a:tblGrid>
                <a:gridCol w="2415925"/>
                <a:gridCol w="3042325"/>
                <a:gridCol w="3406850"/>
                <a:gridCol w="2773950"/>
              </a:tblGrid>
              <a:tr h="4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 Type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Verification Method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Pass Criteria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Performance</a:t>
                      </a:r>
                      <a:endParaRPr sz="1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3D Model generated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≤ 30s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Timestamp logging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≤ 30 seconds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</a:tr>
              <a:tr h="102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Performance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Stream ≥ 5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fps at 720p resolution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Measure frame rate over 60-second streaming sessions using software like OpenCV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Average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 5 fps sustained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9FD"/>
                    </a:solidFill>
                  </a:tcPr>
                </a:tc>
              </a:tr>
              <a:tr h="10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Functionality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Components fit &amp; remain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functional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while in motion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Physical assembly check and rolling tests.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components fit and all cameras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operational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during rolling test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0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Functionality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Detect orientation and downward-facing camera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Orientation test (6 positions) and compare sensor output to ground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truth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≤ 95% of trials correct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0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Functionality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System setup for throwing ball should take ≤ 20s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Time operator from power-on to throw-ready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≤ 25s on average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505a0edd8_2_86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3900">
                <a:solidFill>
                  <a:schemeClr val="lt1"/>
                </a:solidFill>
              </a:rPr>
              <a:t>Testable specification for requirements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95" name="Google Shape;195;g3c505a0edd8_2_86"/>
          <p:cNvGraphicFramePr/>
          <p:nvPr/>
        </p:nvGraphicFramePr>
        <p:xfrm>
          <a:off x="276263" y="113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{513DDFAE-A062-47EA-B7A2-C0F85B01F83A}</a:tableStyleId>
              </a:tblPr>
              <a:tblGrid>
                <a:gridCol w="2415925"/>
                <a:gridCol w="3042325"/>
                <a:gridCol w="3406850"/>
                <a:gridCol w="2773950"/>
              </a:tblGrid>
              <a:tr h="4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 Type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Verification Method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Pass Criteria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Energy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Reduce power by disabling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downward camera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Measure current draw with and without IMU and camera disabling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 15% reduction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Environmental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Ball diameter </a:t>
                      </a: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≤ 7 inches for portability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Measure final assembled ball diameter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 7 inches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DA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Economic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Prototyping cost &lt; $250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Inspection of Bill of Materials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cost is less than $250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Legal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FCC compliant Wi-Fi modules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Inspection of module documentation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Datasheet shows FCC compliance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778fd065e_1_5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3900">
                <a:solidFill>
                  <a:schemeClr val="lt1"/>
                </a:solidFill>
              </a:rPr>
              <a:t>Testable specification for requirements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01" name="Google Shape;201;g3d778fd065e_1_5"/>
          <p:cNvGraphicFramePr/>
          <p:nvPr/>
        </p:nvGraphicFramePr>
        <p:xfrm>
          <a:off x="276263" y="113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{513DDFAE-A062-47EA-B7A2-C0F85B01F83A}</a:tableStyleId>
              </a:tblPr>
              <a:tblGrid>
                <a:gridCol w="2415925"/>
                <a:gridCol w="3042325"/>
                <a:gridCol w="3406850"/>
                <a:gridCol w="2773950"/>
              </a:tblGrid>
              <a:tr h="4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 Type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Requirement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Verification Method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Pass Criteria</a:t>
                      </a:r>
                      <a:endParaRPr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Safety</a:t>
                      </a:r>
                      <a:endParaRPr b="1"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Shell should be made of fire resistant material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Inspection of material datasheet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Datasheet shows material withstands heat up to 100 C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Maintainability</a:t>
                      </a:r>
                      <a:endParaRPr b="1"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Internal electronics accessible by standard tools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Disassemble and reassemble using standard screwdrivers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Test is performed with no structural damage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54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Usability</a:t>
                      </a:r>
                      <a:endParaRPr b="1"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GUI is usable without requiring coding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User test demonstration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user with no programming background completes defined tasks successfully</a:t>
                      </a:r>
                      <a:endParaRPr sz="18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83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500000"/>
                          </a:solidFill>
                          <a:latin typeface="Open Sans ExtraBold"/>
                          <a:ea typeface="Open Sans ExtraBold"/>
                          <a:cs typeface="Open Sans ExtraBold"/>
                          <a:sym typeface="Open Sans ExtraBold"/>
                        </a:rPr>
                        <a:t>Reliability</a:t>
                      </a:r>
                      <a:endParaRPr b="1" sz="1800">
                        <a:solidFill>
                          <a:srgbClr val="500000"/>
                        </a:solidFill>
                        <a:latin typeface="Open Sans ExtraBold"/>
                        <a:ea typeface="Open Sans ExtraBold"/>
                        <a:cs typeface="Open Sans ExtraBold"/>
                        <a:sym typeface="Open Sans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Survive 2m drop without damage 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Drop test from 2 meters (3 trials) onto concrete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5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structural damage, system still functional</a:t>
                      </a:r>
                      <a:endParaRPr sz="1800">
                        <a:solidFill>
                          <a:srgbClr val="5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d96a98101_0_7"/>
          <p:cNvSpPr txBox="1"/>
          <p:nvPr>
            <p:ph idx="1" type="body"/>
          </p:nvPr>
        </p:nvSpPr>
        <p:spPr>
          <a:xfrm>
            <a:off x="278525" y="1369800"/>
            <a:ext cx="111129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00"/>
              <a:t>Raspberry Pi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Pi 5:</a:t>
            </a:r>
            <a:r>
              <a:rPr lang="en-US" sz="2100"/>
              <a:t> 4 GB RAM processes better but </a:t>
            </a:r>
            <a:r>
              <a:rPr lang="en-US" sz="2100"/>
              <a:t>significantly</a:t>
            </a:r>
            <a:r>
              <a:rPr lang="en-US" sz="2100"/>
              <a:t> higher power </a:t>
            </a:r>
            <a:r>
              <a:rPr lang="en-US" sz="2100"/>
              <a:t>consumption. Requires a larger battery and increasing cos</a:t>
            </a:r>
            <a:r>
              <a:rPr lang="en-US" sz="2100"/>
              <a:t>t of battery too high for our budget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Pi 4 (Selected): </a:t>
            </a:r>
            <a:r>
              <a:rPr lang="en-US" sz="2100"/>
              <a:t>Sufficient </a:t>
            </a:r>
            <a:r>
              <a:rPr lang="en-US" sz="2100"/>
              <a:t>processing</a:t>
            </a:r>
            <a:r>
              <a:rPr lang="en-US" sz="2100"/>
              <a:t> capability while maintaining lower power consumption and cost</a:t>
            </a:r>
            <a:endParaRPr sz="21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00"/>
              <a:t>Camera Modules</a:t>
            </a:r>
            <a:endParaRPr sz="2100"/>
          </a:p>
          <a:p>
            <a:pPr indent="-35194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Standard Camera</a:t>
            </a:r>
            <a:r>
              <a:rPr lang="en-US"/>
              <a:t> </a:t>
            </a:r>
            <a:r>
              <a:rPr b="1" lang="en-US" sz="2100"/>
              <a:t>Module 3: </a:t>
            </a:r>
            <a:r>
              <a:rPr lang="en-US" sz="2100"/>
              <a:t>Narrow field of view requires more cameras</a:t>
            </a:r>
            <a:endParaRPr b="1" sz="2100"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-351949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Wide Camera Module 3: </a:t>
            </a:r>
            <a:r>
              <a:rPr lang="en-US" sz="2100"/>
              <a:t>Has 120° angle of view, but lacks IR capability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Module 3 Wide NoIR Camera (Selected):</a:t>
            </a:r>
            <a:r>
              <a:rPr lang="en-US" sz="2100"/>
              <a:t> IR-sensitive with 120°, enabling 3D reconstruction in smoke-filled environments. 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00"/>
              <a:t>Gyroscope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 u="sng">
                <a:solidFill>
                  <a:schemeClr val="hlink"/>
                </a:solidFill>
                <a:hlinkClick r:id="rId3"/>
              </a:rPr>
              <a:t>Gyro 5 Click</a:t>
            </a:r>
            <a:r>
              <a:rPr b="1" lang="en-US" sz="2100"/>
              <a:t>:</a:t>
            </a:r>
            <a:r>
              <a:rPr lang="en-US" sz="2100"/>
              <a:t> High sensitivity but more expensive and complex to integrate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Adafruit ISM330DHCX (Selected):</a:t>
            </a:r>
            <a:r>
              <a:rPr lang="en-US" sz="2100"/>
              <a:t> accelerometer and gyroscope, easy integration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5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100"/>
              <a:t>Battery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High-capacity battery: </a:t>
            </a:r>
            <a:r>
              <a:rPr lang="en-US" sz="2100"/>
              <a:t>Longer runtime but heavier and larger</a:t>
            </a:r>
            <a:endParaRPr sz="2100"/>
          </a:p>
          <a:p>
            <a:pPr indent="-351949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–"/>
            </a:pPr>
            <a:r>
              <a:rPr b="1" lang="en-US" sz="2100"/>
              <a:t>Moderate-capacity battery (Selected):</a:t>
            </a:r>
            <a:r>
              <a:rPr lang="en-US" sz="2100"/>
              <a:t> Balanced runtime,</a:t>
            </a:r>
            <a:endParaRPr sz="21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latin typeface="Open Sans"/>
                <a:ea typeface="Open Sans"/>
                <a:cs typeface="Open Sans"/>
                <a:sym typeface="Open Sans"/>
              </a:rPr>
              <a:t>weight, and space for the ball </a:t>
            </a:r>
            <a:endParaRPr b="0" sz="2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d96a98101_0_7"/>
          <p:cNvSpPr txBox="1"/>
          <p:nvPr>
            <p:ph type="title"/>
          </p:nvPr>
        </p:nvSpPr>
        <p:spPr>
          <a:xfrm>
            <a:off x="609600" y="390247"/>
            <a:ext cx="109728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ct val="1000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Design Alternatives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8" name="Google Shape;208;g3bd96a98101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4525" y="5373050"/>
            <a:ext cx="3607473" cy="148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d96a98101_0_19"/>
          <p:cNvSpPr txBox="1"/>
          <p:nvPr>
            <p:ph idx="1" type="body"/>
          </p:nvPr>
        </p:nvSpPr>
        <p:spPr>
          <a:xfrm>
            <a:off x="228650" y="1341575"/>
            <a:ext cx="54864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•"/>
            </a:pPr>
            <a:r>
              <a:rPr lang="en-US" sz="2000"/>
              <a:t>A throwable ball containing cameras and electronics that can be tossed into an environment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Open Sans"/>
              <a:buChar char="•"/>
            </a:pPr>
            <a:r>
              <a:rPr lang="en-US" sz="2000"/>
              <a:t>Once deployed, the ball captures wide-angle photos from each camera and transmits them to remote server via TAMU IoT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Open Sans"/>
              <a:buChar char="•"/>
            </a:pPr>
            <a:r>
              <a:rPr lang="en-US" sz="2000"/>
              <a:t>Once received by server, it synchronizes the data and performs 3D reconstruction via 3D Gaussian Splatting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Open Sans"/>
              <a:buChar char="•"/>
            </a:pPr>
            <a:r>
              <a:rPr lang="en-US" sz="2000"/>
              <a:t>Resulting 3D model sent to connected device for operator to inspect</a:t>
            </a:r>
            <a:endParaRPr sz="2000"/>
          </a:p>
        </p:txBody>
      </p:sp>
      <p:sp>
        <p:nvSpPr>
          <p:cNvPr id="214" name="Google Shape;214;g3bd96a98101_0_19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System-Level functional Description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5" name="Google Shape;215;g3bd96a98101_0_19"/>
          <p:cNvPicPr preferRelativeResize="0"/>
          <p:nvPr/>
        </p:nvPicPr>
        <p:blipFill rotWithShape="1">
          <a:blip r:embed="rId3">
            <a:alphaModFix/>
          </a:blip>
          <a:srcRect b="0" l="3707" r="0" t="0"/>
          <a:stretch/>
        </p:blipFill>
        <p:spPr>
          <a:xfrm>
            <a:off x="5715050" y="2096150"/>
            <a:ext cx="6315549" cy="36892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bd96a98101_0_19"/>
          <p:cNvSpPr/>
          <p:nvPr/>
        </p:nvSpPr>
        <p:spPr>
          <a:xfrm>
            <a:off x="9978049" y="2524923"/>
            <a:ext cx="2052300" cy="3260400"/>
          </a:xfrm>
          <a:prstGeom prst="roundRect">
            <a:avLst>
              <a:gd fmla="val 16667" name="adj"/>
            </a:avLst>
          </a:prstGeom>
          <a:noFill/>
          <a:ln cap="flat" cmpd="sng" w="2300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225" lIns="55225" spcFirstLastPara="1" rIns="55225" wrap="square" tIns="5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g3bd96a98101_0_19"/>
          <p:cNvSpPr txBox="1"/>
          <p:nvPr/>
        </p:nvSpPr>
        <p:spPr>
          <a:xfrm>
            <a:off x="10397159" y="2555912"/>
            <a:ext cx="1214400" cy="279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55225" lIns="55225" spcFirstLastPara="1" rIns="55225" wrap="square" tIns="5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7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Monitoring Unit</a:t>
            </a:r>
            <a:endParaRPr b="1" sz="1087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d66542a1e_2_98"/>
          <p:cNvSpPr txBox="1"/>
          <p:nvPr>
            <p:ph idx="1" type="body"/>
          </p:nvPr>
        </p:nvSpPr>
        <p:spPr>
          <a:xfrm>
            <a:off x="494425" y="1284226"/>
            <a:ext cx="53847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Physical Shell: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3D-printed/CAD Design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(ABS filament for temperature resistance)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Components: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Raspberry Pi 4B microprocessor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Camera multiplexer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3 Camera modules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Portable USB battery bank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IMU Sensor (For camera-cut alg)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Cameras connected to Pi via Multiplexer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IMU Sensor connected to Pi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All components powered by a portable battery bank through the Pi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Char char="●"/>
            </a:pPr>
            <a:r>
              <a:rPr b="0" lang="en-US" sz="2000">
                <a:latin typeface="Open Sans"/>
                <a:ea typeface="Open Sans"/>
                <a:cs typeface="Open Sans"/>
                <a:sym typeface="Open Sans"/>
              </a:rPr>
              <a:t>Cameras and Pi are mounted by screws</a:t>
            </a:r>
            <a:endParaRPr b="0"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g3cd66542a1e_2_98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Hardware Design: Throwable Ball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g3cd66542a1e_2_98"/>
          <p:cNvSpPr txBox="1"/>
          <p:nvPr/>
        </p:nvSpPr>
        <p:spPr>
          <a:xfrm>
            <a:off x="6166613" y="5735925"/>
            <a:ext cx="5654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Battery→Pi (Initializing power source)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Raspberry Pi→Camera Multiplexer→Cameras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5" name="Google Shape;225;g3cd66542a1e_2_98"/>
          <p:cNvPicPr preferRelativeResize="0"/>
          <p:nvPr/>
        </p:nvPicPr>
        <p:blipFill rotWithShape="1">
          <a:blip r:embed="rId3">
            <a:alphaModFix/>
          </a:blip>
          <a:srcRect b="0" l="0" r="6629" t="0"/>
          <a:stretch/>
        </p:blipFill>
        <p:spPr>
          <a:xfrm>
            <a:off x="5994300" y="1284225"/>
            <a:ext cx="5999324" cy="43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778fd065e_1_15"/>
          <p:cNvSpPr txBox="1"/>
          <p:nvPr>
            <p:ph idx="1" type="body"/>
          </p:nvPr>
        </p:nvSpPr>
        <p:spPr>
          <a:xfrm>
            <a:off x="494425" y="1284226"/>
            <a:ext cx="53847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Camera Multiplexer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Hardware Attached on Top (HAT) board that sits on top of Pi GPIO pins 1-26 using stacking header, Pi camera port via FPC ribbon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3 Cameras (one not pictured)</a:t>
            </a:r>
            <a:endParaRPr b="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Connect to one multiplexer input port using FPC ribbon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Battery</a:t>
            </a:r>
            <a:endParaRPr b="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Connects to Pi power port using USB-C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Gyroscope (IMU)</a:t>
            </a:r>
            <a:endParaRPr b="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Connect to Pi GPIO pins: 3v3 via stacking header to pin 1, GND via pin 30, and use “bit-banging” to repurpose pins 29 and 31 to SDA, SCL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g3d778fd065e_1_15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Hardware Design: Interfaces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2" name="Google Shape;232;g3d778fd065e_1_15" title="circuit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525" y="1284218"/>
            <a:ext cx="5708477" cy="5421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d66542a1e_2_180"/>
          <p:cNvSpPr txBox="1"/>
          <p:nvPr>
            <p:ph idx="1" type="body"/>
          </p:nvPr>
        </p:nvSpPr>
        <p:spPr>
          <a:xfrm>
            <a:off x="7098350" y="3708200"/>
            <a:ext cx="1782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3775" lIns="87575" spcFirstLastPara="1" rIns="87575" wrap="square" tIns="43775">
            <a:normAutofit/>
          </a:bodyPr>
          <a:lstStyle/>
          <a:p>
            <a:pPr indent="0" lvl="0" marL="43794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7"/>
              <a:t>Server process image</a:t>
            </a:r>
            <a:endParaRPr sz="2107"/>
          </a:p>
        </p:txBody>
      </p:sp>
      <p:sp>
        <p:nvSpPr>
          <p:cNvPr id="238" name="Google Shape;238;g3cd66542a1e_2_180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4000">
                <a:solidFill>
                  <a:schemeClr val="lt1"/>
                </a:solidFill>
              </a:rPr>
              <a:t>Software Design: Server Connection</a:t>
            </a:r>
            <a:endParaRPr sz="4000">
              <a:solidFill>
                <a:schemeClr val="lt1"/>
              </a:solidFill>
            </a:endParaRPr>
          </a:p>
        </p:txBody>
      </p:sp>
      <p:cxnSp>
        <p:nvCxnSpPr>
          <p:cNvPr id="239" name="Google Shape;239;g3cd66542a1e_2_180"/>
          <p:cNvCxnSpPr/>
          <p:nvPr/>
        </p:nvCxnSpPr>
        <p:spPr>
          <a:xfrm rot="10800000">
            <a:off x="8661042" y="4067666"/>
            <a:ext cx="2124900" cy="118500"/>
          </a:xfrm>
          <a:prstGeom prst="straightConnector1">
            <a:avLst/>
          </a:prstGeom>
          <a:noFill/>
          <a:ln cap="flat" cmpd="sng" w="9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g3cd66542a1e_2_180"/>
          <p:cNvSpPr txBox="1"/>
          <p:nvPr/>
        </p:nvSpPr>
        <p:spPr>
          <a:xfrm>
            <a:off x="10871325" y="3889925"/>
            <a:ext cx="109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75" lIns="87575" spcFirstLastPara="1" rIns="87575" wrap="square" tIns="87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Ball</a:t>
            </a:r>
            <a:endParaRPr sz="195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g3cd66542a1e_2_180"/>
          <p:cNvSpPr txBox="1"/>
          <p:nvPr/>
        </p:nvSpPr>
        <p:spPr>
          <a:xfrm>
            <a:off x="9106450" y="5690200"/>
            <a:ext cx="31635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75" lIns="87575" spcFirstLastPara="1" rIns="87575" wrap="square" tIns="87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5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Remote Operator navigates 3D scene</a:t>
            </a:r>
            <a:endParaRPr sz="1965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2" name="Google Shape;242;g3cd66542a1e_2_180"/>
          <p:cNvCxnSpPr/>
          <p:nvPr/>
        </p:nvCxnSpPr>
        <p:spPr>
          <a:xfrm rot="10800000">
            <a:off x="8583038" y="4582044"/>
            <a:ext cx="1678800" cy="1014600"/>
          </a:xfrm>
          <a:prstGeom prst="straightConnector1">
            <a:avLst/>
          </a:prstGeom>
          <a:noFill/>
          <a:ln cap="flat" cmpd="sng" w="91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3" name="Google Shape;243;g3cd66542a1e_2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510" y="1255751"/>
            <a:ext cx="4317615" cy="232696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cd66542a1e_2_180"/>
          <p:cNvSpPr txBox="1"/>
          <p:nvPr/>
        </p:nvSpPr>
        <p:spPr>
          <a:xfrm>
            <a:off x="365750" y="1210500"/>
            <a:ext cx="67326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Network Architecture</a:t>
            </a:r>
            <a:endParaRPr b="1" sz="20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●"/>
            </a:pPr>
            <a:r>
              <a:rPr b="1"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Tailscale VPN Mesh Networking</a:t>
            </a:r>
            <a:endParaRPr b="1"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Secure encrypted tunnel between ball and server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Works across different physical Wi-Fi networks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Data Transmission</a:t>
            </a:r>
            <a:endParaRPr b="1" sz="20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●"/>
            </a:pPr>
            <a:r>
              <a:rPr b="1"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From Ball to Server</a:t>
            </a:r>
            <a:endParaRPr b="1"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Synchronized camera frames (JPEG compressed)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IMU orientation data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Timestamps for frame alignment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HTTP Post via FastAPI endpoint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●"/>
            </a:pPr>
            <a:r>
              <a:rPr b="1"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From Server to Operator</a:t>
            </a:r>
            <a:endParaRPr b="1"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WebRTC streaming of rendered 3D model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000"/>
              <a:buFont typeface="Open Sans"/>
              <a:buChar char="○"/>
            </a:pPr>
            <a:r>
              <a:rPr lang="en-US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Real-time visualization updates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d66542a1e_2_266"/>
          <p:cNvSpPr txBox="1"/>
          <p:nvPr>
            <p:ph idx="1" type="body"/>
          </p:nvPr>
        </p:nvSpPr>
        <p:spPr>
          <a:xfrm>
            <a:off x="8711913" y="2016150"/>
            <a:ext cx="30069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Render image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d66542a1e_2_266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4000">
                <a:solidFill>
                  <a:schemeClr val="lt1"/>
                </a:solidFill>
              </a:rPr>
              <a:t>Software Design: SLAM + 3D-Mapping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251" name="Google Shape;251;g3cd66542a1e_2_266"/>
          <p:cNvSpPr txBox="1"/>
          <p:nvPr>
            <p:ph idx="1" type="body"/>
          </p:nvPr>
        </p:nvSpPr>
        <p:spPr>
          <a:xfrm>
            <a:off x="7860463" y="1310900"/>
            <a:ext cx="16659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Server</a:t>
            </a:r>
            <a:endParaRPr sz="3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g3cd66542a1e_2_266"/>
          <p:cNvCxnSpPr/>
          <p:nvPr/>
        </p:nvCxnSpPr>
        <p:spPr>
          <a:xfrm rot="10800000">
            <a:off x="9079763" y="1476946"/>
            <a:ext cx="1629000" cy="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g3cd66542a1e_2_266"/>
          <p:cNvSpPr txBox="1"/>
          <p:nvPr/>
        </p:nvSpPr>
        <p:spPr>
          <a:xfrm>
            <a:off x="10708763" y="1260946"/>
            <a:ext cx="89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Ball</a:t>
            </a:r>
            <a:endParaRPr b="1" sz="22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g3cd66542a1e_2_266"/>
          <p:cNvCxnSpPr/>
          <p:nvPr/>
        </p:nvCxnSpPr>
        <p:spPr>
          <a:xfrm>
            <a:off x="8538938" y="1732775"/>
            <a:ext cx="587400" cy="4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g3cd66542a1e_2_266"/>
          <p:cNvSpPr txBox="1"/>
          <p:nvPr/>
        </p:nvSpPr>
        <p:spPr>
          <a:xfrm>
            <a:off x="368275" y="1372650"/>
            <a:ext cx="74922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Step 1: SLAM (Simultaneous Localization and Mapping)</a:t>
            </a:r>
            <a:endParaRPr b="1" sz="21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Estimates camera position and orientation for each frame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Uses IMU data to improve pose estimation accuracy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Tracks ball’s trajectory through the environment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Step 2: 3D Gaussian Splatting</a:t>
            </a:r>
            <a:endParaRPr b="1" sz="21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Reconstructs environment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Refines geometry based on SLAM-estimated camera poses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Generates photorealistic 3D scene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Step 3: Object Detection &amp; Threat Identification</a:t>
            </a:r>
            <a:endParaRPr b="1" sz="2100" u="sng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YOLO (You Only Look Once) based method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Flags moving objects</a:t>
            </a:r>
            <a:endParaRPr sz="2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6" name="Google Shape;256;g3cd66542a1e_2_266"/>
          <p:cNvPicPr preferRelativeResize="0"/>
          <p:nvPr/>
        </p:nvPicPr>
        <p:blipFill rotWithShape="1">
          <a:blip r:embed="rId3">
            <a:alphaModFix/>
          </a:blip>
          <a:srcRect b="11902" l="0" r="0" t="0"/>
          <a:stretch/>
        </p:blipFill>
        <p:spPr>
          <a:xfrm>
            <a:off x="7955600" y="4520150"/>
            <a:ext cx="3840425" cy="227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cd66542a1e_2_2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5600" y="2545273"/>
            <a:ext cx="3840424" cy="192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d66542a1e_2_353"/>
          <p:cNvSpPr txBox="1"/>
          <p:nvPr>
            <p:ph idx="1" type="body"/>
          </p:nvPr>
        </p:nvSpPr>
        <p:spPr>
          <a:xfrm>
            <a:off x="609600" y="1512900"/>
            <a:ext cx="5987400" cy="49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For most orientations, </a:t>
            </a:r>
            <a:r>
              <a:rPr b="0" lang="en-US"/>
              <a:t>one camera will be pointing downwards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, rendering it ineffective. We can </a:t>
            </a:r>
            <a:r>
              <a:rPr b="0" lang="en-US"/>
              <a:t>disable the downward camera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sng">
                <a:latin typeface="Open Sans"/>
                <a:ea typeface="Open Sans"/>
                <a:cs typeface="Open Sans"/>
                <a:sym typeface="Open Sans"/>
              </a:rPr>
              <a:t>Requires two components:</a:t>
            </a:r>
            <a:endParaRPr b="0" u="sng"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0" lang="en-US"/>
              <a:t>gyroscope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to determine orientation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0" lang="en-US"/>
              <a:t>camera adapter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 to multiplex multiple cameras to one board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Reduces power consumption, wear on cameras, and points of failure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g3cd66542a1e_2_353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4000">
                <a:solidFill>
                  <a:schemeClr val="lt1"/>
                </a:solidFill>
              </a:rPr>
              <a:t>Software Design: Camera Multiplexing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264" name="Google Shape;264;g3cd66542a1e_2_353"/>
          <p:cNvSpPr/>
          <p:nvPr/>
        </p:nvSpPr>
        <p:spPr>
          <a:xfrm>
            <a:off x="7284615" y="2158644"/>
            <a:ext cx="3934200" cy="3843900"/>
          </a:xfrm>
          <a:prstGeom prst="ellipse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g3cd66542a1e_2_353"/>
          <p:cNvSpPr/>
          <p:nvPr/>
        </p:nvSpPr>
        <p:spPr>
          <a:xfrm>
            <a:off x="7630676" y="2490060"/>
            <a:ext cx="3241800" cy="3181500"/>
          </a:xfrm>
          <a:prstGeom prst="ellipse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g3cd66542a1e_2_353"/>
          <p:cNvSpPr/>
          <p:nvPr/>
        </p:nvSpPr>
        <p:spPr>
          <a:xfrm rot="8924283">
            <a:off x="7376231" y="2026033"/>
            <a:ext cx="2066089" cy="931560"/>
          </a:xfrm>
          <a:prstGeom prst="triangle">
            <a:avLst>
              <a:gd fmla="val 50000" name="adj"/>
            </a:avLst>
          </a:prstGeom>
          <a:solidFill>
            <a:srgbClr val="00FF00"/>
          </a:solidFill>
          <a:ln cap="flat" cmpd="sng" w="120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925" lIns="115925" spcFirstLastPara="1" rIns="115925" wrap="square" tIns="115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g3cd66542a1e_2_353"/>
          <p:cNvSpPr/>
          <p:nvPr/>
        </p:nvSpPr>
        <p:spPr>
          <a:xfrm rot="-1689917">
            <a:off x="8145100" y="2642291"/>
            <a:ext cx="1056954" cy="389488"/>
          </a:xfrm>
          <a:prstGeom prst="rect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g3cd66542a1e_2_353"/>
          <p:cNvSpPr/>
          <p:nvPr/>
        </p:nvSpPr>
        <p:spPr>
          <a:xfrm rot="-5400000">
            <a:off x="10083598" y="3615063"/>
            <a:ext cx="2066100" cy="931500"/>
          </a:xfrm>
          <a:prstGeom prst="triangle">
            <a:avLst>
              <a:gd fmla="val 50000" name="adj"/>
            </a:avLst>
          </a:prstGeom>
          <a:solidFill>
            <a:srgbClr val="00FF00"/>
          </a:solidFill>
          <a:ln cap="flat" cmpd="sng" w="120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925" lIns="115925" spcFirstLastPara="1" rIns="115925" wrap="square" tIns="115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g3cd66542a1e_2_353"/>
          <p:cNvSpPr/>
          <p:nvPr/>
        </p:nvSpPr>
        <p:spPr>
          <a:xfrm rot="5399024">
            <a:off x="10093866" y="3885874"/>
            <a:ext cx="1056900" cy="389400"/>
          </a:xfrm>
          <a:prstGeom prst="rect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7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g3cd66542a1e_2_353"/>
          <p:cNvSpPr/>
          <p:nvPr/>
        </p:nvSpPr>
        <p:spPr>
          <a:xfrm rot="1849266">
            <a:off x="7376277" y="5072738"/>
            <a:ext cx="2066324" cy="931394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12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925" lIns="115925" spcFirstLastPara="1" rIns="115925" wrap="square" tIns="115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g3cd66542a1e_2_353"/>
          <p:cNvSpPr/>
          <p:nvPr/>
        </p:nvSpPr>
        <p:spPr>
          <a:xfrm rot="-8996063">
            <a:off x="8058044" y="5043534"/>
            <a:ext cx="1056904" cy="389264"/>
          </a:xfrm>
          <a:prstGeom prst="rect">
            <a:avLst/>
          </a:prstGeom>
          <a:solidFill>
            <a:schemeClr val="lt1"/>
          </a:solidFill>
          <a:ln cap="flat" cmpd="sng" w="11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250" lIns="106250" spcFirstLastPara="1" rIns="106250" wrap="square" tIns="106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7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5d6e6cf66_0_61"/>
          <p:cNvSpPr txBox="1"/>
          <p:nvPr>
            <p:ph idx="1" type="body"/>
          </p:nvPr>
        </p:nvSpPr>
        <p:spPr>
          <a:xfrm>
            <a:off x="609600" y="1512900"/>
            <a:ext cx="5987400" cy="49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/>
              <a:t>Ideal specs: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Pricing/hr: &lt;$2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GPU name: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RTX 3090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VRAM: 16-32 GB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memory bandwidth: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936 GB/s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CPU spec: AMD 7900X (12 core, 24 thread, equivalent ~24 vCPUs)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Proximity: located in central US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Storage: 100 GB																				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g3c5d6e6cf66_0_61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 sz="4000">
                <a:solidFill>
                  <a:schemeClr val="lt1"/>
                </a:solidFill>
              </a:rPr>
              <a:t>Software Design: Server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278" name="Google Shape;278;g3c5d6e6cf66_0_61"/>
          <p:cNvSpPr txBox="1"/>
          <p:nvPr/>
        </p:nvSpPr>
        <p:spPr>
          <a:xfrm>
            <a:off x="8123550" y="1512900"/>
            <a:ext cx="30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Fallback</a:t>
            </a:r>
            <a:r>
              <a:rPr lang="en-US" sz="2200">
                <a:solidFill>
                  <a:srgbClr val="5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: </a:t>
            </a:r>
            <a:endParaRPr sz="2200">
              <a:solidFill>
                <a:srgbClr val="500000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Due to low availability among cloud providers, we plan to use a GPU laptop</a:t>
            </a:r>
            <a:r>
              <a:rPr lang="en-US" sz="22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505a0edd8_0_55"/>
          <p:cNvSpPr txBox="1"/>
          <p:nvPr>
            <p:ph idx="1" type="body"/>
          </p:nvPr>
        </p:nvSpPr>
        <p:spPr>
          <a:xfrm>
            <a:off x="609600" y="1388375"/>
            <a:ext cx="30231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Critical Path - 18 days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g3c505a0edd8_0_55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Timeline and Project Planning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5" name="Google Shape;285;g3c505a0edd8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50" y="1913975"/>
            <a:ext cx="11126889" cy="463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505a0edd8_0_60"/>
          <p:cNvSpPr txBox="1"/>
          <p:nvPr>
            <p:ph idx="1" type="body"/>
          </p:nvPr>
        </p:nvSpPr>
        <p:spPr>
          <a:xfrm>
            <a:off x="609600" y="1368725"/>
            <a:ext cx="10400400" cy="4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Camera Capture &amp; Identification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Verify image accuracy by comparing console output to actual room layouts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User Interface &amp; Display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Evaluate responsiveness and ease of use through operator trials and feedback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/>
              <a:t>Durability &amp; Impact Resistance</a:t>
            </a:r>
            <a:endParaRPr b="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Perform repeated 2m drop tests; system must remain fully functional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Mapping &amp; Decision Algorithms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Validate 3D model accuracy by benchmarking against real room measurements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291" name="Google Shape;291;g3c505a0edd8_0_60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Validation/Test Plan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505a0edd8_0_29"/>
          <p:cNvSpPr txBox="1"/>
          <p:nvPr>
            <p:ph idx="1" type="body"/>
          </p:nvPr>
        </p:nvSpPr>
        <p:spPr>
          <a:xfrm>
            <a:off x="609600" y="1397426"/>
            <a:ext cx="5384700" cy="472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0" lang="en-US"/>
              <a:t>System: 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Demonstrate as would be used by an operator - roll ball across floor of room, show the resulting model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-368300" lvl="0" marL="45720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0" lang="en-US"/>
              <a:t>Fire application:</a:t>
            </a:r>
            <a:r>
              <a:rPr b="0" lang="en-US">
                <a:latin typeface="Open Sans"/>
                <a:ea typeface="Open Sans"/>
                <a:cs typeface="Open Sans"/>
                <a:sym typeface="Open Sans"/>
              </a:rPr>
              <a:t> trap smoke from varying amounts of incense in container </a:t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g3c505a0edd8_0_29"/>
          <p:cNvSpPr txBox="1"/>
          <p:nvPr>
            <p:ph type="title"/>
          </p:nvPr>
        </p:nvSpPr>
        <p:spPr>
          <a:xfrm>
            <a:off x="609600" y="234971"/>
            <a:ext cx="10972800" cy="89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Vision for Demonstration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505a0edd8_0_65"/>
          <p:cNvSpPr txBox="1"/>
          <p:nvPr>
            <p:ph idx="1" type="body"/>
          </p:nvPr>
        </p:nvSpPr>
        <p:spPr>
          <a:xfrm>
            <a:off x="609600" y="138837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We split the tasks over spring break as follows: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Multiplexer test: Antony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Smoke test: Hai Yen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Cloud setup: Brandon and Josh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CAD: Kiet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We plan to continue using meetings as discussion and task assignment time while doing research and development independently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g3c505a0edd8_0_65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Effective Teaming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505a0edd8_0_70"/>
          <p:cNvSpPr txBox="1"/>
          <p:nvPr>
            <p:ph idx="1" type="body"/>
          </p:nvPr>
        </p:nvSpPr>
        <p:spPr>
          <a:xfrm>
            <a:off x="609600" y="138837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lang="en-US" sz="1970"/>
              <a:t>Successfully set up Camera multiplexer with 2 cameras</a:t>
            </a:r>
            <a:endParaRPr sz="1970"/>
          </a:p>
          <a:p>
            <a:pPr indent="-35369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–"/>
            </a:pPr>
            <a:r>
              <a:rPr lang="en-US" sz="1970"/>
              <a:t>NoIR camera (camera 1)</a:t>
            </a:r>
            <a:endParaRPr sz="1970"/>
          </a:p>
          <a:p>
            <a:pPr indent="-35369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–"/>
            </a:pPr>
            <a:r>
              <a:rPr lang="en-US" sz="1970"/>
              <a:t>Regular camera (camera 0)</a:t>
            </a:r>
            <a:endParaRPr sz="1970"/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lang="en-US" sz="1970"/>
              <a:t>Conducted camera vision comparison in a smoke environment via incense candles in a clear container</a:t>
            </a:r>
            <a:endParaRPr sz="1970"/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lang="en-US" sz="1970"/>
              <a:t>Results:</a:t>
            </a:r>
            <a:endParaRPr sz="1970"/>
          </a:p>
          <a:p>
            <a:pPr indent="-35369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–"/>
            </a:pPr>
            <a:r>
              <a:rPr lang="en-US" sz="1970"/>
              <a:t>NoIR camera displayed the active burning sites on the candle as bright blue</a:t>
            </a:r>
            <a:endParaRPr sz="1970"/>
          </a:p>
          <a:p>
            <a:pPr indent="-35369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–"/>
            </a:pPr>
            <a:r>
              <a:rPr lang="en-US" sz="1970"/>
              <a:t>NoIR camera images were generally more bright and clear</a:t>
            </a:r>
            <a:endParaRPr sz="1970"/>
          </a:p>
          <a:p>
            <a:pPr indent="-35369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–"/>
            </a:pPr>
            <a:r>
              <a:rPr lang="en-US" sz="1970"/>
              <a:t>However, the live feeds were somewhat similar</a:t>
            </a:r>
            <a:endParaRPr sz="1970"/>
          </a:p>
        </p:txBody>
      </p:sp>
      <p:sp>
        <p:nvSpPr>
          <p:cNvPr id="310" name="Google Shape;310;g3c505a0edd8_0_70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Preliminary Results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5d6e6cf66_0_7"/>
          <p:cNvSpPr txBox="1"/>
          <p:nvPr>
            <p:ph idx="1" type="body"/>
          </p:nvPr>
        </p:nvSpPr>
        <p:spPr>
          <a:xfrm>
            <a:off x="609600" y="124372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200"/>
              <a:buFont typeface="Arial"/>
              <a:buNone/>
            </a:pPr>
            <a:r>
              <a:t/>
            </a:r>
            <a:endParaRPr b="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Procedure per smoke level: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1. Set the smoke level using incense sticks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2. Wait 60 seconds for smoke to stabilize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3. Capture images with first Camera (Regular)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4. Switch cameras with multiplexer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5. Wait ~5 sec for camera to stabilize 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6. Capture images with second camera (NoIR)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Contrast CDI </a:t>
            </a: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measures how well the camera can distinguish between the bright white stripes and dark black stripes on the target pattern, so the higher the number, the better.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It ranges from 0 to 1: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1.0 = perfect:  the camera sees pure white and pure black, no smoke interference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0.0 = completely degraded: everything looks the same gray, the stripes are invisible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16" name="Google Shape;316;g3c5d6e6cf66_0_7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Smoke Test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7" name="Google Shape;317;g3c5d6e6cf6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3725" y="1131825"/>
            <a:ext cx="5199000" cy="28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04432fbcb_0_0"/>
          <p:cNvSpPr txBox="1"/>
          <p:nvPr>
            <p:ph idx="1" type="body"/>
          </p:nvPr>
        </p:nvSpPr>
        <p:spPr>
          <a:xfrm>
            <a:off x="2875" y="2398925"/>
            <a:ext cx="1320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NoIR 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(IR + RGB camera)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23" name="Google Shape;323;g3d04432fbcb_0_0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Smoke Test - 11 Sticks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4" name="Google Shape;324;g3d04432fbcb_0_0" title="11_noir_dar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775" y="1567576"/>
            <a:ext cx="4526474" cy="254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d04432fbcb_0_0" title="11_regula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1101" y="4410350"/>
            <a:ext cx="4351375" cy="244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d04432fbcb_0_0" title="11_reg_dark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0062" y="4169074"/>
            <a:ext cx="4047191" cy="267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d04432fbcb_0_0" title="11_noir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0437" y="1547275"/>
            <a:ext cx="4351375" cy="244763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d04432fbcb_0_0"/>
          <p:cNvSpPr txBox="1"/>
          <p:nvPr>
            <p:ph idx="1" type="body"/>
          </p:nvPr>
        </p:nvSpPr>
        <p:spPr>
          <a:xfrm>
            <a:off x="-8600" y="5166475"/>
            <a:ext cx="11880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Regular 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29" name="Google Shape;329;g3d04432fbcb_0_0"/>
          <p:cNvSpPr txBox="1"/>
          <p:nvPr>
            <p:ph idx="1" type="body"/>
          </p:nvPr>
        </p:nvSpPr>
        <p:spPr>
          <a:xfrm>
            <a:off x="8612125" y="1131825"/>
            <a:ext cx="118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light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cxnSp>
        <p:nvCxnSpPr>
          <p:cNvPr id="330" name="Google Shape;330;g3d04432fbcb_0_0"/>
          <p:cNvCxnSpPr/>
          <p:nvPr/>
        </p:nvCxnSpPr>
        <p:spPr>
          <a:xfrm>
            <a:off x="6530875" y="1239600"/>
            <a:ext cx="14400" cy="54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g3d04432fbcb_0_0"/>
          <p:cNvCxnSpPr/>
          <p:nvPr/>
        </p:nvCxnSpPr>
        <p:spPr>
          <a:xfrm>
            <a:off x="196575" y="4166775"/>
            <a:ext cx="11707500" cy="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g3d04432fbcb_0_0"/>
          <p:cNvCxnSpPr/>
          <p:nvPr/>
        </p:nvCxnSpPr>
        <p:spPr>
          <a:xfrm>
            <a:off x="1179350" y="1282650"/>
            <a:ext cx="0" cy="53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g3d04432fbcb_0_0"/>
          <p:cNvCxnSpPr/>
          <p:nvPr/>
        </p:nvCxnSpPr>
        <p:spPr>
          <a:xfrm>
            <a:off x="232425" y="1512200"/>
            <a:ext cx="116358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g3d04432fbcb_0_0"/>
          <p:cNvSpPr txBox="1"/>
          <p:nvPr>
            <p:ph idx="1" type="body"/>
          </p:nvPr>
        </p:nvSpPr>
        <p:spPr>
          <a:xfrm>
            <a:off x="3239663" y="1131825"/>
            <a:ext cx="118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0"/>
              <a:t>dark</a:t>
            </a:r>
            <a:endParaRPr sz="197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5d6e6cf66_0_21"/>
          <p:cNvSpPr txBox="1"/>
          <p:nvPr>
            <p:ph idx="1" type="body"/>
          </p:nvPr>
        </p:nvSpPr>
        <p:spPr>
          <a:xfrm>
            <a:off x="609600" y="124372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Smoke consistently degrades image quality across all three metrics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In darkness, the NoIR camera significantly outperforms the regular camera (the regular camera detects almost no edges at any smoke level while the NoIR continues to detect edges throughout)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In normal lighting, both cameras perform similarly 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40" name="Google Shape;340;g3c5d6e6cf66_0_21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Smoke Test Results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1" name="Google Shape;341;g3c5d6e6cf66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438" y="3136025"/>
            <a:ext cx="9524716" cy="3770200"/>
          </a:xfrm>
          <a:prstGeom prst="rect">
            <a:avLst/>
          </a:prstGeom>
          <a:noFill/>
          <a:ln cap="flat" cmpd="sng" w="25400">
            <a:solidFill>
              <a:srgbClr val="CCCCCC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5d6e6cf66_0_28"/>
          <p:cNvSpPr txBox="1"/>
          <p:nvPr>
            <p:ph idx="1" type="body"/>
          </p:nvPr>
        </p:nvSpPr>
        <p:spPr>
          <a:xfrm>
            <a:off x="609600" y="124372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Testing Camera Module by Itself 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w/ Current Short Ribbon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-35369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0"/>
              <a:buFont typeface="Open Sans"/>
              <a:buChar char="•"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This test confirms that both the camera and current short ribbon works properly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70">
                <a:latin typeface="Open Sans"/>
                <a:ea typeface="Open Sans"/>
                <a:cs typeface="Open Sans"/>
                <a:sym typeface="Open Sans"/>
              </a:rPr>
              <a:t>However, it wasn’t able to start a live feed</a:t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47" name="Google Shape;347;g3c5d6e6cf66_0_28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Multiplexer Test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8" name="Google Shape;348;g3c5d6e6cf66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723175"/>
            <a:ext cx="59436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c5d6e6cf66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8400" y="4114800"/>
            <a:ext cx="5943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04432fbcb_0_26"/>
          <p:cNvSpPr txBox="1"/>
          <p:nvPr>
            <p:ph idx="1" type="body"/>
          </p:nvPr>
        </p:nvSpPr>
        <p:spPr>
          <a:xfrm>
            <a:off x="609600" y="1243725"/>
            <a:ext cx="104004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97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0"/>
          </a:p>
        </p:txBody>
      </p:sp>
      <p:sp>
        <p:nvSpPr>
          <p:cNvPr id="355" name="Google Shape;355;g3d04432fbcb_0_26"/>
          <p:cNvSpPr txBox="1"/>
          <p:nvPr>
            <p:ph type="title"/>
          </p:nvPr>
        </p:nvSpPr>
        <p:spPr>
          <a:xfrm>
            <a:off x="609600" y="238118"/>
            <a:ext cx="10972800" cy="8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4400"/>
              <a:buFont typeface="Oswald Medium"/>
              <a:buNone/>
            </a:pPr>
            <a:r>
              <a:rPr lang="en-US">
                <a:solidFill>
                  <a:schemeClr val="lt1"/>
                </a:solidFill>
              </a:rPr>
              <a:t>Multiplexer Test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6" name="Google Shape;356;g3d04432fbcb_0_26" title="20260311_16013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225" y="1343725"/>
            <a:ext cx="9803146" cy="551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"/>
          <p:cNvSpPr txBox="1"/>
          <p:nvPr>
            <p:ph type="title"/>
          </p:nvPr>
        </p:nvSpPr>
        <p:spPr>
          <a:xfrm>
            <a:off x="1499616" y="2949047"/>
            <a:ext cx="9192768" cy="1389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400"/>
              <a:buFont typeface="Oswald Medium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"/>
          <p:cNvSpPr txBox="1"/>
          <p:nvPr>
            <p:ph type="ctrTitle"/>
          </p:nvPr>
        </p:nvSpPr>
        <p:spPr>
          <a:xfrm>
            <a:off x="914400" y="3025293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swald Medium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2017-04-06T15:59:40Z</dcterms:created>
  <dc:creator>Larua Root</dc:creator>
</cp:coreProperties>
</file>