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6858000" cx="12192000"/>
  <p:notesSz cx="6858000" cy="9144000"/>
  <p:embeddedFontLst>
    <p:embeddedFont>
      <p:font typeface="Oswald Medium"/>
      <p:regular r:id="rId31"/>
      <p:bold r:id="rId32"/>
    </p:embeddedFont>
    <p:embeddedFont>
      <p:font typeface="Open Sans ExtraBold"/>
      <p:bold r:id="rId33"/>
      <p:boldItalic r:id="rId34"/>
    </p:embeddedFont>
    <p:embeddedFont>
      <p:font typeface="Open Sans"/>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 uri="GoogleSlidesCustomDataVersion2">
      <go:slidesCustomData xmlns:go="http://customooxmlschemas.google.com/" r:id="rId39" roundtripDataSignature="AMtx7mhlyHS95cNOZ5G2RxrkYqlDXGerr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D26A37F-556E-48F0-B075-F9ACD07589E8}">
  <a:tblStyle styleId="{FD26A37F-556E-48F0-B075-F9ACD07589E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OswaldMedium-regular.fntdata"/><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OpenSansExtraBold-bold.fntdata"/><Relationship Id="rId10" Type="http://schemas.openxmlformats.org/officeDocument/2006/relationships/slide" Target="slides/slide4.xml"/><Relationship Id="rId32" Type="http://schemas.openxmlformats.org/officeDocument/2006/relationships/font" Target="fonts/OswaldMedium-bold.fntdata"/><Relationship Id="rId13" Type="http://schemas.openxmlformats.org/officeDocument/2006/relationships/slide" Target="slides/slide7.xml"/><Relationship Id="rId35" Type="http://schemas.openxmlformats.org/officeDocument/2006/relationships/font" Target="fonts/OpenSans-regular.fntdata"/><Relationship Id="rId12" Type="http://schemas.openxmlformats.org/officeDocument/2006/relationships/slide" Target="slides/slide6.xml"/><Relationship Id="rId34" Type="http://schemas.openxmlformats.org/officeDocument/2006/relationships/font" Target="fonts/OpenSansExtraBold-boldItalic.fntdata"/><Relationship Id="rId15" Type="http://schemas.openxmlformats.org/officeDocument/2006/relationships/slide" Target="slides/slide9.xml"/><Relationship Id="rId37" Type="http://schemas.openxmlformats.org/officeDocument/2006/relationships/font" Target="fonts/OpenSans-italic.fntdata"/><Relationship Id="rId14" Type="http://schemas.openxmlformats.org/officeDocument/2006/relationships/slide" Target="slides/slide8.xml"/><Relationship Id="rId36" Type="http://schemas.openxmlformats.org/officeDocument/2006/relationships/font" Target="fonts/OpenSans-bold.fntdata"/><Relationship Id="rId17" Type="http://schemas.openxmlformats.org/officeDocument/2006/relationships/slide" Target="slides/slide11.xml"/><Relationship Id="rId39" Type="http://customschemas.google.com/relationships/presentationmetadata" Target="metadata"/><Relationship Id="rId16" Type="http://schemas.openxmlformats.org/officeDocument/2006/relationships/slide" Target="slides/slide10.xml"/><Relationship Id="rId38" Type="http://schemas.openxmlformats.org/officeDocument/2006/relationships/font" Target="fonts/OpenSans-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amazon.com/Anker-Travel-Ready-Technology-High-Speed-Output%EF%BC%88Black%EF%BC%89%EF%BC%8C1pack/dp/B0D5CLSMFB?sr=8-3"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First responders routinely enter dangerous and unfamiliar environments with limited situational awareness, increasing the likelihood of injury, delayed rescue, and poor tactical decision-making.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Existing technologies, such as drones, body-worn cameras, and robots are often not good enough for current situations, and do not significantly reduce risks for first responders.</a:t>
            </a:r>
            <a:endParaRPr/>
          </a:p>
          <a:p>
            <a:pPr indent="0" lvl="0" marL="0" rtl="0" algn="l">
              <a:spcBef>
                <a:spcPts val="0"/>
              </a:spcBef>
              <a:spcAft>
                <a:spcPts val="0"/>
              </a:spcAft>
              <a:buNone/>
            </a:pPr>
            <a:r>
              <a:t/>
            </a:r>
            <a:endParaRPr/>
          </a:p>
        </p:txBody>
      </p:sp>
      <p:sp>
        <p:nvSpPr>
          <p:cNvPr id="93" name="Google Shape;93;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bd96a98101_0_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While a previously developed throwable environmental scanner has demonstrated the ability to improve situational awareness for first responders, significant limitations prevent effective use in real-world emergency environments. In particular, the sensing and camera modules in prior implementations perform poorly in low-visibility environments such as dark or smoke-filled spaces.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Additionally, current limitations in the accuracy and resolution of the generated 3D environment reduce the reliability of spatial information needed for informed decision-making. Inaccurate or incomplete information undermines the core purpose of the system and may increase operational risk rather than reduce it.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Beyond sensing performance, situational data must be presented to first responders in a reliable and intuitive manner that enables rapid understanding and effective decision-making under high-stress situations.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There is therefore a need to enhance the environmental sensing, 3D mapping quality, and information delivery of the Throwable Environment Scanner so it can perform reliably. </a:t>
            </a:r>
            <a:endParaRPr/>
          </a:p>
          <a:p>
            <a:pPr indent="0" lvl="0" marL="0" rtl="0" algn="l">
              <a:spcBef>
                <a:spcPts val="0"/>
              </a:spcBef>
              <a:spcAft>
                <a:spcPts val="0"/>
              </a:spcAft>
              <a:buNone/>
            </a:pPr>
            <a:r>
              <a:t/>
            </a:r>
            <a:endParaRPr/>
          </a:p>
        </p:txBody>
      </p:sp>
      <p:sp>
        <p:nvSpPr>
          <p:cNvPr id="99" name="Google Shape;99;g3bd96a98101_0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bd96a98101_0_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g3bd96a98101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c75889ad9f_0_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g3c75889ad9f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bea363fe22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g3bea363fe22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bd96a98101_0_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g3bd96a98101_0_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bd96a98101_0_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203200" lvl="0" marL="342900" rtl="0" algn="l">
              <a:spcBef>
                <a:spcPts val="0"/>
              </a:spcBef>
              <a:spcAft>
                <a:spcPts val="0"/>
              </a:spcAft>
              <a:buClr>
                <a:srgbClr val="500000"/>
              </a:buClr>
              <a:buSzPts val="2200"/>
              <a:buFont typeface="Arial"/>
              <a:buNone/>
            </a:pPr>
            <a:r>
              <a:rPr b="1" lang="en-US" sz="900" u="sng">
                <a:solidFill>
                  <a:srgbClr val="500000"/>
                </a:solidFill>
                <a:latin typeface="Open Sans ExtraBold"/>
                <a:ea typeface="Open Sans ExtraBold"/>
                <a:cs typeface="Open Sans ExtraBold"/>
                <a:sym typeface="Open Sans ExtraBold"/>
              </a:rPr>
              <a:t>Drones</a:t>
            </a:r>
            <a:endParaRPr b="1" sz="900" u="sng">
              <a:solidFill>
                <a:srgbClr val="500000"/>
              </a:solidFill>
              <a:latin typeface="Open Sans ExtraBold"/>
              <a:ea typeface="Open Sans ExtraBold"/>
              <a:cs typeface="Open Sans ExtraBold"/>
              <a:sym typeface="Open Sans ExtraBold"/>
            </a:endParaRPr>
          </a:p>
          <a:p>
            <a:pPr indent="-203200" lvl="0" marL="342900" rtl="0" algn="l">
              <a:spcBef>
                <a:spcPts val="0"/>
              </a:spcBef>
              <a:spcAft>
                <a:spcPts val="0"/>
              </a:spcAft>
              <a:buClr>
                <a:srgbClr val="500000"/>
              </a:buClr>
              <a:buSzPts val="2200"/>
              <a:buFont typeface="Arial"/>
              <a:buNone/>
            </a:pPr>
            <a:r>
              <a:t/>
            </a:r>
            <a:endParaRPr b="1" sz="900" u="sng">
              <a:solidFill>
                <a:srgbClr val="500000"/>
              </a:solidFill>
              <a:latin typeface="Open Sans ExtraBold"/>
              <a:ea typeface="Open Sans ExtraBold"/>
              <a:cs typeface="Open Sans ExtraBold"/>
              <a:sym typeface="Open Sans ExtraBold"/>
            </a:endParaRPr>
          </a:p>
          <a:p>
            <a:pPr indent="-203200" lvl="0" marL="342900" rtl="0" algn="l">
              <a:spcBef>
                <a:spcPts val="0"/>
              </a:spcBef>
              <a:spcAft>
                <a:spcPts val="0"/>
              </a:spcAft>
              <a:buClr>
                <a:srgbClr val="500000"/>
              </a:buClr>
              <a:buSzPts val="2200"/>
              <a:buFont typeface="Arial"/>
              <a:buNone/>
            </a:pPr>
            <a:r>
              <a:rPr lang="en-US" sz="900">
                <a:solidFill>
                  <a:srgbClr val="500000"/>
                </a:solidFill>
                <a:latin typeface="Open Sans ExtraBold"/>
                <a:ea typeface="Open Sans ExtraBold"/>
                <a:cs typeface="Open Sans ExtraBold"/>
                <a:sym typeface="Open Sans ExtraBold"/>
              </a:rPr>
              <a:t>Pros</a:t>
            </a:r>
            <a:endParaRPr sz="900">
              <a:solidFill>
                <a:srgbClr val="500000"/>
              </a:solidFill>
              <a:latin typeface="Open Sans ExtraBold"/>
              <a:ea typeface="Open Sans ExtraBold"/>
              <a:cs typeface="Open Sans ExtraBold"/>
              <a:sym typeface="Open Sans ExtraBold"/>
            </a:endParaRPr>
          </a:p>
          <a:p>
            <a:pPr indent="-285750" lvl="0" marL="457200" rtl="0" algn="l">
              <a:spcBef>
                <a:spcPts val="0"/>
              </a:spcBef>
              <a:spcAft>
                <a:spcPts val="0"/>
              </a:spcAft>
              <a:buClr>
                <a:srgbClr val="500000"/>
              </a:buClr>
              <a:buSzPts val="900"/>
              <a:buFont typeface="Open Sans"/>
              <a:buChar char="•"/>
            </a:pPr>
            <a:r>
              <a:rPr lang="en-US" sz="900">
                <a:solidFill>
                  <a:srgbClr val="500000"/>
                </a:solidFill>
                <a:latin typeface="Open Sans"/>
                <a:ea typeface="Open Sans"/>
                <a:cs typeface="Open Sans"/>
                <a:sym typeface="Open Sans"/>
              </a:rPr>
              <a:t>Provide overhead views of environments, including inaccessible or elevated areas.</a:t>
            </a:r>
            <a:endParaRPr sz="900">
              <a:solidFill>
                <a:srgbClr val="500000"/>
              </a:solidFill>
              <a:latin typeface="Open Sans"/>
              <a:ea typeface="Open Sans"/>
              <a:cs typeface="Open Sans"/>
              <a:sym typeface="Open Sans"/>
            </a:endParaRPr>
          </a:p>
          <a:p>
            <a:pPr indent="-285750" lvl="0" marL="457200" rtl="0" algn="l">
              <a:spcBef>
                <a:spcPts val="0"/>
              </a:spcBef>
              <a:spcAft>
                <a:spcPts val="0"/>
              </a:spcAft>
              <a:buClr>
                <a:srgbClr val="500000"/>
              </a:buClr>
              <a:buSzPts val="900"/>
              <a:buFont typeface="Open Sans"/>
              <a:buChar char="•"/>
            </a:pPr>
            <a:r>
              <a:rPr lang="en-US" sz="900">
                <a:solidFill>
                  <a:srgbClr val="500000"/>
                </a:solidFill>
                <a:latin typeface="Open Sans"/>
                <a:ea typeface="Open Sans"/>
                <a:cs typeface="Open Sans"/>
                <a:sym typeface="Open Sans"/>
              </a:rPr>
              <a:t>It can be equipped with high-resolution cameras and thermal imaging.</a:t>
            </a:r>
            <a:endParaRPr sz="900">
              <a:solidFill>
                <a:srgbClr val="500000"/>
              </a:solidFill>
              <a:latin typeface="Open Sans"/>
              <a:ea typeface="Open Sans"/>
              <a:cs typeface="Open Sans"/>
              <a:sym typeface="Open Sans"/>
            </a:endParaRPr>
          </a:p>
          <a:p>
            <a:pPr indent="-285750" lvl="0" marL="457200" rtl="0" algn="l">
              <a:spcBef>
                <a:spcPts val="0"/>
              </a:spcBef>
              <a:spcAft>
                <a:spcPts val="0"/>
              </a:spcAft>
              <a:buClr>
                <a:srgbClr val="500000"/>
              </a:buClr>
              <a:buSzPts val="900"/>
              <a:buFont typeface="Open Sans"/>
              <a:buChar char="•"/>
            </a:pPr>
            <a:r>
              <a:rPr lang="en-US" sz="900">
                <a:solidFill>
                  <a:srgbClr val="500000"/>
                </a:solidFill>
                <a:latin typeface="Open Sans"/>
                <a:ea typeface="Open Sans"/>
                <a:cs typeface="Open Sans"/>
                <a:sym typeface="Open Sans"/>
              </a:rPr>
              <a:t>Already commercially available and supported by existing technology.</a:t>
            </a:r>
            <a:endParaRPr sz="900">
              <a:solidFill>
                <a:srgbClr val="500000"/>
              </a:solidFill>
              <a:latin typeface="Open Sans"/>
              <a:ea typeface="Open Sans"/>
              <a:cs typeface="Open Sans"/>
              <a:sym typeface="Open Sans"/>
            </a:endParaRPr>
          </a:p>
          <a:p>
            <a:pPr indent="-285750" lvl="0" marL="457200" rtl="0" algn="l">
              <a:spcBef>
                <a:spcPts val="0"/>
              </a:spcBef>
              <a:spcAft>
                <a:spcPts val="0"/>
              </a:spcAft>
              <a:buClr>
                <a:srgbClr val="500000"/>
              </a:buClr>
              <a:buSzPts val="900"/>
              <a:buFont typeface="Open Sans"/>
              <a:buChar char="•"/>
            </a:pPr>
            <a:r>
              <a:rPr lang="en-US" sz="900">
                <a:solidFill>
                  <a:srgbClr val="500000"/>
                </a:solidFill>
                <a:latin typeface="Open Sans"/>
                <a:ea typeface="Open Sans"/>
                <a:cs typeface="Open Sans"/>
                <a:sym typeface="Open Sans"/>
              </a:rPr>
              <a:t>No humans are put in harm's way</a:t>
            </a:r>
            <a:endParaRPr sz="900">
              <a:solidFill>
                <a:srgbClr val="500000"/>
              </a:solidFill>
              <a:latin typeface="Open Sans"/>
              <a:ea typeface="Open Sans"/>
              <a:cs typeface="Open Sans"/>
              <a:sym typeface="Open Sans"/>
            </a:endParaRPr>
          </a:p>
          <a:p>
            <a:pPr indent="0" lvl="0" marL="457200" rtl="0" algn="l">
              <a:spcBef>
                <a:spcPts val="0"/>
              </a:spcBef>
              <a:spcAft>
                <a:spcPts val="0"/>
              </a:spcAft>
              <a:buClr>
                <a:schemeClr val="dk1"/>
              </a:buClr>
              <a:buSzPts val="1100"/>
              <a:buFont typeface="Arial"/>
              <a:buNone/>
            </a:pPr>
            <a:r>
              <a:t/>
            </a:r>
            <a:endParaRPr sz="900">
              <a:solidFill>
                <a:srgbClr val="500000"/>
              </a:solidFill>
              <a:latin typeface="Open Sans"/>
              <a:ea typeface="Open Sans"/>
              <a:cs typeface="Open Sans"/>
              <a:sym typeface="Open Sans"/>
            </a:endParaRPr>
          </a:p>
          <a:p>
            <a:pPr indent="-203200" lvl="0" marL="342900" rtl="0" algn="l">
              <a:spcBef>
                <a:spcPts val="0"/>
              </a:spcBef>
              <a:spcAft>
                <a:spcPts val="0"/>
              </a:spcAft>
              <a:buClr>
                <a:srgbClr val="500000"/>
              </a:buClr>
              <a:buSzPts val="2200"/>
              <a:buFont typeface="Arial"/>
              <a:buNone/>
            </a:pPr>
            <a:r>
              <a:rPr lang="en-US" sz="900">
                <a:solidFill>
                  <a:srgbClr val="500000"/>
                </a:solidFill>
                <a:latin typeface="Open Sans ExtraBold"/>
                <a:ea typeface="Open Sans ExtraBold"/>
                <a:cs typeface="Open Sans ExtraBold"/>
                <a:sym typeface="Open Sans ExtraBold"/>
              </a:rPr>
              <a:t>Cons</a:t>
            </a:r>
            <a:endParaRPr sz="900">
              <a:solidFill>
                <a:srgbClr val="500000"/>
              </a:solidFill>
              <a:latin typeface="Open Sans ExtraBold"/>
              <a:ea typeface="Open Sans ExtraBold"/>
              <a:cs typeface="Open Sans ExtraBold"/>
              <a:sym typeface="Open Sans ExtraBold"/>
            </a:endParaRPr>
          </a:p>
          <a:p>
            <a:pPr indent="-285750" lvl="0" marL="457200" rtl="0" algn="l">
              <a:spcBef>
                <a:spcPts val="0"/>
              </a:spcBef>
              <a:spcAft>
                <a:spcPts val="0"/>
              </a:spcAft>
              <a:buClr>
                <a:srgbClr val="500000"/>
              </a:buClr>
              <a:buSzPts val="900"/>
              <a:buFont typeface="Open Sans"/>
              <a:buChar char="•"/>
            </a:pPr>
            <a:r>
              <a:rPr lang="en-US" sz="900">
                <a:solidFill>
                  <a:srgbClr val="500000"/>
                </a:solidFill>
                <a:latin typeface="Open Sans"/>
                <a:ea typeface="Open Sans"/>
                <a:cs typeface="Open Sans"/>
                <a:sym typeface="Open Sans"/>
              </a:rPr>
              <a:t>Hard to operate in enclosed areas</a:t>
            </a:r>
            <a:endParaRPr sz="900">
              <a:solidFill>
                <a:srgbClr val="500000"/>
              </a:solidFill>
              <a:latin typeface="Open Sans"/>
              <a:ea typeface="Open Sans"/>
              <a:cs typeface="Open Sans"/>
              <a:sym typeface="Open Sans"/>
            </a:endParaRPr>
          </a:p>
          <a:p>
            <a:pPr indent="-285750" lvl="0" marL="457200" rtl="0" algn="l">
              <a:spcBef>
                <a:spcPts val="0"/>
              </a:spcBef>
              <a:spcAft>
                <a:spcPts val="0"/>
              </a:spcAft>
              <a:buClr>
                <a:srgbClr val="500000"/>
              </a:buClr>
              <a:buSzPts val="900"/>
              <a:buFont typeface="Open Sans"/>
              <a:buChar char="•"/>
            </a:pPr>
            <a:r>
              <a:rPr lang="en-US" sz="900">
                <a:solidFill>
                  <a:srgbClr val="500000"/>
                </a:solidFill>
                <a:latin typeface="Open Sans"/>
                <a:ea typeface="Open Sans"/>
                <a:cs typeface="Open Sans"/>
                <a:sym typeface="Open Sans"/>
              </a:rPr>
              <a:t>Requires significant skill from a trained operator</a:t>
            </a:r>
            <a:endParaRPr sz="900">
              <a:solidFill>
                <a:srgbClr val="500000"/>
              </a:solidFill>
              <a:latin typeface="Open Sans"/>
              <a:ea typeface="Open Sans"/>
              <a:cs typeface="Open Sans"/>
              <a:sym typeface="Open Sans"/>
            </a:endParaRPr>
          </a:p>
          <a:p>
            <a:pPr indent="-285750" lvl="0" marL="457200" rtl="0" algn="l">
              <a:spcBef>
                <a:spcPts val="0"/>
              </a:spcBef>
              <a:spcAft>
                <a:spcPts val="0"/>
              </a:spcAft>
              <a:buClr>
                <a:srgbClr val="500000"/>
              </a:buClr>
              <a:buSzPts val="900"/>
              <a:buFont typeface="Open Sans"/>
              <a:buChar char="•"/>
            </a:pPr>
            <a:r>
              <a:rPr lang="en-US" sz="900">
                <a:solidFill>
                  <a:srgbClr val="500000"/>
                </a:solidFill>
                <a:latin typeface="Open Sans"/>
                <a:ea typeface="Open Sans"/>
                <a:cs typeface="Open Sans"/>
                <a:sym typeface="Open Sans"/>
              </a:rPr>
              <a:t>Not easily repairable</a:t>
            </a:r>
            <a:endParaRPr sz="900">
              <a:solidFill>
                <a:srgbClr val="500000"/>
              </a:solidFill>
              <a:latin typeface="Open Sans"/>
              <a:ea typeface="Open Sans"/>
              <a:cs typeface="Open Sans"/>
              <a:sym typeface="Open Sans"/>
            </a:endParaRPr>
          </a:p>
          <a:p>
            <a:pPr indent="-285750" lvl="0" marL="457200" rtl="0" algn="l">
              <a:spcBef>
                <a:spcPts val="0"/>
              </a:spcBef>
              <a:spcAft>
                <a:spcPts val="0"/>
              </a:spcAft>
              <a:buClr>
                <a:srgbClr val="500000"/>
              </a:buClr>
              <a:buSzPts val="900"/>
              <a:buFont typeface="Open Sans"/>
              <a:buChar char="•"/>
            </a:pPr>
            <a:r>
              <a:rPr lang="en-US" sz="900">
                <a:solidFill>
                  <a:srgbClr val="500000"/>
                </a:solidFill>
                <a:latin typeface="Open Sans"/>
                <a:ea typeface="Open Sans"/>
                <a:cs typeface="Open Sans"/>
                <a:sym typeface="Open Sans"/>
              </a:rPr>
              <a:t>biggest drawback to drones is that they are very hard to place into rooms that are not easily accessible. Therefore, they are basically unusable in most scenarios that our product shines</a:t>
            </a:r>
            <a:endParaRPr sz="900">
              <a:solidFill>
                <a:srgbClr val="500000"/>
              </a:solidFill>
              <a:latin typeface="Open Sans"/>
              <a:ea typeface="Open Sans"/>
              <a:cs typeface="Open Sans"/>
              <a:sym typeface="Open Sans"/>
            </a:endParaRPr>
          </a:p>
          <a:p>
            <a:pPr indent="-203200" lvl="0" marL="342900" rtl="0" algn="l">
              <a:spcBef>
                <a:spcPts val="0"/>
              </a:spcBef>
              <a:spcAft>
                <a:spcPts val="0"/>
              </a:spcAft>
              <a:buNone/>
            </a:pPr>
            <a:r>
              <a:rPr b="1" lang="en-US" sz="900" u="sng">
                <a:solidFill>
                  <a:srgbClr val="500000"/>
                </a:solidFill>
                <a:latin typeface="Open Sans ExtraBold"/>
                <a:ea typeface="Open Sans ExtraBold"/>
                <a:cs typeface="Open Sans ExtraBold"/>
                <a:sym typeface="Open Sans ExtraBold"/>
              </a:rPr>
              <a:t>Ground Robots</a:t>
            </a:r>
            <a:endParaRPr b="1" sz="900" u="sng">
              <a:solidFill>
                <a:srgbClr val="500000"/>
              </a:solidFill>
              <a:latin typeface="Open Sans ExtraBold"/>
              <a:ea typeface="Open Sans ExtraBold"/>
              <a:cs typeface="Open Sans ExtraBold"/>
              <a:sym typeface="Open Sans ExtraBold"/>
            </a:endParaRPr>
          </a:p>
          <a:p>
            <a:pPr indent="-203200" lvl="0" marL="342900" rtl="0" algn="l">
              <a:spcBef>
                <a:spcPts val="0"/>
              </a:spcBef>
              <a:spcAft>
                <a:spcPts val="0"/>
              </a:spcAft>
              <a:buNone/>
            </a:pPr>
            <a:r>
              <a:t/>
            </a:r>
            <a:endParaRPr b="1" sz="900" u="sng">
              <a:solidFill>
                <a:srgbClr val="500000"/>
              </a:solidFill>
              <a:latin typeface="Open Sans ExtraBold"/>
              <a:ea typeface="Open Sans ExtraBold"/>
              <a:cs typeface="Open Sans ExtraBold"/>
              <a:sym typeface="Open Sans ExtraBold"/>
            </a:endParaRPr>
          </a:p>
          <a:p>
            <a:pPr indent="-203200" lvl="0" marL="342900" rtl="0" algn="l">
              <a:spcBef>
                <a:spcPts val="0"/>
              </a:spcBef>
              <a:spcAft>
                <a:spcPts val="0"/>
              </a:spcAft>
              <a:buNone/>
            </a:pPr>
            <a:r>
              <a:rPr lang="en-US" sz="900">
                <a:solidFill>
                  <a:srgbClr val="500000"/>
                </a:solidFill>
                <a:latin typeface="Open Sans ExtraBold"/>
                <a:ea typeface="Open Sans ExtraBold"/>
                <a:cs typeface="Open Sans ExtraBold"/>
                <a:sym typeface="Open Sans ExtraBold"/>
              </a:rPr>
              <a:t>Pros</a:t>
            </a:r>
            <a:endParaRPr sz="900">
              <a:solidFill>
                <a:srgbClr val="500000"/>
              </a:solidFill>
              <a:latin typeface="Open Sans ExtraBold"/>
              <a:ea typeface="Open Sans ExtraBold"/>
              <a:cs typeface="Open Sans ExtraBold"/>
              <a:sym typeface="Open Sans ExtraBold"/>
            </a:endParaRPr>
          </a:p>
          <a:p>
            <a:pPr indent="-285750" lvl="0" marL="457200" rtl="0" algn="l">
              <a:spcBef>
                <a:spcPts val="0"/>
              </a:spcBef>
              <a:spcAft>
                <a:spcPts val="0"/>
              </a:spcAft>
              <a:buClr>
                <a:srgbClr val="500000"/>
              </a:buClr>
              <a:buSzPts val="900"/>
              <a:buFont typeface="Open Sans"/>
              <a:buChar char="•"/>
            </a:pPr>
            <a:r>
              <a:rPr lang="en-US" sz="900">
                <a:solidFill>
                  <a:srgbClr val="500000"/>
                </a:solidFill>
                <a:latin typeface="Open Sans"/>
                <a:ea typeface="Open Sans"/>
                <a:cs typeface="Open Sans"/>
                <a:sym typeface="Open Sans"/>
              </a:rPr>
              <a:t>No humans are put in harm's way</a:t>
            </a:r>
            <a:endParaRPr sz="900">
              <a:solidFill>
                <a:srgbClr val="500000"/>
              </a:solidFill>
              <a:latin typeface="Open Sans"/>
              <a:ea typeface="Open Sans"/>
              <a:cs typeface="Open Sans"/>
              <a:sym typeface="Open Sans"/>
            </a:endParaRPr>
          </a:p>
          <a:p>
            <a:pPr indent="-285750" lvl="0" marL="457200" rtl="0" algn="l">
              <a:spcBef>
                <a:spcPts val="0"/>
              </a:spcBef>
              <a:spcAft>
                <a:spcPts val="0"/>
              </a:spcAft>
              <a:buClr>
                <a:srgbClr val="500000"/>
              </a:buClr>
              <a:buSzPts val="900"/>
              <a:buFont typeface="Open Sans"/>
              <a:buChar char="•"/>
            </a:pPr>
            <a:r>
              <a:rPr lang="en-US" sz="900">
                <a:solidFill>
                  <a:srgbClr val="500000"/>
                </a:solidFill>
                <a:latin typeface="Open Sans"/>
                <a:ea typeface="Open Sans"/>
                <a:cs typeface="Open Sans"/>
                <a:sym typeface="Open Sans"/>
              </a:rPr>
              <a:t>Some have decent mobility</a:t>
            </a:r>
            <a:endParaRPr sz="900">
              <a:solidFill>
                <a:srgbClr val="500000"/>
              </a:solidFill>
              <a:latin typeface="Open Sans"/>
              <a:ea typeface="Open Sans"/>
              <a:cs typeface="Open Sans"/>
              <a:sym typeface="Open Sans"/>
            </a:endParaRPr>
          </a:p>
          <a:p>
            <a:pPr indent="-285750" lvl="0" marL="457200" rtl="0" algn="l">
              <a:spcBef>
                <a:spcPts val="0"/>
              </a:spcBef>
              <a:spcAft>
                <a:spcPts val="0"/>
              </a:spcAft>
              <a:buClr>
                <a:srgbClr val="500000"/>
              </a:buClr>
              <a:buSzPts val="900"/>
              <a:buFont typeface="Open Sans"/>
              <a:buChar char="•"/>
            </a:pPr>
            <a:r>
              <a:rPr lang="en-US" sz="900">
                <a:solidFill>
                  <a:srgbClr val="500000"/>
                </a:solidFill>
                <a:latin typeface="Open Sans"/>
                <a:ea typeface="Open Sans"/>
                <a:cs typeface="Open Sans"/>
                <a:sym typeface="Open Sans"/>
              </a:rPr>
              <a:t>A lot of them carry very sophisticated mapping and recording systems (LIDAR, cameras, infrared)</a:t>
            </a:r>
            <a:endParaRPr sz="900">
              <a:solidFill>
                <a:srgbClr val="500000"/>
              </a:solidFill>
              <a:latin typeface="Open Sans"/>
              <a:ea typeface="Open Sans"/>
              <a:cs typeface="Open Sans"/>
              <a:sym typeface="Open Sans"/>
            </a:endParaRPr>
          </a:p>
          <a:p>
            <a:pPr indent="-285750" lvl="0" marL="457200" rtl="0" algn="l">
              <a:spcBef>
                <a:spcPts val="0"/>
              </a:spcBef>
              <a:spcAft>
                <a:spcPts val="0"/>
              </a:spcAft>
              <a:buClr>
                <a:srgbClr val="500000"/>
              </a:buClr>
              <a:buSzPts val="900"/>
              <a:buFont typeface="Open Sans"/>
              <a:buChar char="•"/>
            </a:pPr>
            <a:r>
              <a:rPr lang="en-US" sz="900">
                <a:solidFill>
                  <a:srgbClr val="500000"/>
                </a:solidFill>
                <a:latin typeface="Open Sans"/>
                <a:ea typeface="Open Sans"/>
                <a:cs typeface="Open Sans"/>
                <a:sym typeface="Open Sans"/>
              </a:rPr>
              <a:t>Already being used by some first responders and military units</a:t>
            </a:r>
            <a:endParaRPr sz="900">
              <a:solidFill>
                <a:srgbClr val="500000"/>
              </a:solidFill>
              <a:latin typeface="Open Sans"/>
              <a:ea typeface="Open Sans"/>
              <a:cs typeface="Open Sans"/>
              <a:sym typeface="Open Sans"/>
            </a:endParaRPr>
          </a:p>
          <a:p>
            <a:pPr indent="0" lvl="0" marL="139700" rtl="0" algn="l">
              <a:spcBef>
                <a:spcPts val="0"/>
              </a:spcBef>
              <a:spcAft>
                <a:spcPts val="0"/>
              </a:spcAft>
              <a:buNone/>
            </a:pPr>
            <a:r>
              <a:t/>
            </a:r>
            <a:endParaRPr sz="900">
              <a:solidFill>
                <a:srgbClr val="500000"/>
              </a:solidFill>
              <a:latin typeface="Open Sans ExtraBold"/>
              <a:ea typeface="Open Sans ExtraBold"/>
              <a:cs typeface="Open Sans ExtraBold"/>
              <a:sym typeface="Open Sans ExtraBold"/>
            </a:endParaRPr>
          </a:p>
          <a:p>
            <a:pPr indent="0" lvl="0" marL="139700" rtl="0" algn="l">
              <a:spcBef>
                <a:spcPts val="0"/>
              </a:spcBef>
              <a:spcAft>
                <a:spcPts val="0"/>
              </a:spcAft>
              <a:buNone/>
            </a:pPr>
            <a:r>
              <a:rPr lang="en-US" sz="900">
                <a:solidFill>
                  <a:srgbClr val="500000"/>
                </a:solidFill>
                <a:latin typeface="Open Sans ExtraBold"/>
                <a:ea typeface="Open Sans ExtraBold"/>
                <a:cs typeface="Open Sans ExtraBold"/>
                <a:sym typeface="Open Sans ExtraBold"/>
              </a:rPr>
              <a:t>Cons</a:t>
            </a:r>
            <a:endParaRPr sz="900">
              <a:solidFill>
                <a:srgbClr val="500000"/>
              </a:solidFill>
              <a:latin typeface="Open Sans ExtraBold"/>
              <a:ea typeface="Open Sans ExtraBold"/>
              <a:cs typeface="Open Sans ExtraBold"/>
              <a:sym typeface="Open Sans ExtraBold"/>
            </a:endParaRPr>
          </a:p>
          <a:p>
            <a:pPr indent="-285750" lvl="0" marL="457200" rtl="0" algn="l">
              <a:spcBef>
                <a:spcPts val="0"/>
              </a:spcBef>
              <a:spcAft>
                <a:spcPts val="0"/>
              </a:spcAft>
              <a:buClr>
                <a:srgbClr val="500000"/>
              </a:buClr>
              <a:buSzPts val="900"/>
              <a:buFont typeface="Open Sans"/>
              <a:buChar char="•"/>
            </a:pPr>
            <a:r>
              <a:rPr lang="en-US" sz="900">
                <a:solidFill>
                  <a:srgbClr val="500000"/>
                </a:solidFill>
                <a:latin typeface="Open Sans"/>
                <a:ea typeface="Open Sans"/>
                <a:cs typeface="Open Sans"/>
                <a:sym typeface="Open Sans"/>
              </a:rPr>
              <a:t>Mobility issues if the ground is obstructed/uneven</a:t>
            </a:r>
            <a:endParaRPr sz="900">
              <a:solidFill>
                <a:srgbClr val="500000"/>
              </a:solidFill>
              <a:latin typeface="Open Sans"/>
              <a:ea typeface="Open Sans"/>
              <a:cs typeface="Open Sans"/>
              <a:sym typeface="Open Sans"/>
            </a:endParaRPr>
          </a:p>
          <a:p>
            <a:pPr indent="-285750" lvl="0" marL="457200" rtl="0" algn="l">
              <a:spcBef>
                <a:spcPts val="0"/>
              </a:spcBef>
              <a:spcAft>
                <a:spcPts val="0"/>
              </a:spcAft>
              <a:buClr>
                <a:srgbClr val="500000"/>
              </a:buClr>
              <a:buSzPts val="900"/>
              <a:buFont typeface="Open Sans"/>
              <a:buChar char="•"/>
            </a:pPr>
            <a:r>
              <a:rPr lang="en-US" sz="900">
                <a:solidFill>
                  <a:srgbClr val="500000"/>
                </a:solidFill>
                <a:latin typeface="Open Sans"/>
                <a:ea typeface="Open Sans"/>
                <a:cs typeface="Open Sans"/>
                <a:sym typeface="Open Sans"/>
              </a:rPr>
              <a:t>Usually large and hard to carry. Not very portable</a:t>
            </a:r>
            <a:endParaRPr sz="900">
              <a:solidFill>
                <a:srgbClr val="500000"/>
              </a:solidFill>
              <a:latin typeface="Open Sans"/>
              <a:ea typeface="Open Sans"/>
              <a:cs typeface="Open Sans"/>
              <a:sym typeface="Open Sans"/>
            </a:endParaRPr>
          </a:p>
          <a:p>
            <a:pPr indent="-285750" lvl="0" marL="457200" rtl="0" algn="l">
              <a:spcBef>
                <a:spcPts val="0"/>
              </a:spcBef>
              <a:spcAft>
                <a:spcPts val="0"/>
              </a:spcAft>
              <a:buClr>
                <a:srgbClr val="500000"/>
              </a:buClr>
              <a:buSzPts val="900"/>
              <a:buFont typeface="Open Sans"/>
              <a:buChar char="•"/>
            </a:pPr>
            <a:r>
              <a:rPr lang="en-US" sz="900">
                <a:solidFill>
                  <a:srgbClr val="500000"/>
                </a:solidFill>
                <a:latin typeface="Open Sans"/>
                <a:ea typeface="Open Sans"/>
                <a:cs typeface="Open Sans"/>
                <a:sym typeface="Open Sans"/>
              </a:rPr>
              <a:t>Very costly to purchase and to maintain. Many of these are still in the prototype stage.</a:t>
            </a:r>
            <a:endParaRPr sz="900">
              <a:solidFill>
                <a:srgbClr val="500000"/>
              </a:solidFill>
              <a:latin typeface="Open Sans"/>
              <a:ea typeface="Open Sans"/>
              <a:cs typeface="Open Sans"/>
              <a:sym typeface="Open Sans"/>
            </a:endParaRPr>
          </a:p>
          <a:p>
            <a:pPr indent="0" lvl="0" marL="0" rtl="0" algn="l">
              <a:spcBef>
                <a:spcPts val="0"/>
              </a:spcBef>
              <a:spcAft>
                <a:spcPts val="0"/>
              </a:spcAft>
              <a:buNone/>
            </a:pPr>
            <a:r>
              <a:t/>
            </a:r>
            <a:endParaRPr sz="900"/>
          </a:p>
        </p:txBody>
      </p:sp>
      <p:sp>
        <p:nvSpPr>
          <p:cNvPr id="130" name="Google Shape;130;g3bd96a98101_0_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c82bc410a0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203200" lvl="0" marL="342900" rtl="0" algn="l">
              <a:spcBef>
                <a:spcPts val="0"/>
              </a:spcBef>
              <a:spcAft>
                <a:spcPts val="0"/>
              </a:spcAft>
              <a:buClr>
                <a:srgbClr val="500000"/>
              </a:buClr>
              <a:buSzPts val="2200"/>
              <a:buFont typeface="Arial"/>
              <a:buNone/>
            </a:pPr>
            <a:r>
              <a:rPr b="1" lang="en-US" sz="900" u="sng">
                <a:solidFill>
                  <a:srgbClr val="500000"/>
                </a:solidFill>
                <a:latin typeface="Open Sans ExtraBold"/>
                <a:ea typeface="Open Sans ExtraBold"/>
                <a:cs typeface="Open Sans ExtraBold"/>
                <a:sym typeface="Open Sans ExtraBold"/>
              </a:rPr>
              <a:t>Drones</a:t>
            </a:r>
            <a:endParaRPr b="1" sz="900" u="sng">
              <a:solidFill>
                <a:srgbClr val="500000"/>
              </a:solidFill>
              <a:latin typeface="Open Sans ExtraBold"/>
              <a:ea typeface="Open Sans ExtraBold"/>
              <a:cs typeface="Open Sans ExtraBold"/>
              <a:sym typeface="Open Sans ExtraBold"/>
            </a:endParaRPr>
          </a:p>
          <a:p>
            <a:pPr indent="-203200" lvl="0" marL="342900" rtl="0" algn="l">
              <a:spcBef>
                <a:spcPts val="0"/>
              </a:spcBef>
              <a:spcAft>
                <a:spcPts val="0"/>
              </a:spcAft>
              <a:buClr>
                <a:srgbClr val="500000"/>
              </a:buClr>
              <a:buSzPts val="2200"/>
              <a:buFont typeface="Arial"/>
              <a:buNone/>
            </a:pPr>
            <a:r>
              <a:t/>
            </a:r>
            <a:endParaRPr b="1" sz="900" u="sng">
              <a:solidFill>
                <a:srgbClr val="500000"/>
              </a:solidFill>
              <a:latin typeface="Open Sans ExtraBold"/>
              <a:ea typeface="Open Sans ExtraBold"/>
              <a:cs typeface="Open Sans ExtraBold"/>
              <a:sym typeface="Open Sans ExtraBold"/>
            </a:endParaRPr>
          </a:p>
          <a:p>
            <a:pPr indent="-203200" lvl="0" marL="342900" rtl="0" algn="l">
              <a:spcBef>
                <a:spcPts val="0"/>
              </a:spcBef>
              <a:spcAft>
                <a:spcPts val="0"/>
              </a:spcAft>
              <a:buClr>
                <a:srgbClr val="500000"/>
              </a:buClr>
              <a:buSzPts val="2200"/>
              <a:buFont typeface="Arial"/>
              <a:buNone/>
            </a:pPr>
            <a:r>
              <a:rPr lang="en-US" sz="900">
                <a:solidFill>
                  <a:srgbClr val="500000"/>
                </a:solidFill>
                <a:latin typeface="Open Sans ExtraBold"/>
                <a:ea typeface="Open Sans ExtraBold"/>
                <a:cs typeface="Open Sans ExtraBold"/>
                <a:sym typeface="Open Sans ExtraBold"/>
              </a:rPr>
              <a:t>Pros</a:t>
            </a:r>
            <a:endParaRPr sz="900">
              <a:solidFill>
                <a:srgbClr val="500000"/>
              </a:solidFill>
              <a:latin typeface="Open Sans ExtraBold"/>
              <a:ea typeface="Open Sans ExtraBold"/>
              <a:cs typeface="Open Sans ExtraBold"/>
              <a:sym typeface="Open Sans ExtraBold"/>
            </a:endParaRPr>
          </a:p>
          <a:p>
            <a:pPr indent="-285750" lvl="0" marL="457200" rtl="0" algn="l">
              <a:spcBef>
                <a:spcPts val="0"/>
              </a:spcBef>
              <a:spcAft>
                <a:spcPts val="0"/>
              </a:spcAft>
              <a:buClr>
                <a:srgbClr val="500000"/>
              </a:buClr>
              <a:buSzPts val="900"/>
              <a:buFont typeface="Open Sans"/>
              <a:buChar char="•"/>
            </a:pPr>
            <a:r>
              <a:rPr lang="en-US" sz="900">
                <a:solidFill>
                  <a:srgbClr val="500000"/>
                </a:solidFill>
                <a:latin typeface="Open Sans"/>
                <a:ea typeface="Open Sans"/>
                <a:cs typeface="Open Sans"/>
                <a:sym typeface="Open Sans"/>
              </a:rPr>
              <a:t>Provide overhead views of environments, including inaccessible or elevated areas.</a:t>
            </a:r>
            <a:endParaRPr sz="900">
              <a:solidFill>
                <a:srgbClr val="500000"/>
              </a:solidFill>
              <a:latin typeface="Open Sans"/>
              <a:ea typeface="Open Sans"/>
              <a:cs typeface="Open Sans"/>
              <a:sym typeface="Open Sans"/>
            </a:endParaRPr>
          </a:p>
          <a:p>
            <a:pPr indent="-285750" lvl="0" marL="457200" rtl="0" algn="l">
              <a:spcBef>
                <a:spcPts val="0"/>
              </a:spcBef>
              <a:spcAft>
                <a:spcPts val="0"/>
              </a:spcAft>
              <a:buClr>
                <a:srgbClr val="500000"/>
              </a:buClr>
              <a:buSzPts val="900"/>
              <a:buFont typeface="Open Sans"/>
              <a:buChar char="•"/>
            </a:pPr>
            <a:r>
              <a:rPr lang="en-US" sz="900">
                <a:solidFill>
                  <a:srgbClr val="500000"/>
                </a:solidFill>
                <a:latin typeface="Open Sans"/>
                <a:ea typeface="Open Sans"/>
                <a:cs typeface="Open Sans"/>
                <a:sym typeface="Open Sans"/>
              </a:rPr>
              <a:t>It can be equipped with high-resolution cameras and thermal imaging.</a:t>
            </a:r>
            <a:endParaRPr sz="900">
              <a:solidFill>
                <a:srgbClr val="500000"/>
              </a:solidFill>
              <a:latin typeface="Open Sans"/>
              <a:ea typeface="Open Sans"/>
              <a:cs typeface="Open Sans"/>
              <a:sym typeface="Open Sans"/>
            </a:endParaRPr>
          </a:p>
          <a:p>
            <a:pPr indent="-285750" lvl="0" marL="457200" rtl="0" algn="l">
              <a:spcBef>
                <a:spcPts val="0"/>
              </a:spcBef>
              <a:spcAft>
                <a:spcPts val="0"/>
              </a:spcAft>
              <a:buClr>
                <a:srgbClr val="500000"/>
              </a:buClr>
              <a:buSzPts val="900"/>
              <a:buFont typeface="Open Sans"/>
              <a:buChar char="•"/>
            </a:pPr>
            <a:r>
              <a:rPr lang="en-US" sz="900">
                <a:solidFill>
                  <a:srgbClr val="500000"/>
                </a:solidFill>
                <a:latin typeface="Open Sans"/>
                <a:ea typeface="Open Sans"/>
                <a:cs typeface="Open Sans"/>
                <a:sym typeface="Open Sans"/>
              </a:rPr>
              <a:t>Already commercially available and supported by existing technology.</a:t>
            </a:r>
            <a:endParaRPr sz="900">
              <a:solidFill>
                <a:srgbClr val="500000"/>
              </a:solidFill>
              <a:latin typeface="Open Sans"/>
              <a:ea typeface="Open Sans"/>
              <a:cs typeface="Open Sans"/>
              <a:sym typeface="Open Sans"/>
            </a:endParaRPr>
          </a:p>
          <a:p>
            <a:pPr indent="-285750" lvl="0" marL="457200" rtl="0" algn="l">
              <a:spcBef>
                <a:spcPts val="0"/>
              </a:spcBef>
              <a:spcAft>
                <a:spcPts val="0"/>
              </a:spcAft>
              <a:buClr>
                <a:srgbClr val="500000"/>
              </a:buClr>
              <a:buSzPts val="900"/>
              <a:buFont typeface="Open Sans"/>
              <a:buChar char="•"/>
            </a:pPr>
            <a:r>
              <a:rPr lang="en-US" sz="900">
                <a:solidFill>
                  <a:srgbClr val="500000"/>
                </a:solidFill>
                <a:latin typeface="Open Sans"/>
                <a:ea typeface="Open Sans"/>
                <a:cs typeface="Open Sans"/>
                <a:sym typeface="Open Sans"/>
              </a:rPr>
              <a:t>No humans are put in harm's way</a:t>
            </a:r>
            <a:endParaRPr sz="900">
              <a:solidFill>
                <a:srgbClr val="500000"/>
              </a:solidFill>
              <a:latin typeface="Open Sans"/>
              <a:ea typeface="Open Sans"/>
              <a:cs typeface="Open Sans"/>
              <a:sym typeface="Open Sans"/>
            </a:endParaRPr>
          </a:p>
          <a:p>
            <a:pPr indent="0" lvl="0" marL="457200" rtl="0" algn="l">
              <a:spcBef>
                <a:spcPts val="0"/>
              </a:spcBef>
              <a:spcAft>
                <a:spcPts val="0"/>
              </a:spcAft>
              <a:buClr>
                <a:schemeClr val="dk1"/>
              </a:buClr>
              <a:buSzPts val="1100"/>
              <a:buFont typeface="Arial"/>
              <a:buNone/>
            </a:pPr>
            <a:r>
              <a:t/>
            </a:r>
            <a:endParaRPr sz="900">
              <a:solidFill>
                <a:srgbClr val="500000"/>
              </a:solidFill>
              <a:latin typeface="Open Sans"/>
              <a:ea typeface="Open Sans"/>
              <a:cs typeface="Open Sans"/>
              <a:sym typeface="Open Sans"/>
            </a:endParaRPr>
          </a:p>
          <a:p>
            <a:pPr indent="-203200" lvl="0" marL="342900" rtl="0" algn="l">
              <a:spcBef>
                <a:spcPts val="0"/>
              </a:spcBef>
              <a:spcAft>
                <a:spcPts val="0"/>
              </a:spcAft>
              <a:buClr>
                <a:srgbClr val="500000"/>
              </a:buClr>
              <a:buSzPts val="2200"/>
              <a:buFont typeface="Arial"/>
              <a:buNone/>
            </a:pPr>
            <a:r>
              <a:rPr lang="en-US" sz="900">
                <a:solidFill>
                  <a:srgbClr val="500000"/>
                </a:solidFill>
                <a:latin typeface="Open Sans ExtraBold"/>
                <a:ea typeface="Open Sans ExtraBold"/>
                <a:cs typeface="Open Sans ExtraBold"/>
                <a:sym typeface="Open Sans ExtraBold"/>
              </a:rPr>
              <a:t>Cons</a:t>
            </a:r>
            <a:endParaRPr sz="900">
              <a:solidFill>
                <a:srgbClr val="500000"/>
              </a:solidFill>
              <a:latin typeface="Open Sans ExtraBold"/>
              <a:ea typeface="Open Sans ExtraBold"/>
              <a:cs typeface="Open Sans ExtraBold"/>
              <a:sym typeface="Open Sans ExtraBold"/>
            </a:endParaRPr>
          </a:p>
          <a:p>
            <a:pPr indent="-285750" lvl="0" marL="457200" rtl="0" algn="l">
              <a:spcBef>
                <a:spcPts val="0"/>
              </a:spcBef>
              <a:spcAft>
                <a:spcPts val="0"/>
              </a:spcAft>
              <a:buClr>
                <a:srgbClr val="500000"/>
              </a:buClr>
              <a:buSzPts val="900"/>
              <a:buFont typeface="Open Sans"/>
              <a:buChar char="•"/>
            </a:pPr>
            <a:r>
              <a:rPr lang="en-US" sz="900">
                <a:solidFill>
                  <a:srgbClr val="500000"/>
                </a:solidFill>
                <a:latin typeface="Open Sans"/>
                <a:ea typeface="Open Sans"/>
                <a:cs typeface="Open Sans"/>
                <a:sym typeface="Open Sans"/>
              </a:rPr>
              <a:t>Hard to operate in enclosed areas</a:t>
            </a:r>
            <a:endParaRPr sz="900">
              <a:solidFill>
                <a:srgbClr val="500000"/>
              </a:solidFill>
              <a:latin typeface="Open Sans"/>
              <a:ea typeface="Open Sans"/>
              <a:cs typeface="Open Sans"/>
              <a:sym typeface="Open Sans"/>
            </a:endParaRPr>
          </a:p>
          <a:p>
            <a:pPr indent="-285750" lvl="0" marL="457200" rtl="0" algn="l">
              <a:spcBef>
                <a:spcPts val="0"/>
              </a:spcBef>
              <a:spcAft>
                <a:spcPts val="0"/>
              </a:spcAft>
              <a:buClr>
                <a:srgbClr val="500000"/>
              </a:buClr>
              <a:buSzPts val="900"/>
              <a:buFont typeface="Open Sans"/>
              <a:buChar char="•"/>
            </a:pPr>
            <a:r>
              <a:rPr lang="en-US" sz="900">
                <a:solidFill>
                  <a:srgbClr val="500000"/>
                </a:solidFill>
                <a:latin typeface="Open Sans"/>
                <a:ea typeface="Open Sans"/>
                <a:cs typeface="Open Sans"/>
                <a:sym typeface="Open Sans"/>
              </a:rPr>
              <a:t>Requires significant skill from a trained operator</a:t>
            </a:r>
            <a:endParaRPr sz="900">
              <a:solidFill>
                <a:srgbClr val="500000"/>
              </a:solidFill>
              <a:latin typeface="Open Sans"/>
              <a:ea typeface="Open Sans"/>
              <a:cs typeface="Open Sans"/>
              <a:sym typeface="Open Sans"/>
            </a:endParaRPr>
          </a:p>
          <a:p>
            <a:pPr indent="-285750" lvl="0" marL="457200" rtl="0" algn="l">
              <a:spcBef>
                <a:spcPts val="0"/>
              </a:spcBef>
              <a:spcAft>
                <a:spcPts val="0"/>
              </a:spcAft>
              <a:buClr>
                <a:srgbClr val="500000"/>
              </a:buClr>
              <a:buSzPts val="900"/>
              <a:buFont typeface="Open Sans"/>
              <a:buChar char="•"/>
            </a:pPr>
            <a:r>
              <a:rPr lang="en-US" sz="900">
                <a:solidFill>
                  <a:srgbClr val="500000"/>
                </a:solidFill>
                <a:latin typeface="Open Sans"/>
                <a:ea typeface="Open Sans"/>
                <a:cs typeface="Open Sans"/>
                <a:sym typeface="Open Sans"/>
              </a:rPr>
              <a:t>Not easily repairable</a:t>
            </a:r>
            <a:endParaRPr sz="900">
              <a:solidFill>
                <a:srgbClr val="500000"/>
              </a:solidFill>
              <a:latin typeface="Open Sans"/>
              <a:ea typeface="Open Sans"/>
              <a:cs typeface="Open Sans"/>
              <a:sym typeface="Open Sans"/>
            </a:endParaRPr>
          </a:p>
          <a:p>
            <a:pPr indent="-285750" lvl="0" marL="457200" rtl="0" algn="l">
              <a:spcBef>
                <a:spcPts val="0"/>
              </a:spcBef>
              <a:spcAft>
                <a:spcPts val="0"/>
              </a:spcAft>
              <a:buClr>
                <a:srgbClr val="500000"/>
              </a:buClr>
              <a:buSzPts val="900"/>
              <a:buFont typeface="Open Sans"/>
              <a:buChar char="•"/>
            </a:pPr>
            <a:r>
              <a:rPr lang="en-US" sz="900">
                <a:solidFill>
                  <a:srgbClr val="500000"/>
                </a:solidFill>
                <a:latin typeface="Open Sans"/>
                <a:ea typeface="Open Sans"/>
                <a:cs typeface="Open Sans"/>
                <a:sym typeface="Open Sans"/>
              </a:rPr>
              <a:t>biggest drawback to drones is that they are very hard to place into rooms that are not easily accessible. Therefore, they are basically unusable in most scenarios that our product shines</a:t>
            </a:r>
            <a:endParaRPr sz="900">
              <a:solidFill>
                <a:srgbClr val="500000"/>
              </a:solidFill>
              <a:latin typeface="Open Sans"/>
              <a:ea typeface="Open Sans"/>
              <a:cs typeface="Open Sans"/>
              <a:sym typeface="Open Sans"/>
            </a:endParaRPr>
          </a:p>
          <a:p>
            <a:pPr indent="-203200" lvl="0" marL="342900" rtl="0" algn="l">
              <a:spcBef>
                <a:spcPts val="0"/>
              </a:spcBef>
              <a:spcAft>
                <a:spcPts val="0"/>
              </a:spcAft>
              <a:buNone/>
            </a:pPr>
            <a:r>
              <a:rPr b="1" lang="en-US" sz="900" u="sng">
                <a:solidFill>
                  <a:srgbClr val="500000"/>
                </a:solidFill>
                <a:latin typeface="Open Sans ExtraBold"/>
                <a:ea typeface="Open Sans ExtraBold"/>
                <a:cs typeface="Open Sans ExtraBold"/>
                <a:sym typeface="Open Sans ExtraBold"/>
              </a:rPr>
              <a:t>Ground Robots</a:t>
            </a:r>
            <a:endParaRPr b="1" sz="900" u="sng">
              <a:solidFill>
                <a:srgbClr val="500000"/>
              </a:solidFill>
              <a:latin typeface="Open Sans ExtraBold"/>
              <a:ea typeface="Open Sans ExtraBold"/>
              <a:cs typeface="Open Sans ExtraBold"/>
              <a:sym typeface="Open Sans ExtraBold"/>
            </a:endParaRPr>
          </a:p>
          <a:p>
            <a:pPr indent="-203200" lvl="0" marL="342900" rtl="0" algn="l">
              <a:spcBef>
                <a:spcPts val="0"/>
              </a:spcBef>
              <a:spcAft>
                <a:spcPts val="0"/>
              </a:spcAft>
              <a:buNone/>
            </a:pPr>
            <a:r>
              <a:t/>
            </a:r>
            <a:endParaRPr b="1" sz="900" u="sng">
              <a:solidFill>
                <a:srgbClr val="500000"/>
              </a:solidFill>
              <a:latin typeface="Open Sans ExtraBold"/>
              <a:ea typeface="Open Sans ExtraBold"/>
              <a:cs typeface="Open Sans ExtraBold"/>
              <a:sym typeface="Open Sans ExtraBold"/>
            </a:endParaRPr>
          </a:p>
          <a:p>
            <a:pPr indent="-203200" lvl="0" marL="342900" rtl="0" algn="l">
              <a:spcBef>
                <a:spcPts val="0"/>
              </a:spcBef>
              <a:spcAft>
                <a:spcPts val="0"/>
              </a:spcAft>
              <a:buNone/>
            </a:pPr>
            <a:r>
              <a:rPr lang="en-US" sz="900">
                <a:solidFill>
                  <a:srgbClr val="500000"/>
                </a:solidFill>
                <a:latin typeface="Open Sans ExtraBold"/>
                <a:ea typeface="Open Sans ExtraBold"/>
                <a:cs typeface="Open Sans ExtraBold"/>
                <a:sym typeface="Open Sans ExtraBold"/>
              </a:rPr>
              <a:t>Pros</a:t>
            </a:r>
            <a:endParaRPr sz="900">
              <a:solidFill>
                <a:srgbClr val="500000"/>
              </a:solidFill>
              <a:latin typeface="Open Sans ExtraBold"/>
              <a:ea typeface="Open Sans ExtraBold"/>
              <a:cs typeface="Open Sans ExtraBold"/>
              <a:sym typeface="Open Sans ExtraBold"/>
            </a:endParaRPr>
          </a:p>
          <a:p>
            <a:pPr indent="-285750" lvl="0" marL="457200" rtl="0" algn="l">
              <a:spcBef>
                <a:spcPts val="0"/>
              </a:spcBef>
              <a:spcAft>
                <a:spcPts val="0"/>
              </a:spcAft>
              <a:buClr>
                <a:srgbClr val="500000"/>
              </a:buClr>
              <a:buSzPts val="900"/>
              <a:buFont typeface="Open Sans"/>
              <a:buChar char="•"/>
            </a:pPr>
            <a:r>
              <a:rPr lang="en-US" sz="900">
                <a:solidFill>
                  <a:srgbClr val="500000"/>
                </a:solidFill>
                <a:latin typeface="Open Sans"/>
                <a:ea typeface="Open Sans"/>
                <a:cs typeface="Open Sans"/>
                <a:sym typeface="Open Sans"/>
              </a:rPr>
              <a:t>No humans are put in harm's way</a:t>
            </a:r>
            <a:endParaRPr sz="900">
              <a:solidFill>
                <a:srgbClr val="500000"/>
              </a:solidFill>
              <a:latin typeface="Open Sans"/>
              <a:ea typeface="Open Sans"/>
              <a:cs typeface="Open Sans"/>
              <a:sym typeface="Open Sans"/>
            </a:endParaRPr>
          </a:p>
          <a:p>
            <a:pPr indent="-285750" lvl="0" marL="457200" rtl="0" algn="l">
              <a:spcBef>
                <a:spcPts val="0"/>
              </a:spcBef>
              <a:spcAft>
                <a:spcPts val="0"/>
              </a:spcAft>
              <a:buClr>
                <a:srgbClr val="500000"/>
              </a:buClr>
              <a:buSzPts val="900"/>
              <a:buFont typeface="Open Sans"/>
              <a:buChar char="•"/>
            </a:pPr>
            <a:r>
              <a:rPr lang="en-US" sz="900">
                <a:solidFill>
                  <a:srgbClr val="500000"/>
                </a:solidFill>
                <a:latin typeface="Open Sans"/>
                <a:ea typeface="Open Sans"/>
                <a:cs typeface="Open Sans"/>
                <a:sym typeface="Open Sans"/>
              </a:rPr>
              <a:t>Some have decent mobility</a:t>
            </a:r>
            <a:endParaRPr sz="900">
              <a:solidFill>
                <a:srgbClr val="500000"/>
              </a:solidFill>
              <a:latin typeface="Open Sans"/>
              <a:ea typeface="Open Sans"/>
              <a:cs typeface="Open Sans"/>
              <a:sym typeface="Open Sans"/>
            </a:endParaRPr>
          </a:p>
          <a:p>
            <a:pPr indent="-285750" lvl="0" marL="457200" rtl="0" algn="l">
              <a:spcBef>
                <a:spcPts val="0"/>
              </a:spcBef>
              <a:spcAft>
                <a:spcPts val="0"/>
              </a:spcAft>
              <a:buClr>
                <a:srgbClr val="500000"/>
              </a:buClr>
              <a:buSzPts val="900"/>
              <a:buFont typeface="Open Sans"/>
              <a:buChar char="•"/>
            </a:pPr>
            <a:r>
              <a:rPr lang="en-US" sz="900">
                <a:solidFill>
                  <a:srgbClr val="500000"/>
                </a:solidFill>
                <a:latin typeface="Open Sans"/>
                <a:ea typeface="Open Sans"/>
                <a:cs typeface="Open Sans"/>
                <a:sym typeface="Open Sans"/>
              </a:rPr>
              <a:t>A lot of them carry very sophisticated mapping and recording systems (LIDAR, cameras, infrared)</a:t>
            </a:r>
            <a:endParaRPr sz="900">
              <a:solidFill>
                <a:srgbClr val="500000"/>
              </a:solidFill>
              <a:latin typeface="Open Sans"/>
              <a:ea typeface="Open Sans"/>
              <a:cs typeface="Open Sans"/>
              <a:sym typeface="Open Sans"/>
            </a:endParaRPr>
          </a:p>
          <a:p>
            <a:pPr indent="-285750" lvl="0" marL="457200" rtl="0" algn="l">
              <a:spcBef>
                <a:spcPts val="0"/>
              </a:spcBef>
              <a:spcAft>
                <a:spcPts val="0"/>
              </a:spcAft>
              <a:buClr>
                <a:srgbClr val="500000"/>
              </a:buClr>
              <a:buSzPts val="900"/>
              <a:buFont typeface="Open Sans"/>
              <a:buChar char="•"/>
            </a:pPr>
            <a:r>
              <a:rPr lang="en-US" sz="900">
                <a:solidFill>
                  <a:srgbClr val="500000"/>
                </a:solidFill>
                <a:latin typeface="Open Sans"/>
                <a:ea typeface="Open Sans"/>
                <a:cs typeface="Open Sans"/>
                <a:sym typeface="Open Sans"/>
              </a:rPr>
              <a:t>Already being used by some first responders and military units</a:t>
            </a:r>
            <a:endParaRPr sz="900">
              <a:solidFill>
                <a:srgbClr val="500000"/>
              </a:solidFill>
              <a:latin typeface="Open Sans"/>
              <a:ea typeface="Open Sans"/>
              <a:cs typeface="Open Sans"/>
              <a:sym typeface="Open Sans"/>
            </a:endParaRPr>
          </a:p>
          <a:p>
            <a:pPr indent="0" lvl="0" marL="139700" rtl="0" algn="l">
              <a:spcBef>
                <a:spcPts val="0"/>
              </a:spcBef>
              <a:spcAft>
                <a:spcPts val="0"/>
              </a:spcAft>
              <a:buNone/>
            </a:pPr>
            <a:r>
              <a:t/>
            </a:r>
            <a:endParaRPr sz="900">
              <a:solidFill>
                <a:srgbClr val="500000"/>
              </a:solidFill>
              <a:latin typeface="Open Sans ExtraBold"/>
              <a:ea typeface="Open Sans ExtraBold"/>
              <a:cs typeface="Open Sans ExtraBold"/>
              <a:sym typeface="Open Sans ExtraBold"/>
            </a:endParaRPr>
          </a:p>
          <a:p>
            <a:pPr indent="0" lvl="0" marL="139700" rtl="0" algn="l">
              <a:spcBef>
                <a:spcPts val="0"/>
              </a:spcBef>
              <a:spcAft>
                <a:spcPts val="0"/>
              </a:spcAft>
              <a:buNone/>
            </a:pPr>
            <a:r>
              <a:rPr lang="en-US" sz="900">
                <a:solidFill>
                  <a:srgbClr val="500000"/>
                </a:solidFill>
                <a:latin typeface="Open Sans ExtraBold"/>
                <a:ea typeface="Open Sans ExtraBold"/>
                <a:cs typeface="Open Sans ExtraBold"/>
                <a:sym typeface="Open Sans ExtraBold"/>
              </a:rPr>
              <a:t>Cons</a:t>
            </a:r>
            <a:endParaRPr sz="900">
              <a:solidFill>
                <a:srgbClr val="500000"/>
              </a:solidFill>
              <a:latin typeface="Open Sans ExtraBold"/>
              <a:ea typeface="Open Sans ExtraBold"/>
              <a:cs typeface="Open Sans ExtraBold"/>
              <a:sym typeface="Open Sans ExtraBold"/>
            </a:endParaRPr>
          </a:p>
          <a:p>
            <a:pPr indent="-285750" lvl="0" marL="457200" rtl="0" algn="l">
              <a:spcBef>
                <a:spcPts val="0"/>
              </a:spcBef>
              <a:spcAft>
                <a:spcPts val="0"/>
              </a:spcAft>
              <a:buClr>
                <a:srgbClr val="500000"/>
              </a:buClr>
              <a:buSzPts val="900"/>
              <a:buFont typeface="Open Sans"/>
              <a:buChar char="•"/>
            </a:pPr>
            <a:r>
              <a:rPr lang="en-US" sz="900">
                <a:solidFill>
                  <a:srgbClr val="500000"/>
                </a:solidFill>
                <a:latin typeface="Open Sans"/>
                <a:ea typeface="Open Sans"/>
                <a:cs typeface="Open Sans"/>
                <a:sym typeface="Open Sans"/>
              </a:rPr>
              <a:t>Mobility issues if the ground is obstructed/uneven</a:t>
            </a:r>
            <a:endParaRPr sz="900">
              <a:solidFill>
                <a:srgbClr val="500000"/>
              </a:solidFill>
              <a:latin typeface="Open Sans"/>
              <a:ea typeface="Open Sans"/>
              <a:cs typeface="Open Sans"/>
              <a:sym typeface="Open Sans"/>
            </a:endParaRPr>
          </a:p>
          <a:p>
            <a:pPr indent="-285750" lvl="0" marL="457200" rtl="0" algn="l">
              <a:spcBef>
                <a:spcPts val="0"/>
              </a:spcBef>
              <a:spcAft>
                <a:spcPts val="0"/>
              </a:spcAft>
              <a:buClr>
                <a:srgbClr val="500000"/>
              </a:buClr>
              <a:buSzPts val="900"/>
              <a:buFont typeface="Open Sans"/>
              <a:buChar char="•"/>
            </a:pPr>
            <a:r>
              <a:rPr lang="en-US" sz="900">
                <a:solidFill>
                  <a:srgbClr val="500000"/>
                </a:solidFill>
                <a:latin typeface="Open Sans"/>
                <a:ea typeface="Open Sans"/>
                <a:cs typeface="Open Sans"/>
                <a:sym typeface="Open Sans"/>
              </a:rPr>
              <a:t>Usually large and hard to carry. Not very portable</a:t>
            </a:r>
            <a:endParaRPr sz="900">
              <a:solidFill>
                <a:srgbClr val="500000"/>
              </a:solidFill>
              <a:latin typeface="Open Sans"/>
              <a:ea typeface="Open Sans"/>
              <a:cs typeface="Open Sans"/>
              <a:sym typeface="Open Sans"/>
            </a:endParaRPr>
          </a:p>
          <a:p>
            <a:pPr indent="-285750" lvl="0" marL="457200" rtl="0" algn="l">
              <a:spcBef>
                <a:spcPts val="0"/>
              </a:spcBef>
              <a:spcAft>
                <a:spcPts val="0"/>
              </a:spcAft>
              <a:buClr>
                <a:srgbClr val="500000"/>
              </a:buClr>
              <a:buSzPts val="900"/>
              <a:buFont typeface="Open Sans"/>
              <a:buChar char="•"/>
            </a:pPr>
            <a:r>
              <a:rPr lang="en-US" sz="900">
                <a:solidFill>
                  <a:srgbClr val="500000"/>
                </a:solidFill>
                <a:latin typeface="Open Sans"/>
                <a:ea typeface="Open Sans"/>
                <a:cs typeface="Open Sans"/>
                <a:sym typeface="Open Sans"/>
              </a:rPr>
              <a:t>Very costly to purchase and to maintain. Many of these are still in the prototype stage.</a:t>
            </a:r>
            <a:endParaRPr sz="900">
              <a:solidFill>
                <a:srgbClr val="500000"/>
              </a:solidFill>
              <a:latin typeface="Open Sans"/>
              <a:ea typeface="Open Sans"/>
              <a:cs typeface="Open Sans"/>
              <a:sym typeface="Open Sans"/>
            </a:endParaRPr>
          </a:p>
          <a:p>
            <a:pPr indent="0" lvl="0" marL="0" rtl="0" algn="l">
              <a:spcBef>
                <a:spcPts val="0"/>
              </a:spcBef>
              <a:spcAft>
                <a:spcPts val="0"/>
              </a:spcAft>
              <a:buNone/>
            </a:pPr>
            <a:r>
              <a:t/>
            </a:r>
            <a:endParaRPr sz="900"/>
          </a:p>
        </p:txBody>
      </p:sp>
      <p:sp>
        <p:nvSpPr>
          <p:cNvPr id="139" name="Google Shape;139;g3c82bc410a0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bd96a98101_0_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g3bd96a98101_0_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c858109de7_0_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g3c858109de7_0_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c707e37b49_0_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g3c707e37b49_0_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c707e37b49_0_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g3c707e37b49_0_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c707e37b49_0_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g3c707e37b49_0_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cd6c5a1f6d_2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cd6c5a1f6d_2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g3cd6c5a1f6d_2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c707e37b49_0_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g3c707e37b49_0_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bd96a98101_0_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g3bd96a98101_0_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bd96a98101_0_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u="sng">
                <a:solidFill>
                  <a:schemeClr val="hlink"/>
                </a:solidFill>
                <a:hlinkClick r:id="rId2"/>
              </a:rPr>
              <a:t>https://www.amazon.com/Anker-Travel-Ready-Technology-High-Speed-Output%EF%BC%88Black%EF%BC%89%EF%BC%8C1pack/dp/B0D5CLSMFB?sr=8-3</a:t>
            </a:r>
            <a:endParaRPr/>
          </a:p>
          <a:p>
            <a:pPr indent="0" lvl="0" marL="0" rtl="0" algn="l">
              <a:spcBef>
                <a:spcPts val="0"/>
              </a:spcBef>
              <a:spcAft>
                <a:spcPts val="0"/>
              </a:spcAft>
              <a:buNone/>
            </a:pPr>
            <a:r>
              <a:t/>
            </a:r>
            <a:endParaRPr/>
          </a:p>
        </p:txBody>
      </p:sp>
      <p:sp>
        <p:nvSpPr>
          <p:cNvPr id="224" name="Google Shape;224;g3bd96a98101_0_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bd96a98101_0_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g3bd96a98101_0_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bd96a98101_0_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g3bd96a98101_0_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c82bc410a0_0_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g3c82bc410a0_0_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bd96a98101_0_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g3bd96a98101_0_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1.png"/><Relationship Id="rId4" Type="http://schemas.openxmlformats.org/officeDocument/2006/relationships/image" Target="../media/image1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12.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pic>
        <p:nvPicPr>
          <p:cNvPr descr="AcademicBdlg.jpg" id="19" name="Google Shape;19;p6"/>
          <p:cNvPicPr preferRelativeResize="0"/>
          <p:nvPr/>
        </p:nvPicPr>
        <p:blipFill rotWithShape="1">
          <a:blip r:embed="rId2">
            <a:alphaModFix/>
          </a:blip>
          <a:srcRect b="0" l="0" r="0" t="0"/>
          <a:stretch/>
        </p:blipFill>
        <p:spPr>
          <a:xfrm>
            <a:off x="264459" y="207095"/>
            <a:ext cx="11663082" cy="6453660"/>
          </a:xfrm>
          <a:prstGeom prst="rect">
            <a:avLst/>
          </a:prstGeom>
          <a:noFill/>
          <a:ln>
            <a:noFill/>
          </a:ln>
        </p:spPr>
      </p:pic>
      <p:sp>
        <p:nvSpPr>
          <p:cNvPr id="20" name="Google Shape;20;p6"/>
          <p:cNvSpPr txBox="1"/>
          <p:nvPr>
            <p:ph type="ctrTitle"/>
          </p:nvPr>
        </p:nvSpPr>
        <p:spPr>
          <a:xfrm>
            <a:off x="914400" y="2693989"/>
            <a:ext cx="103632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lt1"/>
              </a:buClr>
              <a:buSzPts val="5400"/>
              <a:buFont typeface="Oswald Medium"/>
              <a:buNone/>
              <a:defRPr b="0" i="0" sz="5400">
                <a:solidFill>
                  <a:schemeClr val="lt1"/>
                </a:solidFill>
                <a:latin typeface="Oswald Medium"/>
                <a:ea typeface="Oswald Medium"/>
                <a:cs typeface="Oswald Medium"/>
                <a:sym typeface="Oswald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6"/>
          <p:cNvSpPr txBox="1"/>
          <p:nvPr>
            <p:ph idx="1" type="subTitle"/>
          </p:nvPr>
        </p:nvSpPr>
        <p:spPr>
          <a:xfrm>
            <a:off x="1828800" y="4235390"/>
            <a:ext cx="8534400" cy="1189892"/>
          </a:xfrm>
          <a:prstGeom prst="rect">
            <a:avLst/>
          </a:prstGeom>
          <a:noFill/>
          <a:ln>
            <a:noFill/>
          </a:ln>
        </p:spPr>
        <p:txBody>
          <a:bodyPr anchorCtr="0" anchor="t" bIns="45700" lIns="91425" spcFirstLastPara="1" rIns="91425" wrap="square" tIns="45700">
            <a:normAutofit/>
          </a:bodyPr>
          <a:lstStyle>
            <a:lvl1pPr lvl="0" algn="ctr">
              <a:spcBef>
                <a:spcPts val="480"/>
              </a:spcBef>
              <a:spcAft>
                <a:spcPts val="0"/>
              </a:spcAft>
              <a:buClr>
                <a:schemeClr val="lt1"/>
              </a:buClr>
              <a:buSzPts val="2400"/>
              <a:buNone/>
              <a:defRPr b="1" i="0" sz="2400">
                <a:solidFill>
                  <a:schemeClr val="lt1"/>
                </a:solidFill>
                <a:latin typeface="Open Sans ExtraBold"/>
                <a:ea typeface="Open Sans ExtraBold"/>
                <a:cs typeface="Open Sans ExtraBold"/>
                <a:sym typeface="Open Sans ExtraBold"/>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6"/>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6"/>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6"/>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25" name="Google Shape;25;p6"/>
          <p:cNvPicPr preferRelativeResize="0"/>
          <p:nvPr/>
        </p:nvPicPr>
        <p:blipFill rotWithShape="1">
          <a:blip r:embed="rId3">
            <a:alphaModFix/>
          </a:blip>
          <a:srcRect b="0" l="0" r="0" t="0"/>
          <a:stretch/>
        </p:blipFill>
        <p:spPr>
          <a:xfrm>
            <a:off x="5364929" y="1017297"/>
            <a:ext cx="1462142" cy="1111228"/>
          </a:xfrm>
          <a:prstGeom prst="rect">
            <a:avLst/>
          </a:prstGeom>
          <a:noFill/>
          <a:ln>
            <a:noFill/>
          </a:ln>
        </p:spPr>
      </p:pic>
      <p:pic>
        <p:nvPicPr>
          <p:cNvPr id="26" name="Google Shape;26;p6"/>
          <p:cNvPicPr preferRelativeResize="0"/>
          <p:nvPr/>
        </p:nvPicPr>
        <p:blipFill rotWithShape="1">
          <a:blip r:embed="rId4">
            <a:alphaModFix/>
          </a:blip>
          <a:srcRect b="0" l="0" r="0" t="0"/>
          <a:stretch/>
        </p:blipFill>
        <p:spPr>
          <a:xfrm flipH="1" rot="-5400000">
            <a:off x="-2967296" y="3299573"/>
            <a:ext cx="6463510" cy="258854"/>
          </a:xfrm>
          <a:prstGeom prst="rect">
            <a:avLst/>
          </a:prstGeom>
          <a:noFill/>
          <a:ln>
            <a:noFill/>
          </a:ln>
        </p:spPr>
      </p:pic>
      <p:pic>
        <p:nvPicPr>
          <p:cNvPr id="27" name="Google Shape;27;p6"/>
          <p:cNvPicPr preferRelativeResize="0"/>
          <p:nvPr/>
        </p:nvPicPr>
        <p:blipFill rotWithShape="1">
          <a:blip r:embed="rId4">
            <a:alphaModFix/>
          </a:blip>
          <a:srcRect b="0" l="0" r="0" t="0"/>
          <a:stretch/>
        </p:blipFill>
        <p:spPr>
          <a:xfrm flipH="1" rot="-5400000">
            <a:off x="8695786" y="3289723"/>
            <a:ext cx="6463510" cy="258854"/>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8" name="Shape 28"/>
        <p:cNvGrpSpPr/>
        <p:nvPr/>
      </p:nvGrpSpPr>
      <p:grpSpPr>
        <a:xfrm>
          <a:off x="0" y="0"/>
          <a:ext cx="0" cy="0"/>
          <a:chOff x="0" y="0"/>
          <a:chExt cx="0" cy="0"/>
        </a:xfrm>
      </p:grpSpPr>
      <p:sp>
        <p:nvSpPr>
          <p:cNvPr id="29" name="Google Shape;29;p7"/>
          <p:cNvSpPr txBox="1"/>
          <p:nvPr>
            <p:ph idx="1" type="body"/>
          </p:nvPr>
        </p:nvSpPr>
        <p:spPr>
          <a:xfrm>
            <a:off x="609600" y="2294022"/>
            <a:ext cx="5384800" cy="3832143"/>
          </a:xfrm>
          <a:prstGeom prst="rect">
            <a:avLst/>
          </a:prstGeom>
          <a:noFill/>
          <a:ln>
            <a:noFill/>
          </a:ln>
        </p:spPr>
        <p:txBody>
          <a:bodyPr anchorCtr="0" anchor="t" bIns="45700" lIns="91425" spcFirstLastPara="1" rIns="91425" wrap="square" tIns="45700">
            <a:normAutofit/>
          </a:bodyPr>
          <a:lstStyle>
            <a:lvl1pPr indent="-368300" lvl="0" marL="457200" algn="l">
              <a:spcBef>
                <a:spcPts val="440"/>
              </a:spcBef>
              <a:spcAft>
                <a:spcPts val="0"/>
              </a:spcAft>
              <a:buClr>
                <a:srgbClr val="500000"/>
              </a:buClr>
              <a:buSzPts val="2200"/>
              <a:buChar char="•"/>
              <a:defRPr b="1" i="0" sz="2200">
                <a:latin typeface="Open Sans ExtraBold"/>
                <a:ea typeface="Open Sans ExtraBold"/>
                <a:cs typeface="Open Sans ExtraBold"/>
                <a:sym typeface="Open Sans ExtraBold"/>
              </a:defRPr>
            </a:lvl1pPr>
            <a:lvl2pPr indent="-381000" lvl="1" marL="914400" algn="l">
              <a:spcBef>
                <a:spcPts val="480"/>
              </a:spcBef>
              <a:spcAft>
                <a:spcPts val="0"/>
              </a:spcAft>
              <a:buClr>
                <a:srgbClr val="500000"/>
              </a:buClr>
              <a:buSzPts val="2400"/>
              <a:buChar char="–"/>
              <a:defRPr sz="2400"/>
            </a:lvl2pPr>
            <a:lvl3pPr indent="-355600" lvl="2" marL="1371600" algn="l">
              <a:spcBef>
                <a:spcPts val="400"/>
              </a:spcBef>
              <a:spcAft>
                <a:spcPts val="0"/>
              </a:spcAft>
              <a:buClr>
                <a:srgbClr val="500000"/>
              </a:buClr>
              <a:buSzPts val="2000"/>
              <a:buChar char="•"/>
              <a:defRPr sz="2000"/>
            </a:lvl3pPr>
            <a:lvl4pPr indent="-342900" lvl="3" marL="1828800" algn="l">
              <a:spcBef>
                <a:spcPts val="360"/>
              </a:spcBef>
              <a:spcAft>
                <a:spcPts val="0"/>
              </a:spcAft>
              <a:buClr>
                <a:srgbClr val="500000"/>
              </a:buClr>
              <a:buSzPts val="1800"/>
              <a:buChar char="–"/>
              <a:defRPr sz="1800"/>
            </a:lvl4pPr>
            <a:lvl5pPr indent="-342900" lvl="4" marL="2286000" algn="l">
              <a:spcBef>
                <a:spcPts val="360"/>
              </a:spcBef>
              <a:spcAft>
                <a:spcPts val="0"/>
              </a:spcAft>
              <a:buClr>
                <a:srgbClr val="500000"/>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0" name="Google Shape;30;p7"/>
          <p:cNvSpPr txBox="1"/>
          <p:nvPr>
            <p:ph idx="2" type="body"/>
          </p:nvPr>
        </p:nvSpPr>
        <p:spPr>
          <a:xfrm>
            <a:off x="6197600" y="2294022"/>
            <a:ext cx="5384800" cy="3832143"/>
          </a:xfrm>
          <a:prstGeom prst="rect">
            <a:avLst/>
          </a:prstGeom>
          <a:noFill/>
          <a:ln>
            <a:noFill/>
          </a:ln>
        </p:spPr>
        <p:txBody>
          <a:bodyPr anchorCtr="0" anchor="t" bIns="45700" lIns="91425" spcFirstLastPara="1" rIns="91425" wrap="square" tIns="45700">
            <a:normAutofit/>
          </a:bodyPr>
          <a:lstStyle>
            <a:lvl1pPr indent="-368300" lvl="0" marL="457200" algn="l">
              <a:spcBef>
                <a:spcPts val="440"/>
              </a:spcBef>
              <a:spcAft>
                <a:spcPts val="0"/>
              </a:spcAft>
              <a:buClr>
                <a:srgbClr val="500000"/>
              </a:buClr>
              <a:buSzPts val="2200"/>
              <a:buChar char="•"/>
              <a:defRPr b="1" i="0" sz="2200">
                <a:latin typeface="Open Sans ExtraBold"/>
                <a:ea typeface="Open Sans ExtraBold"/>
                <a:cs typeface="Open Sans ExtraBold"/>
                <a:sym typeface="Open Sans ExtraBold"/>
              </a:defRPr>
            </a:lvl1pPr>
            <a:lvl2pPr indent="-381000" lvl="1" marL="914400" algn="l">
              <a:spcBef>
                <a:spcPts val="480"/>
              </a:spcBef>
              <a:spcAft>
                <a:spcPts val="0"/>
              </a:spcAft>
              <a:buClr>
                <a:srgbClr val="500000"/>
              </a:buClr>
              <a:buSzPts val="2400"/>
              <a:buChar char="–"/>
              <a:defRPr sz="2400"/>
            </a:lvl2pPr>
            <a:lvl3pPr indent="-355600" lvl="2" marL="1371600" algn="l">
              <a:spcBef>
                <a:spcPts val="400"/>
              </a:spcBef>
              <a:spcAft>
                <a:spcPts val="0"/>
              </a:spcAft>
              <a:buClr>
                <a:srgbClr val="500000"/>
              </a:buClr>
              <a:buSzPts val="2000"/>
              <a:buChar char="•"/>
              <a:defRPr sz="2000"/>
            </a:lvl3pPr>
            <a:lvl4pPr indent="-342900" lvl="3" marL="1828800" algn="l">
              <a:spcBef>
                <a:spcPts val="360"/>
              </a:spcBef>
              <a:spcAft>
                <a:spcPts val="0"/>
              </a:spcAft>
              <a:buClr>
                <a:srgbClr val="500000"/>
              </a:buClr>
              <a:buSzPts val="1800"/>
              <a:buChar char="–"/>
              <a:defRPr sz="1800"/>
            </a:lvl4pPr>
            <a:lvl5pPr indent="-342900" lvl="4" marL="2286000" algn="l">
              <a:spcBef>
                <a:spcPts val="360"/>
              </a:spcBef>
              <a:spcAft>
                <a:spcPts val="0"/>
              </a:spcAft>
              <a:buClr>
                <a:srgbClr val="500000"/>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1" name="Google Shape;31;p7"/>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7"/>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7"/>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4" name="Google Shape;34;p7"/>
          <p:cNvSpPr txBox="1"/>
          <p:nvPr>
            <p:ph type="title"/>
          </p:nvPr>
        </p:nvSpPr>
        <p:spPr>
          <a:xfrm>
            <a:off x="609600" y="1282318"/>
            <a:ext cx="10972800" cy="893646"/>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500000"/>
              </a:buClr>
              <a:buSzPts val="4400"/>
              <a:buFont typeface="Oswald Medium"/>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pic>
        <p:nvPicPr>
          <p:cNvPr descr="PSCwall.psd" id="36" name="Google Shape;36;p8"/>
          <p:cNvPicPr preferRelativeResize="0"/>
          <p:nvPr/>
        </p:nvPicPr>
        <p:blipFill rotWithShape="1">
          <a:blip r:embed="rId2">
            <a:alphaModFix/>
          </a:blip>
          <a:srcRect b="0" l="0" r="0" t="0"/>
          <a:stretch/>
        </p:blipFill>
        <p:spPr>
          <a:xfrm>
            <a:off x="259938" y="208038"/>
            <a:ext cx="11672125" cy="6441925"/>
          </a:xfrm>
          <a:prstGeom prst="rect">
            <a:avLst/>
          </a:prstGeom>
          <a:noFill/>
          <a:ln>
            <a:noFill/>
          </a:ln>
        </p:spPr>
      </p:pic>
      <p:sp>
        <p:nvSpPr>
          <p:cNvPr id="37" name="Google Shape;37;p8"/>
          <p:cNvSpPr/>
          <p:nvPr/>
        </p:nvSpPr>
        <p:spPr>
          <a:xfrm>
            <a:off x="1060470" y="2093434"/>
            <a:ext cx="10071060" cy="2671132"/>
          </a:xfrm>
          <a:prstGeom prst="rect">
            <a:avLst/>
          </a:prstGeom>
          <a:solidFill>
            <a:schemeClr val="lt1"/>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8" name="Google Shape;38;p8"/>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8"/>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8"/>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1" name="Google Shape;41;p8"/>
          <p:cNvSpPr txBox="1"/>
          <p:nvPr>
            <p:ph type="title"/>
          </p:nvPr>
        </p:nvSpPr>
        <p:spPr>
          <a:xfrm>
            <a:off x="1499616" y="2857500"/>
            <a:ext cx="9192768"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500000"/>
              </a:buClr>
              <a:buSzPts val="3400"/>
              <a:buFont typeface="Oswald Medium"/>
              <a:buNone/>
              <a:defRPr b="0" i="0" sz="3400">
                <a:solidFill>
                  <a:srgbClr val="500000"/>
                </a:solidFill>
                <a:latin typeface="Oswald Medium"/>
                <a:ea typeface="Oswald Medium"/>
                <a:cs typeface="Oswald Medium"/>
                <a:sym typeface="Oswald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42" name="Google Shape;42;p8"/>
          <p:cNvPicPr preferRelativeResize="0"/>
          <p:nvPr/>
        </p:nvPicPr>
        <p:blipFill rotWithShape="1">
          <a:blip r:embed="rId3">
            <a:alphaModFix/>
          </a:blip>
          <a:srcRect b="0" l="0" r="0" t="0"/>
          <a:stretch/>
        </p:blipFill>
        <p:spPr>
          <a:xfrm flipH="1" rot="-5400000">
            <a:off x="-2967296" y="3299573"/>
            <a:ext cx="6463510" cy="258854"/>
          </a:xfrm>
          <a:prstGeom prst="rect">
            <a:avLst/>
          </a:prstGeom>
          <a:noFill/>
          <a:ln>
            <a:noFill/>
          </a:ln>
        </p:spPr>
      </p:pic>
      <p:pic>
        <p:nvPicPr>
          <p:cNvPr id="43" name="Google Shape;43;p8"/>
          <p:cNvPicPr preferRelativeResize="0"/>
          <p:nvPr/>
        </p:nvPicPr>
        <p:blipFill rotWithShape="1">
          <a:blip r:embed="rId3">
            <a:alphaModFix/>
          </a:blip>
          <a:srcRect b="0" l="0" r="0" t="0"/>
          <a:stretch/>
        </p:blipFill>
        <p:spPr>
          <a:xfrm flipH="1" rot="-5400000">
            <a:off x="8695786" y="3289723"/>
            <a:ext cx="6463510" cy="258854"/>
          </a:xfrm>
          <a:prstGeom prst="rect">
            <a:avLst/>
          </a:prstGeom>
          <a:noFill/>
          <a:ln>
            <a:noFill/>
          </a:ln>
        </p:spPr>
      </p:pic>
      <p:pic>
        <p:nvPicPr>
          <p:cNvPr id="44" name="Google Shape;44;p8"/>
          <p:cNvPicPr preferRelativeResize="0"/>
          <p:nvPr/>
        </p:nvPicPr>
        <p:blipFill rotWithShape="1">
          <a:blip r:embed="rId4">
            <a:alphaModFix/>
          </a:blip>
          <a:srcRect b="0" l="0" r="0" t="0"/>
          <a:stretch/>
        </p:blipFill>
        <p:spPr>
          <a:xfrm>
            <a:off x="5641830" y="1661939"/>
            <a:ext cx="908339" cy="9187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5" name="Shape 45"/>
        <p:cNvGrpSpPr/>
        <p:nvPr/>
      </p:nvGrpSpPr>
      <p:grpSpPr>
        <a:xfrm>
          <a:off x="0" y="0"/>
          <a:ext cx="0" cy="0"/>
          <a:chOff x="0" y="0"/>
          <a:chExt cx="0" cy="0"/>
        </a:xfrm>
      </p:grpSpPr>
      <p:sp>
        <p:nvSpPr>
          <p:cNvPr id="46" name="Google Shape;46;p9"/>
          <p:cNvSpPr txBox="1"/>
          <p:nvPr>
            <p:ph type="title"/>
          </p:nvPr>
        </p:nvSpPr>
        <p:spPr>
          <a:xfrm>
            <a:off x="609601" y="245097"/>
            <a:ext cx="7416800" cy="92382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1"/>
              </a:buClr>
              <a:buSzPts val="2800"/>
              <a:buFont typeface="Oswald Medium"/>
              <a:buNone/>
              <a:defRPr b="0" i="0" sz="2800">
                <a:solidFill>
                  <a:schemeClr val="lt1"/>
                </a:solidFill>
                <a:latin typeface="Oswald Medium"/>
                <a:ea typeface="Oswald Medium"/>
                <a:cs typeface="Oswald Medium"/>
                <a:sym typeface="Oswald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9"/>
          <p:cNvSpPr txBox="1"/>
          <p:nvPr>
            <p:ph idx="1" type="body"/>
          </p:nvPr>
        </p:nvSpPr>
        <p:spPr>
          <a:xfrm>
            <a:off x="609600" y="1478844"/>
            <a:ext cx="10972799" cy="4647321"/>
          </a:xfrm>
          <a:prstGeom prst="rect">
            <a:avLst/>
          </a:prstGeom>
          <a:noFill/>
          <a:ln>
            <a:noFill/>
          </a:ln>
        </p:spPr>
        <p:txBody>
          <a:bodyPr anchorCtr="0" anchor="t" bIns="45700" lIns="91425" spcFirstLastPara="1" rIns="91425" wrap="square" tIns="45700">
            <a:normAutofit/>
          </a:bodyPr>
          <a:lstStyle>
            <a:lvl1pPr indent="-228600" lvl="0" marL="457200" algn="l">
              <a:spcBef>
                <a:spcPts val="640"/>
              </a:spcBef>
              <a:spcAft>
                <a:spcPts val="0"/>
              </a:spcAft>
              <a:buClr>
                <a:srgbClr val="500000"/>
              </a:buClr>
              <a:buSzPts val="3200"/>
              <a:buNone/>
              <a:defRPr>
                <a:solidFill>
                  <a:srgbClr val="500000"/>
                </a:solidFill>
                <a:latin typeface="Open Sans"/>
                <a:ea typeface="Open Sans"/>
                <a:cs typeface="Open Sans"/>
                <a:sym typeface="Open Sans"/>
              </a:defRPr>
            </a:lvl1pPr>
            <a:lvl2pPr indent="-228600" lvl="1" marL="914400" algn="l">
              <a:spcBef>
                <a:spcPts val="560"/>
              </a:spcBef>
              <a:spcAft>
                <a:spcPts val="0"/>
              </a:spcAft>
              <a:buClr>
                <a:srgbClr val="500000"/>
              </a:buClr>
              <a:buSzPts val="2800"/>
              <a:buNone/>
              <a:defRPr>
                <a:solidFill>
                  <a:srgbClr val="500000"/>
                </a:solidFill>
                <a:latin typeface="Open Sans"/>
                <a:ea typeface="Open Sans"/>
                <a:cs typeface="Open Sans"/>
                <a:sym typeface="Open Sans"/>
              </a:defRPr>
            </a:lvl2pPr>
            <a:lvl3pPr indent="-228600" lvl="2" marL="1371600" algn="l">
              <a:spcBef>
                <a:spcPts val="480"/>
              </a:spcBef>
              <a:spcAft>
                <a:spcPts val="0"/>
              </a:spcAft>
              <a:buClr>
                <a:srgbClr val="500000"/>
              </a:buClr>
              <a:buSzPts val="2400"/>
              <a:buNone/>
              <a:defRPr>
                <a:solidFill>
                  <a:srgbClr val="500000"/>
                </a:solidFill>
                <a:latin typeface="Open Sans"/>
                <a:ea typeface="Open Sans"/>
                <a:cs typeface="Open Sans"/>
                <a:sym typeface="Open Sans"/>
              </a:defRPr>
            </a:lvl3pPr>
            <a:lvl4pPr indent="-228600" lvl="3" marL="1828800" algn="l">
              <a:spcBef>
                <a:spcPts val="400"/>
              </a:spcBef>
              <a:spcAft>
                <a:spcPts val="0"/>
              </a:spcAft>
              <a:buClr>
                <a:srgbClr val="500000"/>
              </a:buClr>
              <a:buSzPts val="2000"/>
              <a:buNone/>
              <a:defRPr>
                <a:solidFill>
                  <a:srgbClr val="500000"/>
                </a:solidFill>
                <a:latin typeface="Open Sans"/>
                <a:ea typeface="Open Sans"/>
                <a:cs typeface="Open Sans"/>
                <a:sym typeface="Open Sans"/>
              </a:defRPr>
            </a:lvl4pPr>
            <a:lvl5pPr indent="-228600" lvl="4" marL="2286000" algn="l">
              <a:spcBef>
                <a:spcPts val="400"/>
              </a:spcBef>
              <a:spcAft>
                <a:spcPts val="0"/>
              </a:spcAft>
              <a:buClr>
                <a:srgbClr val="500000"/>
              </a:buClr>
              <a:buSzPts val="2000"/>
              <a:buNone/>
              <a:defRPr>
                <a:solidFill>
                  <a:srgbClr val="500000"/>
                </a:solidFill>
                <a:latin typeface="Open Sans"/>
                <a:ea typeface="Open Sans"/>
                <a:cs typeface="Open Sans"/>
                <a:sym typeface="Open Sans"/>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8" name="Google Shape;48;p9"/>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9"/>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9"/>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1" name="Shape 51"/>
        <p:cNvGrpSpPr/>
        <p:nvPr/>
      </p:nvGrpSpPr>
      <p:grpSpPr>
        <a:xfrm>
          <a:off x="0" y="0"/>
          <a:ext cx="0" cy="0"/>
          <a:chOff x="0" y="0"/>
          <a:chExt cx="0" cy="0"/>
        </a:xfrm>
      </p:grpSpPr>
      <p:sp>
        <p:nvSpPr>
          <p:cNvPr id="52" name="Google Shape;52;p10"/>
          <p:cNvSpPr txBox="1"/>
          <p:nvPr>
            <p:ph type="title"/>
          </p:nvPr>
        </p:nvSpPr>
        <p:spPr>
          <a:xfrm>
            <a:off x="963084" y="4406902"/>
            <a:ext cx="103632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500000"/>
              </a:buClr>
              <a:buSzPts val="3600"/>
              <a:buFont typeface="Oswald Medium"/>
              <a:buNone/>
              <a:defRPr b="0" i="0" sz="3600" cap="none">
                <a:latin typeface="Oswald Medium"/>
                <a:ea typeface="Oswald Medium"/>
                <a:cs typeface="Oswald Medium"/>
                <a:sym typeface="Oswald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10"/>
          <p:cNvSpPr txBox="1"/>
          <p:nvPr>
            <p:ph idx="1" type="body"/>
          </p:nvPr>
        </p:nvSpPr>
        <p:spPr>
          <a:xfrm>
            <a:off x="963084" y="2906713"/>
            <a:ext cx="103632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320"/>
              </a:spcBef>
              <a:spcAft>
                <a:spcPts val="0"/>
              </a:spcAft>
              <a:buClr>
                <a:srgbClr val="3E3E3E"/>
              </a:buClr>
              <a:buSzPts val="1600"/>
              <a:buNone/>
              <a:defRPr b="1" i="0" sz="1600">
                <a:solidFill>
                  <a:srgbClr val="3E3E3E"/>
                </a:solidFill>
                <a:latin typeface="Open Sans ExtraBold"/>
                <a:ea typeface="Open Sans ExtraBold"/>
                <a:cs typeface="Open Sans ExtraBold"/>
                <a:sym typeface="Open Sans ExtraBold"/>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54" name="Google Shape;54;p10"/>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0"/>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0"/>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7" name="Shape 57"/>
        <p:cNvGrpSpPr/>
        <p:nvPr/>
      </p:nvGrpSpPr>
      <p:grpSpPr>
        <a:xfrm>
          <a:off x="0" y="0"/>
          <a:ext cx="0" cy="0"/>
          <a:chOff x="0" y="0"/>
          <a:chExt cx="0" cy="0"/>
        </a:xfrm>
      </p:grpSpPr>
      <p:sp>
        <p:nvSpPr>
          <p:cNvPr id="58" name="Google Shape;58;p11"/>
          <p:cNvSpPr txBox="1"/>
          <p:nvPr>
            <p:ph type="title"/>
          </p:nvPr>
        </p:nvSpPr>
        <p:spPr>
          <a:xfrm>
            <a:off x="609600" y="1282318"/>
            <a:ext cx="10972800" cy="893646"/>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500000"/>
              </a:buClr>
              <a:buSzPts val="4400"/>
              <a:buFont typeface="Oswald Medium"/>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11"/>
          <p:cNvSpPr txBox="1"/>
          <p:nvPr>
            <p:ph idx="1" type="body"/>
          </p:nvPr>
        </p:nvSpPr>
        <p:spPr>
          <a:xfrm>
            <a:off x="609600" y="2307098"/>
            <a:ext cx="5386917" cy="639763"/>
          </a:xfrm>
          <a:prstGeom prst="rect">
            <a:avLst/>
          </a:prstGeom>
          <a:noFill/>
          <a:ln>
            <a:noFill/>
          </a:ln>
        </p:spPr>
        <p:txBody>
          <a:bodyPr anchorCtr="0" anchor="b" bIns="45700" lIns="91425" spcFirstLastPara="1" rIns="91425" wrap="square" tIns="45700">
            <a:normAutofit/>
          </a:bodyPr>
          <a:lstStyle>
            <a:lvl1pPr indent="-228600" lvl="0" marL="457200" algn="l">
              <a:spcBef>
                <a:spcPts val="440"/>
              </a:spcBef>
              <a:spcAft>
                <a:spcPts val="0"/>
              </a:spcAft>
              <a:buClr>
                <a:srgbClr val="500000"/>
              </a:buClr>
              <a:buSzPts val="2200"/>
              <a:buNone/>
              <a:defRPr b="1" i="0" sz="2200">
                <a:latin typeface="Open Sans ExtraBold"/>
                <a:ea typeface="Open Sans ExtraBold"/>
                <a:cs typeface="Open Sans ExtraBold"/>
                <a:sym typeface="Open Sans ExtraBold"/>
              </a:defRPr>
            </a:lvl1pPr>
            <a:lvl2pPr indent="-228600" lvl="1" marL="914400" algn="l">
              <a:spcBef>
                <a:spcPts val="400"/>
              </a:spcBef>
              <a:spcAft>
                <a:spcPts val="0"/>
              </a:spcAft>
              <a:buClr>
                <a:srgbClr val="500000"/>
              </a:buClr>
              <a:buSzPts val="2000"/>
              <a:buNone/>
              <a:defRPr b="1" sz="2000"/>
            </a:lvl2pPr>
            <a:lvl3pPr indent="-228600" lvl="2" marL="1371600" algn="l">
              <a:spcBef>
                <a:spcPts val="360"/>
              </a:spcBef>
              <a:spcAft>
                <a:spcPts val="0"/>
              </a:spcAft>
              <a:buClr>
                <a:srgbClr val="500000"/>
              </a:buClr>
              <a:buSzPts val="1800"/>
              <a:buNone/>
              <a:defRPr b="1" sz="1800"/>
            </a:lvl3pPr>
            <a:lvl4pPr indent="-228600" lvl="3" marL="1828800" algn="l">
              <a:spcBef>
                <a:spcPts val="320"/>
              </a:spcBef>
              <a:spcAft>
                <a:spcPts val="0"/>
              </a:spcAft>
              <a:buClr>
                <a:srgbClr val="500000"/>
              </a:buClr>
              <a:buSzPts val="1600"/>
              <a:buNone/>
              <a:defRPr b="1" sz="1600"/>
            </a:lvl4pPr>
            <a:lvl5pPr indent="-228600" lvl="4" marL="2286000" algn="l">
              <a:spcBef>
                <a:spcPts val="320"/>
              </a:spcBef>
              <a:spcAft>
                <a:spcPts val="0"/>
              </a:spcAft>
              <a:buClr>
                <a:srgbClr val="500000"/>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0" name="Google Shape;60;p11"/>
          <p:cNvSpPr txBox="1"/>
          <p:nvPr>
            <p:ph idx="2" type="body"/>
          </p:nvPr>
        </p:nvSpPr>
        <p:spPr>
          <a:xfrm>
            <a:off x="609600" y="2946861"/>
            <a:ext cx="5386917" cy="3179303"/>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rgbClr val="500000"/>
              </a:buClr>
              <a:buSzPts val="2400"/>
              <a:buChar char="•"/>
              <a:defRPr sz="2400"/>
            </a:lvl1pPr>
            <a:lvl2pPr indent="-355600" lvl="1" marL="914400" algn="l">
              <a:spcBef>
                <a:spcPts val="400"/>
              </a:spcBef>
              <a:spcAft>
                <a:spcPts val="0"/>
              </a:spcAft>
              <a:buClr>
                <a:srgbClr val="500000"/>
              </a:buClr>
              <a:buSzPts val="2000"/>
              <a:buChar char="–"/>
              <a:defRPr sz="2000"/>
            </a:lvl2pPr>
            <a:lvl3pPr indent="-342900" lvl="2" marL="1371600" algn="l">
              <a:spcBef>
                <a:spcPts val="360"/>
              </a:spcBef>
              <a:spcAft>
                <a:spcPts val="0"/>
              </a:spcAft>
              <a:buClr>
                <a:srgbClr val="500000"/>
              </a:buClr>
              <a:buSzPts val="1800"/>
              <a:buChar char="•"/>
              <a:defRPr sz="1800"/>
            </a:lvl3pPr>
            <a:lvl4pPr indent="-330200" lvl="3" marL="1828800" algn="l">
              <a:spcBef>
                <a:spcPts val="320"/>
              </a:spcBef>
              <a:spcAft>
                <a:spcPts val="0"/>
              </a:spcAft>
              <a:buClr>
                <a:srgbClr val="500000"/>
              </a:buClr>
              <a:buSzPts val="1600"/>
              <a:buChar char="–"/>
              <a:defRPr sz="1600"/>
            </a:lvl4pPr>
            <a:lvl5pPr indent="-330200" lvl="4" marL="2286000" algn="l">
              <a:spcBef>
                <a:spcPts val="320"/>
              </a:spcBef>
              <a:spcAft>
                <a:spcPts val="0"/>
              </a:spcAft>
              <a:buClr>
                <a:srgbClr val="500000"/>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1" name="Google Shape;61;p11"/>
          <p:cNvSpPr txBox="1"/>
          <p:nvPr>
            <p:ph idx="3" type="body"/>
          </p:nvPr>
        </p:nvSpPr>
        <p:spPr>
          <a:xfrm>
            <a:off x="6193378" y="2307098"/>
            <a:ext cx="5389033" cy="639763"/>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500000"/>
              </a:buClr>
              <a:buSzPts val="2000"/>
              <a:buNone/>
              <a:defRPr b="1" i="0" sz="2000">
                <a:latin typeface="Open Sans ExtraBold"/>
                <a:ea typeface="Open Sans ExtraBold"/>
                <a:cs typeface="Open Sans ExtraBold"/>
                <a:sym typeface="Open Sans ExtraBold"/>
              </a:defRPr>
            </a:lvl1pPr>
            <a:lvl2pPr indent="-228600" lvl="1" marL="914400" algn="l">
              <a:spcBef>
                <a:spcPts val="400"/>
              </a:spcBef>
              <a:spcAft>
                <a:spcPts val="0"/>
              </a:spcAft>
              <a:buClr>
                <a:srgbClr val="500000"/>
              </a:buClr>
              <a:buSzPts val="2000"/>
              <a:buNone/>
              <a:defRPr b="1" sz="2000"/>
            </a:lvl2pPr>
            <a:lvl3pPr indent="-228600" lvl="2" marL="1371600" algn="l">
              <a:spcBef>
                <a:spcPts val="360"/>
              </a:spcBef>
              <a:spcAft>
                <a:spcPts val="0"/>
              </a:spcAft>
              <a:buClr>
                <a:srgbClr val="500000"/>
              </a:buClr>
              <a:buSzPts val="1800"/>
              <a:buNone/>
              <a:defRPr b="1" sz="1800"/>
            </a:lvl3pPr>
            <a:lvl4pPr indent="-228600" lvl="3" marL="1828800" algn="l">
              <a:spcBef>
                <a:spcPts val="320"/>
              </a:spcBef>
              <a:spcAft>
                <a:spcPts val="0"/>
              </a:spcAft>
              <a:buClr>
                <a:srgbClr val="500000"/>
              </a:buClr>
              <a:buSzPts val="1600"/>
              <a:buNone/>
              <a:defRPr b="1" sz="1600"/>
            </a:lvl4pPr>
            <a:lvl5pPr indent="-228600" lvl="4" marL="2286000" algn="l">
              <a:spcBef>
                <a:spcPts val="320"/>
              </a:spcBef>
              <a:spcAft>
                <a:spcPts val="0"/>
              </a:spcAft>
              <a:buClr>
                <a:srgbClr val="500000"/>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2" name="Google Shape;62;p11"/>
          <p:cNvSpPr txBox="1"/>
          <p:nvPr>
            <p:ph idx="4" type="body"/>
          </p:nvPr>
        </p:nvSpPr>
        <p:spPr>
          <a:xfrm>
            <a:off x="6193378" y="2946861"/>
            <a:ext cx="5389033" cy="3179303"/>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rgbClr val="500000"/>
              </a:buClr>
              <a:buSzPts val="2400"/>
              <a:buChar char="•"/>
              <a:defRPr sz="2400"/>
            </a:lvl1pPr>
            <a:lvl2pPr indent="-355600" lvl="1" marL="914400" algn="l">
              <a:spcBef>
                <a:spcPts val="400"/>
              </a:spcBef>
              <a:spcAft>
                <a:spcPts val="0"/>
              </a:spcAft>
              <a:buClr>
                <a:srgbClr val="500000"/>
              </a:buClr>
              <a:buSzPts val="2000"/>
              <a:buChar char="–"/>
              <a:defRPr sz="2000"/>
            </a:lvl2pPr>
            <a:lvl3pPr indent="-342900" lvl="2" marL="1371600" algn="l">
              <a:spcBef>
                <a:spcPts val="360"/>
              </a:spcBef>
              <a:spcAft>
                <a:spcPts val="0"/>
              </a:spcAft>
              <a:buClr>
                <a:srgbClr val="500000"/>
              </a:buClr>
              <a:buSzPts val="1800"/>
              <a:buChar char="•"/>
              <a:defRPr sz="1800"/>
            </a:lvl3pPr>
            <a:lvl4pPr indent="-330200" lvl="3" marL="1828800" algn="l">
              <a:spcBef>
                <a:spcPts val="320"/>
              </a:spcBef>
              <a:spcAft>
                <a:spcPts val="0"/>
              </a:spcAft>
              <a:buClr>
                <a:srgbClr val="500000"/>
              </a:buClr>
              <a:buSzPts val="1600"/>
              <a:buChar char="–"/>
              <a:defRPr sz="1600"/>
            </a:lvl4pPr>
            <a:lvl5pPr indent="-330200" lvl="4" marL="2286000" algn="l">
              <a:spcBef>
                <a:spcPts val="320"/>
              </a:spcBef>
              <a:spcAft>
                <a:spcPts val="0"/>
              </a:spcAft>
              <a:buClr>
                <a:srgbClr val="500000"/>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3" name="Google Shape;63;p11"/>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1"/>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1"/>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2"/>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2"/>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0" name="Shape 70"/>
        <p:cNvGrpSpPr/>
        <p:nvPr/>
      </p:nvGrpSpPr>
      <p:grpSpPr>
        <a:xfrm>
          <a:off x="0" y="0"/>
          <a:ext cx="0" cy="0"/>
          <a:chOff x="0" y="0"/>
          <a:chExt cx="0" cy="0"/>
        </a:xfrm>
      </p:grpSpPr>
      <p:sp>
        <p:nvSpPr>
          <p:cNvPr id="71" name="Google Shape;71;p13"/>
          <p:cNvSpPr txBox="1"/>
          <p:nvPr>
            <p:ph type="title"/>
          </p:nvPr>
        </p:nvSpPr>
        <p:spPr>
          <a:xfrm>
            <a:off x="609611" y="1285460"/>
            <a:ext cx="4011084" cy="1047665"/>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500000"/>
              </a:buClr>
              <a:buSzPts val="2000"/>
              <a:buFont typeface="Oswald Medium"/>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3"/>
          <p:cNvSpPr txBox="1"/>
          <p:nvPr>
            <p:ph idx="1" type="body"/>
          </p:nvPr>
        </p:nvSpPr>
        <p:spPr>
          <a:xfrm>
            <a:off x="4766733" y="1285461"/>
            <a:ext cx="6815667" cy="4840709"/>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rgbClr val="500000"/>
              </a:buClr>
              <a:buSzPts val="3200"/>
              <a:buChar char="•"/>
              <a:defRPr sz="3200"/>
            </a:lvl1pPr>
            <a:lvl2pPr indent="-406400" lvl="1" marL="914400" algn="l">
              <a:spcBef>
                <a:spcPts val="560"/>
              </a:spcBef>
              <a:spcAft>
                <a:spcPts val="0"/>
              </a:spcAft>
              <a:buClr>
                <a:srgbClr val="500000"/>
              </a:buClr>
              <a:buSzPts val="2800"/>
              <a:buChar char="–"/>
              <a:defRPr sz="2800"/>
            </a:lvl2pPr>
            <a:lvl3pPr indent="-381000" lvl="2" marL="1371600" algn="l">
              <a:spcBef>
                <a:spcPts val="480"/>
              </a:spcBef>
              <a:spcAft>
                <a:spcPts val="0"/>
              </a:spcAft>
              <a:buClr>
                <a:srgbClr val="500000"/>
              </a:buClr>
              <a:buSzPts val="2400"/>
              <a:buChar char="•"/>
              <a:defRPr sz="2400"/>
            </a:lvl3pPr>
            <a:lvl4pPr indent="-355600" lvl="3" marL="1828800" algn="l">
              <a:spcBef>
                <a:spcPts val="400"/>
              </a:spcBef>
              <a:spcAft>
                <a:spcPts val="0"/>
              </a:spcAft>
              <a:buClr>
                <a:srgbClr val="500000"/>
              </a:buClr>
              <a:buSzPts val="2000"/>
              <a:buChar char="–"/>
              <a:defRPr sz="2000"/>
            </a:lvl4pPr>
            <a:lvl5pPr indent="-355600" lvl="4" marL="2286000" algn="l">
              <a:spcBef>
                <a:spcPts val="400"/>
              </a:spcBef>
              <a:spcAft>
                <a:spcPts val="0"/>
              </a:spcAft>
              <a:buClr>
                <a:srgbClr val="500000"/>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73" name="Google Shape;73;p13"/>
          <p:cNvSpPr txBox="1"/>
          <p:nvPr>
            <p:ph idx="2" type="body"/>
          </p:nvPr>
        </p:nvSpPr>
        <p:spPr>
          <a:xfrm>
            <a:off x="609611" y="2492188"/>
            <a:ext cx="4011084" cy="363398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rgbClr val="500000"/>
              </a:buClr>
              <a:buSzPts val="1400"/>
              <a:buNone/>
              <a:defRPr sz="1400"/>
            </a:lvl1pPr>
            <a:lvl2pPr indent="-228600" lvl="1" marL="914400" algn="l">
              <a:spcBef>
                <a:spcPts val="240"/>
              </a:spcBef>
              <a:spcAft>
                <a:spcPts val="0"/>
              </a:spcAft>
              <a:buClr>
                <a:srgbClr val="500000"/>
              </a:buClr>
              <a:buSzPts val="1200"/>
              <a:buNone/>
              <a:defRPr sz="1200"/>
            </a:lvl2pPr>
            <a:lvl3pPr indent="-228600" lvl="2" marL="1371600" algn="l">
              <a:spcBef>
                <a:spcPts val="200"/>
              </a:spcBef>
              <a:spcAft>
                <a:spcPts val="0"/>
              </a:spcAft>
              <a:buClr>
                <a:srgbClr val="500000"/>
              </a:buClr>
              <a:buSzPts val="1000"/>
              <a:buNone/>
              <a:defRPr sz="1000"/>
            </a:lvl3pPr>
            <a:lvl4pPr indent="-228600" lvl="3" marL="1828800" algn="l">
              <a:spcBef>
                <a:spcPts val="180"/>
              </a:spcBef>
              <a:spcAft>
                <a:spcPts val="0"/>
              </a:spcAft>
              <a:buClr>
                <a:srgbClr val="500000"/>
              </a:buClr>
              <a:buSzPts val="900"/>
              <a:buNone/>
              <a:defRPr sz="900"/>
            </a:lvl4pPr>
            <a:lvl5pPr indent="-228600" lvl="4" marL="2286000" algn="l">
              <a:spcBef>
                <a:spcPts val="180"/>
              </a:spcBef>
              <a:spcAft>
                <a:spcPts val="0"/>
              </a:spcAft>
              <a:buClr>
                <a:srgbClr val="500000"/>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74" name="Google Shape;74;p13"/>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3"/>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3"/>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7" name="Shape 77"/>
        <p:cNvGrpSpPr/>
        <p:nvPr/>
      </p:nvGrpSpPr>
      <p:grpSpPr>
        <a:xfrm>
          <a:off x="0" y="0"/>
          <a:ext cx="0" cy="0"/>
          <a:chOff x="0" y="0"/>
          <a:chExt cx="0" cy="0"/>
        </a:xfrm>
      </p:grpSpPr>
      <p:sp>
        <p:nvSpPr>
          <p:cNvPr id="78" name="Google Shape;78;p14"/>
          <p:cNvSpPr txBox="1"/>
          <p:nvPr>
            <p:ph type="title"/>
          </p:nvPr>
        </p:nvSpPr>
        <p:spPr>
          <a:xfrm>
            <a:off x="2389717" y="4800602"/>
            <a:ext cx="7315200" cy="566739"/>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500000"/>
              </a:buClr>
              <a:buSzPts val="2000"/>
              <a:buFont typeface="Oswald Medium"/>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14"/>
          <p:cNvSpPr/>
          <p:nvPr>
            <p:ph idx="2" type="pic"/>
          </p:nvPr>
        </p:nvSpPr>
        <p:spPr>
          <a:xfrm>
            <a:off x="2389717" y="1311965"/>
            <a:ext cx="7315200" cy="3415610"/>
          </a:xfrm>
          <a:prstGeom prst="rect">
            <a:avLst/>
          </a:prstGeom>
          <a:noFill/>
          <a:ln>
            <a:noFill/>
          </a:ln>
        </p:spPr>
      </p:sp>
      <p:sp>
        <p:nvSpPr>
          <p:cNvPr id="80" name="Google Shape;80;p14"/>
          <p:cNvSpPr txBox="1"/>
          <p:nvPr>
            <p:ph idx="1" type="body"/>
          </p:nvPr>
        </p:nvSpPr>
        <p:spPr>
          <a:xfrm>
            <a:off x="2389717" y="5367343"/>
            <a:ext cx="7315200" cy="8048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rgbClr val="500000"/>
              </a:buClr>
              <a:buSzPts val="1400"/>
              <a:buNone/>
              <a:defRPr sz="1400"/>
            </a:lvl1pPr>
            <a:lvl2pPr indent="-228600" lvl="1" marL="914400" algn="l">
              <a:spcBef>
                <a:spcPts val="240"/>
              </a:spcBef>
              <a:spcAft>
                <a:spcPts val="0"/>
              </a:spcAft>
              <a:buClr>
                <a:srgbClr val="500000"/>
              </a:buClr>
              <a:buSzPts val="1200"/>
              <a:buNone/>
              <a:defRPr sz="1200"/>
            </a:lvl2pPr>
            <a:lvl3pPr indent="-228600" lvl="2" marL="1371600" algn="l">
              <a:spcBef>
                <a:spcPts val="200"/>
              </a:spcBef>
              <a:spcAft>
                <a:spcPts val="0"/>
              </a:spcAft>
              <a:buClr>
                <a:srgbClr val="500000"/>
              </a:buClr>
              <a:buSzPts val="1000"/>
              <a:buNone/>
              <a:defRPr sz="1000"/>
            </a:lvl3pPr>
            <a:lvl4pPr indent="-228600" lvl="3" marL="1828800" algn="l">
              <a:spcBef>
                <a:spcPts val="180"/>
              </a:spcBef>
              <a:spcAft>
                <a:spcPts val="0"/>
              </a:spcAft>
              <a:buClr>
                <a:srgbClr val="500000"/>
              </a:buClr>
              <a:buSzPts val="900"/>
              <a:buNone/>
              <a:defRPr sz="900"/>
            </a:lvl4pPr>
            <a:lvl5pPr indent="-228600" lvl="4" marL="2286000" algn="l">
              <a:spcBef>
                <a:spcPts val="180"/>
              </a:spcBef>
              <a:spcAft>
                <a:spcPts val="0"/>
              </a:spcAft>
              <a:buClr>
                <a:srgbClr val="500000"/>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81" name="Google Shape;81;p14"/>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4"/>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4"/>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5.png"/><Relationship Id="rId3" Type="http://schemas.openxmlformats.org/officeDocument/2006/relationships/slideLayout" Target="../slideLayouts/slideLayout1.xml"/><Relationship Id="rId4" Type="http://schemas.openxmlformats.org/officeDocument/2006/relationships/slideLayout" Target="../slideLayouts/slideLayout2.xml"/><Relationship Id="rId11" Type="http://schemas.openxmlformats.org/officeDocument/2006/relationships/slideLayout" Target="../slideLayouts/slideLayout9.xml"/><Relationship Id="rId10" Type="http://schemas.openxmlformats.org/officeDocument/2006/relationships/slideLayout" Target="../slideLayouts/slideLayout8.xml"/><Relationship Id="rId12" Type="http://schemas.openxmlformats.org/officeDocument/2006/relationships/theme" Target="../theme/theme1.xml"/><Relationship Id="rId9" Type="http://schemas.openxmlformats.org/officeDocument/2006/relationships/slideLayout" Target="../slideLayouts/slideLayout7.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
          <p:cNvSpPr txBox="1"/>
          <p:nvPr>
            <p:ph type="title"/>
          </p:nvPr>
        </p:nvSpPr>
        <p:spPr>
          <a:xfrm>
            <a:off x="609600" y="1196535"/>
            <a:ext cx="10972800" cy="926298"/>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rgbClr val="500000"/>
              </a:buClr>
              <a:buSzPts val="4400"/>
              <a:buFont typeface="Oswald Medium"/>
              <a:buNone/>
              <a:defRPr b="0" i="0" sz="4400" u="none" cap="none" strike="noStrike">
                <a:solidFill>
                  <a:srgbClr val="500000"/>
                </a:solidFill>
                <a:latin typeface="Oswald Medium"/>
                <a:ea typeface="Oswald Medium"/>
                <a:cs typeface="Oswald Medium"/>
                <a:sym typeface="Oswald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5"/>
          <p:cNvSpPr txBox="1"/>
          <p:nvPr>
            <p:ph idx="1" type="body"/>
          </p:nvPr>
        </p:nvSpPr>
        <p:spPr>
          <a:xfrm>
            <a:off x="609600" y="2253006"/>
            <a:ext cx="10972800" cy="3873158"/>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rgbClr val="500000"/>
              </a:buClr>
              <a:buSzPts val="3200"/>
              <a:buFont typeface="Arial"/>
              <a:buChar char="•"/>
              <a:defRPr b="0" i="0" sz="3200" u="none" cap="none" strike="noStrike">
                <a:solidFill>
                  <a:srgbClr val="500000"/>
                </a:solidFill>
                <a:latin typeface="Open Sans"/>
                <a:ea typeface="Open Sans"/>
                <a:cs typeface="Open Sans"/>
                <a:sym typeface="Open Sans"/>
              </a:defRPr>
            </a:lvl1pPr>
            <a:lvl2pPr indent="-406400" lvl="1" marL="914400" marR="0" rtl="0" algn="l">
              <a:spcBef>
                <a:spcPts val="560"/>
              </a:spcBef>
              <a:spcAft>
                <a:spcPts val="0"/>
              </a:spcAft>
              <a:buClr>
                <a:srgbClr val="500000"/>
              </a:buClr>
              <a:buSzPts val="2800"/>
              <a:buFont typeface="Arial"/>
              <a:buChar char="–"/>
              <a:defRPr b="0" i="0" sz="2800" u="none" cap="none" strike="noStrike">
                <a:solidFill>
                  <a:srgbClr val="500000"/>
                </a:solidFill>
                <a:latin typeface="Open Sans"/>
                <a:ea typeface="Open Sans"/>
                <a:cs typeface="Open Sans"/>
                <a:sym typeface="Open Sans"/>
              </a:defRPr>
            </a:lvl2pPr>
            <a:lvl3pPr indent="-381000" lvl="2" marL="1371600" marR="0" rtl="0" algn="l">
              <a:spcBef>
                <a:spcPts val="480"/>
              </a:spcBef>
              <a:spcAft>
                <a:spcPts val="0"/>
              </a:spcAft>
              <a:buClr>
                <a:srgbClr val="500000"/>
              </a:buClr>
              <a:buSzPts val="2400"/>
              <a:buFont typeface="Arial"/>
              <a:buChar char="•"/>
              <a:defRPr b="0" i="0" sz="2400" u="none" cap="none" strike="noStrike">
                <a:solidFill>
                  <a:srgbClr val="500000"/>
                </a:solidFill>
                <a:latin typeface="Open Sans"/>
                <a:ea typeface="Open Sans"/>
                <a:cs typeface="Open Sans"/>
                <a:sym typeface="Open Sans"/>
              </a:defRPr>
            </a:lvl3pPr>
            <a:lvl4pPr indent="-355600" lvl="3" marL="1828800" marR="0" rtl="0" algn="l">
              <a:spcBef>
                <a:spcPts val="400"/>
              </a:spcBef>
              <a:spcAft>
                <a:spcPts val="0"/>
              </a:spcAft>
              <a:buClr>
                <a:srgbClr val="500000"/>
              </a:buClr>
              <a:buSzPts val="2000"/>
              <a:buFont typeface="Arial"/>
              <a:buChar char="–"/>
              <a:defRPr b="0" i="0" sz="2000" u="none" cap="none" strike="noStrike">
                <a:solidFill>
                  <a:srgbClr val="500000"/>
                </a:solidFill>
                <a:latin typeface="Open Sans"/>
                <a:ea typeface="Open Sans"/>
                <a:cs typeface="Open Sans"/>
                <a:sym typeface="Open Sans"/>
              </a:defRPr>
            </a:lvl4pPr>
            <a:lvl5pPr indent="-355600" lvl="4" marL="2286000" marR="0" rtl="0" algn="l">
              <a:spcBef>
                <a:spcPts val="400"/>
              </a:spcBef>
              <a:spcAft>
                <a:spcPts val="0"/>
              </a:spcAft>
              <a:buClr>
                <a:srgbClr val="500000"/>
              </a:buClr>
              <a:buSzPts val="2000"/>
              <a:buFont typeface="Arial"/>
              <a:buChar char="»"/>
              <a:defRPr b="0" i="0" sz="2000" u="none" cap="none" strike="noStrike">
                <a:solidFill>
                  <a:srgbClr val="500000"/>
                </a:solidFill>
                <a:latin typeface="Open Sans"/>
                <a:ea typeface="Open Sans"/>
                <a:cs typeface="Open Sans"/>
                <a:sym typeface="Open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5"/>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1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5"/>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1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5"/>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100" u="none" cap="none" strike="noStrike">
                <a:solidFill>
                  <a:srgbClr val="888888"/>
                </a:solidFill>
                <a:latin typeface="Arial"/>
                <a:ea typeface="Arial"/>
                <a:cs typeface="Arial"/>
                <a:sym typeface="Arial"/>
              </a:defRPr>
            </a:lvl1pPr>
            <a:lvl2pPr indent="0" lvl="1" marL="0" marR="0" rtl="0" algn="r">
              <a:spcBef>
                <a:spcPts val="0"/>
              </a:spcBef>
              <a:buNone/>
              <a:defRPr b="0" i="0" sz="1100" u="none" cap="none" strike="noStrike">
                <a:solidFill>
                  <a:srgbClr val="888888"/>
                </a:solidFill>
                <a:latin typeface="Arial"/>
                <a:ea typeface="Arial"/>
                <a:cs typeface="Arial"/>
                <a:sym typeface="Arial"/>
              </a:defRPr>
            </a:lvl2pPr>
            <a:lvl3pPr indent="0" lvl="2" marL="0" marR="0" rtl="0" algn="r">
              <a:spcBef>
                <a:spcPts val="0"/>
              </a:spcBef>
              <a:buNone/>
              <a:defRPr b="0" i="0" sz="1100" u="none" cap="none" strike="noStrike">
                <a:solidFill>
                  <a:srgbClr val="888888"/>
                </a:solidFill>
                <a:latin typeface="Arial"/>
                <a:ea typeface="Arial"/>
                <a:cs typeface="Arial"/>
                <a:sym typeface="Arial"/>
              </a:defRPr>
            </a:lvl3pPr>
            <a:lvl4pPr indent="0" lvl="3" marL="0" marR="0" rtl="0" algn="r">
              <a:spcBef>
                <a:spcPts val="0"/>
              </a:spcBef>
              <a:buNone/>
              <a:defRPr b="0" i="0" sz="1100" u="none" cap="none" strike="noStrike">
                <a:solidFill>
                  <a:srgbClr val="888888"/>
                </a:solidFill>
                <a:latin typeface="Arial"/>
                <a:ea typeface="Arial"/>
                <a:cs typeface="Arial"/>
                <a:sym typeface="Arial"/>
              </a:defRPr>
            </a:lvl4pPr>
            <a:lvl5pPr indent="0" lvl="4" marL="0" marR="0" rtl="0" algn="r">
              <a:spcBef>
                <a:spcPts val="0"/>
              </a:spcBef>
              <a:buNone/>
              <a:defRPr b="0" i="0" sz="1100" u="none" cap="none" strike="noStrike">
                <a:solidFill>
                  <a:srgbClr val="888888"/>
                </a:solidFill>
                <a:latin typeface="Arial"/>
                <a:ea typeface="Arial"/>
                <a:cs typeface="Arial"/>
                <a:sym typeface="Arial"/>
              </a:defRPr>
            </a:lvl5pPr>
            <a:lvl6pPr indent="0" lvl="5" marL="0" marR="0" rtl="0" algn="r">
              <a:spcBef>
                <a:spcPts val="0"/>
              </a:spcBef>
              <a:buNone/>
              <a:defRPr b="0" i="0" sz="1100" u="none" cap="none" strike="noStrike">
                <a:solidFill>
                  <a:srgbClr val="888888"/>
                </a:solidFill>
                <a:latin typeface="Arial"/>
                <a:ea typeface="Arial"/>
                <a:cs typeface="Arial"/>
                <a:sym typeface="Arial"/>
              </a:defRPr>
            </a:lvl6pPr>
            <a:lvl7pPr indent="0" lvl="6" marL="0" marR="0" rtl="0" algn="r">
              <a:spcBef>
                <a:spcPts val="0"/>
              </a:spcBef>
              <a:buNone/>
              <a:defRPr b="0" i="0" sz="1100" u="none" cap="none" strike="noStrike">
                <a:solidFill>
                  <a:srgbClr val="888888"/>
                </a:solidFill>
                <a:latin typeface="Arial"/>
                <a:ea typeface="Arial"/>
                <a:cs typeface="Arial"/>
                <a:sym typeface="Arial"/>
              </a:defRPr>
            </a:lvl7pPr>
            <a:lvl8pPr indent="0" lvl="7" marL="0" marR="0" rtl="0" algn="r">
              <a:spcBef>
                <a:spcPts val="0"/>
              </a:spcBef>
              <a:buNone/>
              <a:defRPr b="0" i="0" sz="1100" u="none" cap="none" strike="noStrike">
                <a:solidFill>
                  <a:srgbClr val="888888"/>
                </a:solidFill>
                <a:latin typeface="Arial"/>
                <a:ea typeface="Arial"/>
                <a:cs typeface="Arial"/>
                <a:sym typeface="Arial"/>
              </a:defRPr>
            </a:lvl8pPr>
            <a:lvl9pPr indent="0" lvl="8" marL="0" marR="0" rtl="0" algn="r">
              <a:spcBef>
                <a:spcPts val="0"/>
              </a:spcBef>
              <a:buNone/>
              <a:defRPr b="0" i="0" sz="11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15" name="Google Shape;15;p5"/>
          <p:cNvPicPr preferRelativeResize="0"/>
          <p:nvPr/>
        </p:nvPicPr>
        <p:blipFill rotWithShape="1">
          <a:blip r:embed="rId1">
            <a:alphaModFix/>
          </a:blip>
          <a:srcRect b="0" l="0" r="0" t="0"/>
          <a:stretch/>
        </p:blipFill>
        <p:spPr>
          <a:xfrm>
            <a:off x="264459" y="213662"/>
            <a:ext cx="11663082" cy="926298"/>
          </a:xfrm>
          <a:prstGeom prst="rect">
            <a:avLst/>
          </a:prstGeom>
          <a:noFill/>
          <a:ln>
            <a:noFill/>
          </a:ln>
        </p:spPr>
      </p:pic>
      <p:pic>
        <p:nvPicPr>
          <p:cNvPr id="16" name="Google Shape;16;p5"/>
          <p:cNvPicPr preferRelativeResize="0"/>
          <p:nvPr/>
        </p:nvPicPr>
        <p:blipFill rotWithShape="1">
          <a:blip r:embed="rId2">
            <a:alphaModFix/>
          </a:blip>
          <a:srcRect b="0" l="0" r="0" t="0"/>
          <a:stretch/>
        </p:blipFill>
        <p:spPr>
          <a:xfrm>
            <a:off x="280335" y="701811"/>
            <a:ext cx="113192" cy="520684"/>
          </a:xfrm>
          <a:prstGeom prst="rect">
            <a:avLst/>
          </a:prstGeom>
          <a:noFill/>
          <a:ln>
            <a:noFill/>
          </a:ln>
        </p:spPr>
      </p:pic>
      <p:pic>
        <p:nvPicPr>
          <p:cNvPr id="17" name="Google Shape;17;p5"/>
          <p:cNvPicPr preferRelativeResize="0"/>
          <p:nvPr/>
        </p:nvPicPr>
        <p:blipFill rotWithShape="1">
          <a:blip r:embed="rId2">
            <a:alphaModFix/>
          </a:blip>
          <a:srcRect b="0" l="0" r="0" t="0"/>
          <a:stretch/>
        </p:blipFill>
        <p:spPr>
          <a:xfrm>
            <a:off x="280335" y="152520"/>
            <a:ext cx="113192" cy="52068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www.usfa.fema.gov/statistics/reports/firefighters-departments/firefighter-injuries-v22i4.html" TargetMode="External"/><Relationship Id="rId4" Type="http://schemas.openxmlformats.org/officeDocument/2006/relationships/hyperlink" Target="https://apps.usfa.fema.gov/pdf/efop/efo248128.pdf"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ctrTitle"/>
          </p:nvPr>
        </p:nvSpPr>
        <p:spPr>
          <a:xfrm>
            <a:off x="914400" y="2992800"/>
            <a:ext cx="10363200" cy="84054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5400"/>
              <a:buFont typeface="Oswald Medium"/>
              <a:buNone/>
            </a:pPr>
            <a:r>
              <a:rPr lang="en-US"/>
              <a:t>Emergency Response Mapping Sphere</a:t>
            </a:r>
            <a:endParaRPr/>
          </a:p>
        </p:txBody>
      </p:sp>
      <p:sp>
        <p:nvSpPr>
          <p:cNvPr id="90" name="Google Shape;90;p1"/>
          <p:cNvSpPr txBox="1"/>
          <p:nvPr>
            <p:ph idx="1" type="subTitle"/>
          </p:nvPr>
        </p:nvSpPr>
        <p:spPr>
          <a:xfrm>
            <a:off x="1828800" y="3994026"/>
            <a:ext cx="8583900" cy="16455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lt1"/>
              </a:buClr>
              <a:buSzPts val="2400"/>
              <a:buNone/>
            </a:pPr>
            <a:r>
              <a:rPr b="0" lang="en-US"/>
              <a:t>Team ERMS</a:t>
            </a:r>
            <a:endParaRPr b="0"/>
          </a:p>
          <a:p>
            <a:pPr indent="0" lvl="0" marL="0" rtl="0" algn="ctr">
              <a:spcBef>
                <a:spcPts val="0"/>
              </a:spcBef>
              <a:spcAft>
                <a:spcPts val="0"/>
              </a:spcAft>
              <a:buClr>
                <a:schemeClr val="lt1"/>
              </a:buClr>
              <a:buSzPts val="2400"/>
              <a:buNone/>
            </a:pPr>
            <a:r>
              <a:rPr b="0" lang="en-US">
                <a:latin typeface="Open Sans"/>
                <a:ea typeface="Open Sans"/>
                <a:cs typeface="Open Sans"/>
                <a:sym typeface="Open Sans"/>
              </a:rPr>
              <a:t>Brandon Le, Kiet Nguyen, Hai Yen Nguyen, Antony Quach, Josh Wu</a:t>
            </a:r>
            <a:endParaRPr b="0">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
          <p:cNvSpPr txBox="1"/>
          <p:nvPr>
            <p:ph idx="1" type="body"/>
          </p:nvPr>
        </p:nvSpPr>
        <p:spPr>
          <a:xfrm>
            <a:off x="609600" y="1932750"/>
            <a:ext cx="11228700" cy="3832200"/>
          </a:xfrm>
          <a:prstGeom prst="rect">
            <a:avLst/>
          </a:prstGeom>
          <a:noFill/>
          <a:ln>
            <a:noFill/>
          </a:ln>
        </p:spPr>
        <p:txBody>
          <a:bodyPr anchorCtr="0" anchor="t" bIns="45700" lIns="91425" spcFirstLastPara="1" rIns="91425" wrap="square" tIns="45700">
            <a:normAutofit fontScale="92500" lnSpcReduction="20000"/>
          </a:bodyPr>
          <a:lstStyle/>
          <a:p>
            <a:pPr indent="-357822" lvl="0" marL="457200" rtl="0" algn="l">
              <a:spcBef>
                <a:spcPts val="0"/>
              </a:spcBef>
              <a:spcAft>
                <a:spcPts val="0"/>
              </a:spcAft>
              <a:buSzPct val="100000"/>
              <a:buChar char="•"/>
            </a:pPr>
            <a:r>
              <a:rPr b="0" lang="en-US">
                <a:latin typeface="Open Sans"/>
                <a:ea typeface="Open Sans"/>
                <a:cs typeface="Open Sans"/>
                <a:sym typeface="Open Sans"/>
              </a:rPr>
              <a:t>Emergency response operations require </a:t>
            </a:r>
            <a:r>
              <a:rPr b="0" lang="en-US"/>
              <a:t>rapid, accurate situational awareness </a:t>
            </a:r>
            <a:r>
              <a:rPr b="0" lang="en-US">
                <a:latin typeface="Open Sans"/>
                <a:ea typeface="Open Sans"/>
                <a:cs typeface="Open Sans"/>
                <a:sym typeface="Open Sans"/>
              </a:rPr>
              <a:t>in hazardous environments. </a:t>
            </a:r>
            <a:endParaRPr b="0">
              <a:latin typeface="Open Sans"/>
              <a:ea typeface="Open Sans"/>
              <a:cs typeface="Open Sans"/>
              <a:sym typeface="Open Sans"/>
            </a:endParaRPr>
          </a:p>
          <a:p>
            <a:pPr indent="0" lvl="0" marL="457200" rtl="0" algn="l">
              <a:spcBef>
                <a:spcPts val="0"/>
              </a:spcBef>
              <a:spcAft>
                <a:spcPts val="0"/>
              </a:spcAft>
              <a:buNone/>
            </a:pPr>
            <a:r>
              <a:t/>
            </a:r>
            <a:endParaRPr b="0">
              <a:latin typeface="Open Sans"/>
              <a:ea typeface="Open Sans"/>
              <a:cs typeface="Open Sans"/>
              <a:sym typeface="Open Sans"/>
            </a:endParaRPr>
          </a:p>
          <a:p>
            <a:pPr indent="-357822" lvl="0" marL="457200" rtl="0" algn="l">
              <a:spcBef>
                <a:spcPts val="0"/>
              </a:spcBef>
              <a:spcAft>
                <a:spcPts val="0"/>
              </a:spcAft>
              <a:buSzPct val="100000"/>
              <a:buChar char="•"/>
            </a:pPr>
            <a:r>
              <a:rPr b="0" lang="en-US">
                <a:latin typeface="Open Sans"/>
                <a:ea typeface="Open Sans"/>
                <a:cs typeface="Open Sans"/>
                <a:sym typeface="Open Sans"/>
              </a:rPr>
              <a:t>First responders routinely enter </a:t>
            </a:r>
            <a:r>
              <a:rPr b="0" lang="en-US"/>
              <a:t>dangerous, unfamiliar environments </a:t>
            </a:r>
            <a:r>
              <a:rPr b="0" lang="en-US">
                <a:latin typeface="Open Sans"/>
                <a:ea typeface="Open Sans"/>
                <a:cs typeface="Open Sans"/>
                <a:sym typeface="Open Sans"/>
              </a:rPr>
              <a:t>with </a:t>
            </a:r>
            <a:r>
              <a:rPr b="0" lang="en-US"/>
              <a:t>limited visibility</a:t>
            </a:r>
            <a:r>
              <a:rPr b="0" lang="en-US">
                <a:latin typeface="Open Sans"/>
                <a:ea typeface="Open Sans"/>
                <a:cs typeface="Open Sans"/>
                <a:sym typeface="Open Sans"/>
              </a:rPr>
              <a:t>.</a:t>
            </a:r>
            <a:endParaRPr b="0">
              <a:latin typeface="Open Sans"/>
              <a:ea typeface="Open Sans"/>
              <a:cs typeface="Open Sans"/>
              <a:sym typeface="Open Sans"/>
            </a:endParaRPr>
          </a:p>
          <a:p>
            <a:pPr indent="0" lvl="0" marL="457200" rtl="0" algn="l">
              <a:spcBef>
                <a:spcPts val="0"/>
              </a:spcBef>
              <a:spcAft>
                <a:spcPts val="0"/>
              </a:spcAft>
              <a:buNone/>
            </a:pPr>
            <a:r>
              <a:t/>
            </a:r>
            <a:endParaRPr b="0">
              <a:latin typeface="Open Sans"/>
              <a:ea typeface="Open Sans"/>
              <a:cs typeface="Open Sans"/>
              <a:sym typeface="Open Sans"/>
            </a:endParaRPr>
          </a:p>
          <a:p>
            <a:pPr indent="-357822" lvl="0" marL="457200" rtl="0" algn="l">
              <a:spcBef>
                <a:spcPts val="0"/>
              </a:spcBef>
              <a:spcAft>
                <a:spcPts val="0"/>
              </a:spcAft>
              <a:buSzPct val="100000"/>
              <a:buChar char="•"/>
            </a:pPr>
            <a:r>
              <a:rPr b="0" lang="en-US">
                <a:latin typeface="Open Sans"/>
                <a:ea typeface="Open Sans"/>
                <a:cs typeface="Open Sans"/>
                <a:sym typeface="Open Sans"/>
              </a:rPr>
              <a:t>This increases the risk of </a:t>
            </a:r>
            <a:r>
              <a:rPr b="0" lang="en-US"/>
              <a:t>injury, delayed rescue, and poor tactical decisions</a:t>
            </a:r>
            <a:r>
              <a:rPr b="0" lang="en-US">
                <a:latin typeface="Open Sans"/>
                <a:ea typeface="Open Sans"/>
                <a:cs typeface="Open Sans"/>
                <a:sym typeface="Open Sans"/>
              </a:rPr>
              <a:t>.</a:t>
            </a:r>
            <a:endParaRPr b="0">
              <a:latin typeface="Open Sans"/>
              <a:ea typeface="Open Sans"/>
              <a:cs typeface="Open Sans"/>
              <a:sym typeface="Open Sans"/>
            </a:endParaRPr>
          </a:p>
          <a:p>
            <a:pPr indent="0" lvl="0" marL="457200" rtl="0" algn="l">
              <a:spcBef>
                <a:spcPts val="0"/>
              </a:spcBef>
              <a:spcAft>
                <a:spcPts val="0"/>
              </a:spcAft>
              <a:buNone/>
            </a:pPr>
            <a:r>
              <a:t/>
            </a:r>
            <a:endParaRPr b="0">
              <a:latin typeface="Open Sans"/>
              <a:ea typeface="Open Sans"/>
              <a:cs typeface="Open Sans"/>
              <a:sym typeface="Open Sans"/>
            </a:endParaRPr>
          </a:p>
          <a:p>
            <a:pPr indent="-357822" lvl="0" marL="457200" rtl="0" algn="l">
              <a:spcBef>
                <a:spcPts val="0"/>
              </a:spcBef>
              <a:spcAft>
                <a:spcPts val="0"/>
              </a:spcAft>
              <a:buSzPct val="100000"/>
              <a:buChar char="•"/>
            </a:pPr>
            <a:r>
              <a:rPr b="0" lang="en-US">
                <a:latin typeface="Open Sans"/>
                <a:ea typeface="Open Sans"/>
                <a:cs typeface="Open Sans"/>
                <a:sym typeface="Open Sans"/>
              </a:rPr>
              <a:t>Existing technologies, such as drones, body-worn cameras, and robots often provide </a:t>
            </a:r>
            <a:r>
              <a:rPr b="0" lang="en-US"/>
              <a:t>incomplete or </a:t>
            </a:r>
            <a:r>
              <a:rPr b="0" lang="en-US"/>
              <a:t>unreliable information.</a:t>
            </a:r>
            <a:endParaRPr b="0"/>
          </a:p>
          <a:p>
            <a:pPr indent="0" lvl="0" marL="457200" rtl="0" algn="l">
              <a:spcBef>
                <a:spcPts val="0"/>
              </a:spcBef>
              <a:spcAft>
                <a:spcPts val="0"/>
              </a:spcAft>
              <a:buNone/>
            </a:pPr>
            <a:r>
              <a:t/>
            </a:r>
            <a:endParaRPr b="0"/>
          </a:p>
          <a:p>
            <a:pPr indent="-357822" lvl="0" marL="457200" rtl="0" algn="l">
              <a:spcBef>
                <a:spcPts val="0"/>
              </a:spcBef>
              <a:spcAft>
                <a:spcPts val="0"/>
              </a:spcAft>
              <a:buSzPct val="100000"/>
              <a:buChar char="•"/>
            </a:pPr>
            <a:r>
              <a:rPr b="0" lang="en-US">
                <a:latin typeface="Open Sans"/>
                <a:ea typeface="Open Sans"/>
                <a:cs typeface="Open Sans"/>
                <a:sym typeface="Open Sans"/>
              </a:rPr>
              <a:t>Current technologies do not sufficiently reduce </a:t>
            </a:r>
            <a:r>
              <a:rPr b="0" lang="en-US"/>
              <a:t>operational risk</a:t>
            </a:r>
            <a:r>
              <a:rPr b="0" lang="en-US">
                <a:latin typeface="Open Sans"/>
                <a:ea typeface="Open Sans"/>
                <a:cs typeface="Open Sans"/>
                <a:sym typeface="Open Sans"/>
              </a:rPr>
              <a:t> due to impracticality to deploy in confined or chaotic events.</a:t>
            </a:r>
            <a:endParaRPr b="0"/>
          </a:p>
          <a:p>
            <a:pPr indent="-203200" lvl="0" marL="342900" rtl="0" algn="l">
              <a:spcBef>
                <a:spcPts val="0"/>
              </a:spcBef>
              <a:spcAft>
                <a:spcPts val="0"/>
              </a:spcAft>
              <a:buClr>
                <a:srgbClr val="500000"/>
              </a:buClr>
              <a:buSzPct val="100000"/>
              <a:buNone/>
            </a:pPr>
            <a:r>
              <a:t/>
            </a:r>
            <a:endParaRPr/>
          </a:p>
        </p:txBody>
      </p:sp>
      <p:sp>
        <p:nvSpPr>
          <p:cNvPr id="96" name="Google Shape;96;p2"/>
          <p:cNvSpPr txBox="1"/>
          <p:nvPr>
            <p:ph type="title"/>
          </p:nvPr>
        </p:nvSpPr>
        <p:spPr>
          <a:xfrm>
            <a:off x="609600" y="238118"/>
            <a:ext cx="10972800" cy="8937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00000"/>
              </a:buClr>
              <a:buSzPts val="4400"/>
              <a:buFont typeface="Oswald Medium"/>
              <a:buNone/>
            </a:pPr>
            <a:r>
              <a:rPr lang="en-US">
                <a:solidFill>
                  <a:schemeClr val="lt1"/>
                </a:solidFill>
              </a:rPr>
              <a:t>Problem Background</a:t>
            </a:r>
            <a:endParaRPr>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g3bd96a98101_0_1"/>
          <p:cNvSpPr txBox="1"/>
          <p:nvPr>
            <p:ph idx="1" type="body"/>
          </p:nvPr>
        </p:nvSpPr>
        <p:spPr>
          <a:xfrm>
            <a:off x="487800" y="1364550"/>
            <a:ext cx="11216400" cy="5420400"/>
          </a:xfrm>
          <a:prstGeom prst="rect">
            <a:avLst/>
          </a:prstGeom>
          <a:noFill/>
          <a:ln>
            <a:noFill/>
          </a:ln>
        </p:spPr>
        <p:txBody>
          <a:bodyPr anchorCtr="0" anchor="t" bIns="45700" lIns="91425" spcFirstLastPara="1" rIns="91425" wrap="square" tIns="45700">
            <a:normAutofit lnSpcReduction="10000"/>
          </a:bodyPr>
          <a:lstStyle/>
          <a:p>
            <a:pPr indent="-203200" lvl="0" marL="342900" rtl="0" algn="l">
              <a:spcBef>
                <a:spcPts val="0"/>
              </a:spcBef>
              <a:spcAft>
                <a:spcPts val="0"/>
              </a:spcAft>
              <a:buClr>
                <a:srgbClr val="500000"/>
              </a:buClr>
              <a:buSzPts val="2200"/>
              <a:buNone/>
            </a:pPr>
            <a:r>
              <a:t/>
            </a:r>
            <a:endParaRPr/>
          </a:p>
          <a:p>
            <a:pPr indent="0" lvl="0" marL="0" rtl="0" algn="l">
              <a:spcBef>
                <a:spcPts val="0"/>
              </a:spcBef>
              <a:spcAft>
                <a:spcPts val="0"/>
              </a:spcAft>
              <a:buNone/>
            </a:pPr>
            <a:r>
              <a:rPr b="0" lang="en-US">
                <a:latin typeface="Open Sans"/>
                <a:ea typeface="Open Sans"/>
                <a:cs typeface="Open Sans"/>
                <a:sym typeface="Open Sans"/>
              </a:rPr>
              <a:t>From 2018-2020, 87% of firefighter injuries occurred in structure fires. </a:t>
            </a:r>
            <a:r>
              <a:rPr b="0" lang="en-US"/>
              <a:t> </a:t>
            </a:r>
            <a:r>
              <a:rPr b="0" lang="en-US">
                <a:latin typeface="Open Sans"/>
                <a:ea typeface="Open Sans"/>
                <a:cs typeface="Open Sans"/>
                <a:sym typeface="Open Sans"/>
              </a:rPr>
              <a:t>Active shooter incidents last only 12 minutes on average. There is a need for a device that first responders can use to ensure safety quickly in hazardous environments.</a:t>
            </a:r>
            <a:endParaRPr b="0">
              <a:latin typeface="Open Sans"/>
              <a:ea typeface="Open Sans"/>
              <a:cs typeface="Open Sans"/>
              <a:sym typeface="Open Sans"/>
            </a:endParaRPr>
          </a:p>
          <a:p>
            <a:pPr indent="0" lvl="0" marL="139700" rtl="0" algn="l">
              <a:spcBef>
                <a:spcPts val="0"/>
              </a:spcBef>
              <a:spcAft>
                <a:spcPts val="0"/>
              </a:spcAft>
              <a:buClr>
                <a:srgbClr val="500000"/>
              </a:buClr>
              <a:buSzPts val="2200"/>
              <a:buNone/>
            </a:pPr>
            <a:r>
              <a:t/>
            </a:r>
            <a:endParaRPr/>
          </a:p>
          <a:p>
            <a:pPr indent="0" lvl="0" marL="0" rtl="0" algn="l">
              <a:spcBef>
                <a:spcPts val="0"/>
              </a:spcBef>
              <a:spcAft>
                <a:spcPts val="0"/>
              </a:spcAft>
              <a:buClr>
                <a:srgbClr val="500000"/>
              </a:buClr>
              <a:buSzPts val="2200"/>
              <a:buNone/>
            </a:pPr>
            <a:r>
              <a:rPr lang="en-US"/>
              <a:t>The Emergency Response Mapping Sphere needs improved sensing, mapping quality, and information delivery for reliable use in real-world emergency environments.</a:t>
            </a:r>
            <a:endParaRPr/>
          </a:p>
          <a:p>
            <a:pPr indent="-203200" lvl="0" marL="342900" rtl="0" algn="l">
              <a:spcBef>
                <a:spcPts val="0"/>
              </a:spcBef>
              <a:spcAft>
                <a:spcPts val="0"/>
              </a:spcAft>
              <a:buClr>
                <a:srgbClr val="500000"/>
              </a:buClr>
              <a:buSzPts val="2200"/>
              <a:buNone/>
            </a:pPr>
            <a:r>
              <a:t/>
            </a:r>
            <a:endParaRPr/>
          </a:p>
          <a:p>
            <a:pPr indent="-203200" lvl="0" marL="342900" rtl="0" algn="l">
              <a:spcBef>
                <a:spcPts val="0"/>
              </a:spcBef>
              <a:spcAft>
                <a:spcPts val="0"/>
              </a:spcAft>
              <a:buClr>
                <a:srgbClr val="500000"/>
              </a:buClr>
              <a:buSzPts val="2200"/>
              <a:buNone/>
            </a:pPr>
            <a:r>
              <a:rPr lang="en-US"/>
              <a:t>Current Limitations:</a:t>
            </a:r>
            <a:endParaRPr/>
          </a:p>
          <a:p>
            <a:pPr indent="0" lvl="0" marL="457200" rtl="0" algn="l">
              <a:spcBef>
                <a:spcPts val="0"/>
              </a:spcBef>
              <a:spcAft>
                <a:spcPts val="0"/>
              </a:spcAft>
              <a:buNone/>
            </a:pPr>
            <a:r>
              <a:t/>
            </a:r>
            <a:endParaRPr b="0">
              <a:latin typeface="Open Sans"/>
              <a:ea typeface="Open Sans"/>
              <a:cs typeface="Open Sans"/>
              <a:sym typeface="Open Sans"/>
            </a:endParaRPr>
          </a:p>
          <a:p>
            <a:pPr indent="-368300" lvl="0" marL="457200" rtl="0" algn="l">
              <a:spcBef>
                <a:spcPts val="0"/>
              </a:spcBef>
              <a:spcAft>
                <a:spcPts val="0"/>
              </a:spcAft>
              <a:buSzPts val="2200"/>
              <a:buChar char="•"/>
            </a:pPr>
            <a:r>
              <a:rPr lang="en-US"/>
              <a:t>3D Mapping</a:t>
            </a:r>
            <a:r>
              <a:rPr lang="en-US"/>
              <a:t>: </a:t>
            </a:r>
            <a:r>
              <a:rPr b="0" lang="en-US">
                <a:latin typeface="Open Sans"/>
                <a:ea typeface="Open Sans"/>
                <a:cs typeface="Open Sans"/>
                <a:sym typeface="Open Sans"/>
              </a:rPr>
              <a:t>Limited accuracy and resolution of the mapped out environment, reducing reliability of spatial information</a:t>
            </a:r>
            <a:endParaRPr b="0">
              <a:latin typeface="Open Sans"/>
              <a:ea typeface="Open Sans"/>
              <a:cs typeface="Open Sans"/>
              <a:sym typeface="Open Sans"/>
            </a:endParaRPr>
          </a:p>
          <a:p>
            <a:pPr indent="-368300" lvl="0" marL="457200" rtl="0" algn="l">
              <a:spcBef>
                <a:spcPts val="0"/>
              </a:spcBef>
              <a:spcAft>
                <a:spcPts val="0"/>
              </a:spcAft>
              <a:buSzPts val="2200"/>
              <a:buFont typeface="Open Sans ExtraBold"/>
              <a:buChar char="•"/>
            </a:pPr>
            <a:r>
              <a:rPr b="0" lang="en-US"/>
              <a:t>Information Delivery: </a:t>
            </a:r>
            <a:r>
              <a:rPr b="0" lang="en-US">
                <a:latin typeface="Open Sans"/>
                <a:ea typeface="Open Sans"/>
                <a:cs typeface="Open Sans"/>
                <a:sym typeface="Open Sans"/>
              </a:rPr>
              <a:t>Data is not presented in an intuitive way, slowing decision-making under stress</a:t>
            </a:r>
            <a:endParaRPr b="0">
              <a:latin typeface="Open Sans"/>
              <a:ea typeface="Open Sans"/>
              <a:cs typeface="Open Sans"/>
              <a:sym typeface="Open Sans"/>
            </a:endParaRPr>
          </a:p>
          <a:p>
            <a:pPr indent="0" lvl="0" marL="0" rtl="0" algn="l">
              <a:spcBef>
                <a:spcPts val="0"/>
              </a:spcBef>
              <a:spcAft>
                <a:spcPts val="0"/>
              </a:spcAft>
              <a:buNone/>
            </a:pPr>
            <a:r>
              <a:t/>
            </a:r>
            <a:endParaRPr b="0" sz="1000">
              <a:latin typeface="Open Sans"/>
              <a:ea typeface="Open Sans"/>
              <a:cs typeface="Open Sans"/>
              <a:sym typeface="Open Sans"/>
            </a:endParaRPr>
          </a:p>
          <a:p>
            <a:pPr indent="0" lvl="0" marL="0" rtl="0" algn="l">
              <a:spcBef>
                <a:spcPts val="0"/>
              </a:spcBef>
              <a:spcAft>
                <a:spcPts val="0"/>
              </a:spcAft>
              <a:buNone/>
            </a:pPr>
            <a:r>
              <a:rPr b="0" lang="en-US" sz="1000" u="sng">
                <a:solidFill>
                  <a:schemeClr val="hlink"/>
                </a:solidFill>
                <a:latin typeface="Open Sans"/>
                <a:ea typeface="Open Sans"/>
                <a:cs typeface="Open Sans"/>
                <a:sym typeface="Open Sans"/>
                <a:hlinkClick r:id="rId3"/>
              </a:rPr>
              <a:t>https://www.usfa.fema.gov/statistics/reports/firefighters-departments/firefighter-injuries-v22i4.html</a:t>
            </a:r>
            <a:r>
              <a:rPr b="0" lang="en-US" sz="1000">
                <a:latin typeface="Open Sans"/>
                <a:ea typeface="Open Sans"/>
                <a:cs typeface="Open Sans"/>
                <a:sym typeface="Open Sans"/>
              </a:rPr>
              <a:t> </a:t>
            </a:r>
            <a:endParaRPr b="0" sz="1000">
              <a:latin typeface="Open Sans"/>
              <a:ea typeface="Open Sans"/>
              <a:cs typeface="Open Sans"/>
              <a:sym typeface="Open Sans"/>
            </a:endParaRPr>
          </a:p>
          <a:p>
            <a:pPr indent="0" lvl="0" marL="0" rtl="0" algn="l">
              <a:spcBef>
                <a:spcPts val="0"/>
              </a:spcBef>
              <a:spcAft>
                <a:spcPts val="0"/>
              </a:spcAft>
              <a:buNone/>
            </a:pPr>
            <a:r>
              <a:rPr b="0" lang="en-US" sz="1000" u="sng">
                <a:solidFill>
                  <a:schemeClr val="hlink"/>
                </a:solidFill>
                <a:latin typeface="Open Sans"/>
                <a:ea typeface="Open Sans"/>
                <a:cs typeface="Open Sans"/>
                <a:sym typeface="Open Sans"/>
                <a:hlinkClick r:id="rId4"/>
              </a:rPr>
              <a:t>https://apps.usfa.fema.gov/pdf/efop/efo248128.pdf</a:t>
            </a:r>
            <a:endParaRPr b="0">
              <a:latin typeface="Open Sans"/>
              <a:ea typeface="Open Sans"/>
              <a:cs typeface="Open Sans"/>
              <a:sym typeface="Open Sans"/>
            </a:endParaRPr>
          </a:p>
        </p:txBody>
      </p:sp>
      <p:sp>
        <p:nvSpPr>
          <p:cNvPr id="102" name="Google Shape;102;g3bd96a98101_0_1"/>
          <p:cNvSpPr txBox="1"/>
          <p:nvPr>
            <p:ph type="title"/>
          </p:nvPr>
        </p:nvSpPr>
        <p:spPr>
          <a:xfrm>
            <a:off x="609600" y="238118"/>
            <a:ext cx="10972800" cy="8937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00000"/>
              </a:buClr>
              <a:buSzPts val="4400"/>
              <a:buFont typeface="Oswald Medium"/>
              <a:buNone/>
            </a:pPr>
            <a:r>
              <a:rPr lang="en-US">
                <a:solidFill>
                  <a:schemeClr val="lt1"/>
                </a:solidFill>
              </a:rPr>
              <a:t>Needs Statement</a:t>
            </a:r>
            <a:endParaRPr>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g3bd96a98101_0_7"/>
          <p:cNvSpPr txBox="1"/>
          <p:nvPr>
            <p:ph idx="1" type="body"/>
          </p:nvPr>
        </p:nvSpPr>
        <p:spPr>
          <a:xfrm>
            <a:off x="609600" y="1499350"/>
            <a:ext cx="10790400" cy="5243100"/>
          </a:xfrm>
          <a:prstGeom prst="rect">
            <a:avLst/>
          </a:prstGeom>
          <a:noFill/>
          <a:ln>
            <a:noFill/>
          </a:ln>
        </p:spPr>
        <p:txBody>
          <a:bodyPr anchorCtr="0" anchor="t" bIns="45700" lIns="91425" spcFirstLastPara="1" rIns="91425" wrap="square" tIns="45700">
            <a:normAutofit/>
          </a:bodyPr>
          <a:lstStyle/>
          <a:p>
            <a:pPr indent="-368300" lvl="0" marL="457200" rtl="0" algn="l">
              <a:spcBef>
                <a:spcPts val="0"/>
              </a:spcBef>
              <a:spcAft>
                <a:spcPts val="0"/>
              </a:spcAft>
              <a:buSzPts val="2200"/>
              <a:buChar char="•"/>
            </a:pPr>
            <a:r>
              <a:rPr lang="en-US"/>
              <a:t>Enhance the Emergency Response Mapping Sphere to deliver high-quality 3D mapping on a mobile device</a:t>
            </a:r>
            <a:endParaRPr/>
          </a:p>
          <a:p>
            <a:pPr indent="0" lvl="0" marL="457200" rtl="0" algn="l">
              <a:spcBef>
                <a:spcPts val="0"/>
              </a:spcBef>
              <a:spcAft>
                <a:spcPts val="0"/>
              </a:spcAft>
              <a:buNone/>
            </a:pPr>
            <a:r>
              <a:t/>
            </a:r>
            <a:endParaRPr/>
          </a:p>
          <a:p>
            <a:pPr indent="-368300" lvl="0" marL="457200" rtl="0" algn="l">
              <a:spcBef>
                <a:spcPts val="0"/>
              </a:spcBef>
              <a:spcAft>
                <a:spcPts val="0"/>
              </a:spcAft>
              <a:buSzPts val="2200"/>
              <a:buChar char="•"/>
            </a:pPr>
            <a:r>
              <a:rPr lang="en-US"/>
              <a:t>Uses onboard cameras to stream video and reconstruct a 3D environment for improved threat detection</a:t>
            </a:r>
            <a:endParaRPr/>
          </a:p>
          <a:p>
            <a:pPr indent="0" lvl="0" marL="457200" rtl="0" algn="l">
              <a:spcBef>
                <a:spcPts val="0"/>
              </a:spcBef>
              <a:spcAft>
                <a:spcPts val="0"/>
              </a:spcAft>
              <a:buNone/>
            </a:pPr>
            <a:r>
              <a:t/>
            </a:r>
            <a:endParaRPr/>
          </a:p>
          <a:p>
            <a:pPr indent="-368300" lvl="0" marL="457200" rtl="0" algn="l">
              <a:spcBef>
                <a:spcPts val="0"/>
              </a:spcBef>
              <a:spcAft>
                <a:spcPts val="0"/>
              </a:spcAft>
              <a:buSzPts val="2200"/>
              <a:buChar char="•"/>
            </a:pPr>
            <a:r>
              <a:rPr lang="en-US"/>
              <a:t>Maintains portability and durability: </a:t>
            </a:r>
            <a:endParaRPr/>
          </a:p>
          <a:p>
            <a:pPr indent="-368300" lvl="1" marL="914400" rtl="0" algn="l">
              <a:spcBef>
                <a:spcPts val="0"/>
              </a:spcBef>
              <a:spcAft>
                <a:spcPts val="0"/>
              </a:spcAft>
              <a:buSzPts val="2200"/>
              <a:buChar char="–"/>
            </a:pPr>
            <a:r>
              <a:rPr lang="en-US" sz="2200"/>
              <a:t>3 lb max, 7 inch diameter max</a:t>
            </a:r>
            <a:endParaRPr sz="2200"/>
          </a:p>
          <a:p>
            <a:pPr indent="-368300" lvl="1" marL="914400" rtl="0" algn="l">
              <a:spcBef>
                <a:spcPts val="0"/>
              </a:spcBef>
              <a:spcAft>
                <a:spcPts val="0"/>
              </a:spcAft>
              <a:buSzPts val="2200"/>
              <a:buChar char="–"/>
            </a:pPr>
            <a:r>
              <a:rPr lang="en-US" sz="2200"/>
              <a:t>Withstands drops and collisions</a:t>
            </a:r>
            <a:endParaRPr sz="2200"/>
          </a:p>
          <a:p>
            <a:pPr indent="0" lvl="0" marL="0" rtl="0" algn="l">
              <a:spcBef>
                <a:spcPts val="0"/>
              </a:spcBef>
              <a:spcAft>
                <a:spcPts val="0"/>
              </a:spcAft>
              <a:buNone/>
            </a:pPr>
            <a:r>
              <a:t/>
            </a:r>
            <a:endParaRPr/>
          </a:p>
          <a:p>
            <a:pPr indent="-368300" lvl="0" marL="457200" rtl="0" algn="l">
              <a:spcBef>
                <a:spcPts val="0"/>
              </a:spcBef>
              <a:spcAft>
                <a:spcPts val="0"/>
              </a:spcAft>
              <a:buSzPts val="2200"/>
              <a:buChar char="•"/>
            </a:pPr>
            <a:r>
              <a:rPr lang="en-US"/>
              <a:t>Minimum 5-minute </a:t>
            </a:r>
            <a:endParaRPr/>
          </a:p>
          <a:p>
            <a:pPr indent="-368300" lvl="0" marL="457200" rtl="0" algn="l">
              <a:spcBef>
                <a:spcPts val="0"/>
              </a:spcBef>
              <a:spcAft>
                <a:spcPts val="0"/>
              </a:spcAft>
              <a:buSzPts val="2200"/>
              <a:buChar char="•"/>
            </a:pPr>
            <a:r>
              <a:rPr lang="en-US"/>
              <a:t>Maximum 10-minute continuous operation</a:t>
            </a:r>
            <a:endParaRPr/>
          </a:p>
          <a:p>
            <a:pPr indent="-203200" lvl="0" marL="342900" rtl="0" algn="l">
              <a:spcBef>
                <a:spcPts val="0"/>
              </a:spcBef>
              <a:spcAft>
                <a:spcPts val="0"/>
              </a:spcAft>
              <a:buClr>
                <a:srgbClr val="500000"/>
              </a:buClr>
              <a:buSzPts val="2200"/>
              <a:buNone/>
            </a:pPr>
            <a:r>
              <a:t/>
            </a:r>
            <a:endParaRPr/>
          </a:p>
          <a:p>
            <a:pPr indent="-368300" lvl="0" marL="457200" rtl="0" algn="l">
              <a:spcBef>
                <a:spcPts val="0"/>
              </a:spcBef>
              <a:spcAft>
                <a:spcPts val="0"/>
              </a:spcAft>
              <a:buSzPts val="2200"/>
              <a:buChar char="•"/>
            </a:pPr>
            <a:r>
              <a:rPr lang="en-US"/>
              <a:t>Cost constraints:</a:t>
            </a:r>
            <a:endParaRPr/>
          </a:p>
          <a:p>
            <a:pPr indent="-368300" lvl="1" marL="914400" rtl="0" algn="l">
              <a:spcBef>
                <a:spcPts val="0"/>
              </a:spcBef>
              <a:spcAft>
                <a:spcPts val="0"/>
              </a:spcAft>
              <a:buSzPts val="2200"/>
              <a:buChar char="–"/>
            </a:pPr>
            <a:r>
              <a:rPr lang="en-US" sz="2200"/>
              <a:t>$250 max for design iterations</a:t>
            </a:r>
            <a:endParaRPr sz="2200"/>
          </a:p>
        </p:txBody>
      </p:sp>
      <p:sp>
        <p:nvSpPr>
          <p:cNvPr id="108" name="Google Shape;108;g3bd96a98101_0_7"/>
          <p:cNvSpPr txBox="1"/>
          <p:nvPr>
            <p:ph type="title"/>
          </p:nvPr>
        </p:nvSpPr>
        <p:spPr>
          <a:xfrm>
            <a:off x="609600" y="238118"/>
            <a:ext cx="10972800" cy="8937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00000"/>
              </a:buClr>
              <a:buSzPts val="4400"/>
              <a:buFont typeface="Oswald Medium"/>
              <a:buNone/>
            </a:pPr>
            <a:r>
              <a:rPr lang="en-US">
                <a:solidFill>
                  <a:schemeClr val="lt1"/>
                </a:solidFill>
              </a:rPr>
              <a:t>Goal and Objectives</a:t>
            </a:r>
            <a:endParaRPr>
              <a:solidFill>
                <a:schemeClr val="lt1"/>
              </a:solidFill>
            </a:endParaRPr>
          </a:p>
        </p:txBody>
      </p:sp>
      <p:pic>
        <p:nvPicPr>
          <p:cNvPr id="109" name="Google Shape;109;g3bd96a98101_0_7"/>
          <p:cNvPicPr preferRelativeResize="0"/>
          <p:nvPr/>
        </p:nvPicPr>
        <p:blipFill>
          <a:blip r:embed="rId3">
            <a:alphaModFix/>
          </a:blip>
          <a:stretch>
            <a:fillRect/>
          </a:stretch>
        </p:blipFill>
        <p:spPr>
          <a:xfrm>
            <a:off x="8338625" y="3429000"/>
            <a:ext cx="2776175" cy="260182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g3c75889ad9f_0_8"/>
          <p:cNvSpPr txBox="1"/>
          <p:nvPr>
            <p:ph type="title"/>
          </p:nvPr>
        </p:nvSpPr>
        <p:spPr>
          <a:xfrm>
            <a:off x="609600" y="238118"/>
            <a:ext cx="10972800" cy="8937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00000"/>
              </a:buClr>
              <a:buSzPts val="4400"/>
              <a:buFont typeface="Oswald Medium"/>
              <a:buNone/>
            </a:pPr>
            <a:r>
              <a:rPr lang="en-US">
                <a:solidFill>
                  <a:schemeClr val="lt1"/>
                </a:solidFill>
              </a:rPr>
              <a:t>Literature Review</a:t>
            </a:r>
            <a:endParaRPr>
              <a:solidFill>
                <a:schemeClr val="lt1"/>
              </a:solidFill>
            </a:endParaRPr>
          </a:p>
        </p:txBody>
      </p:sp>
      <p:graphicFrame>
        <p:nvGraphicFramePr>
          <p:cNvPr id="115" name="Google Shape;115;g3c75889ad9f_0_8"/>
          <p:cNvGraphicFramePr/>
          <p:nvPr/>
        </p:nvGraphicFramePr>
        <p:xfrm>
          <a:off x="276263" y="1131825"/>
          <a:ext cx="3000000" cy="3000000"/>
        </p:xfrm>
        <a:graphic>
          <a:graphicData uri="http://schemas.openxmlformats.org/drawingml/2006/table">
            <a:tbl>
              <a:tblPr>
                <a:noFill/>
                <a:tableStyleId>{FD26A37F-556E-48F0-B075-F9ACD07589E8}</a:tableStyleId>
              </a:tblPr>
              <a:tblGrid>
                <a:gridCol w="2910500"/>
                <a:gridCol w="3170550"/>
                <a:gridCol w="3040525"/>
                <a:gridCol w="2517475"/>
              </a:tblGrid>
              <a:tr h="703350">
                <a:tc>
                  <a:txBody>
                    <a:bodyPr/>
                    <a:lstStyle/>
                    <a:p>
                      <a:pPr indent="0" lvl="0" marL="0" rtl="0" algn="l">
                        <a:spcBef>
                          <a:spcPts val="0"/>
                        </a:spcBef>
                        <a:spcAft>
                          <a:spcPts val="0"/>
                        </a:spcAft>
                        <a:buNone/>
                      </a:pPr>
                      <a:r>
                        <a:rPr b="1" lang="en-US" sz="1800">
                          <a:solidFill>
                            <a:srgbClr val="500000"/>
                          </a:solidFill>
                          <a:latin typeface="Open Sans ExtraBold"/>
                          <a:ea typeface="Open Sans ExtraBold"/>
                          <a:cs typeface="Open Sans ExtraBold"/>
                          <a:sym typeface="Open Sans ExtraBold"/>
                        </a:rPr>
                        <a:t>Solution</a:t>
                      </a:r>
                      <a:endParaRPr b="1" sz="1800">
                        <a:solidFill>
                          <a:srgbClr val="500000"/>
                        </a:solidFill>
                        <a:latin typeface="Open Sans ExtraBold"/>
                        <a:ea typeface="Open Sans ExtraBold"/>
                        <a:cs typeface="Open Sans ExtraBold"/>
                        <a:sym typeface="Open Sans ExtraBold"/>
                      </a:endParaRPr>
                    </a:p>
                  </a:txBody>
                  <a:tcPr marT="91425" marB="91425" marR="91425" marL="91425">
                    <a:solidFill>
                      <a:srgbClr val="D9D9D9"/>
                    </a:solidFill>
                  </a:tcPr>
                </a:tc>
                <a:tc>
                  <a:txBody>
                    <a:bodyPr/>
                    <a:lstStyle/>
                    <a:p>
                      <a:pPr indent="0" lvl="0" marL="0" rtl="0" algn="l">
                        <a:spcBef>
                          <a:spcPts val="0"/>
                        </a:spcBef>
                        <a:spcAft>
                          <a:spcPts val="0"/>
                        </a:spcAft>
                        <a:buNone/>
                      </a:pPr>
                      <a:r>
                        <a:rPr lang="en-US" sz="1800">
                          <a:solidFill>
                            <a:srgbClr val="500000"/>
                          </a:solidFill>
                          <a:latin typeface="Open Sans ExtraBold"/>
                          <a:ea typeface="Open Sans ExtraBold"/>
                          <a:cs typeface="Open Sans ExtraBold"/>
                          <a:sym typeface="Open Sans ExtraBold"/>
                        </a:rPr>
                        <a:t>Description</a:t>
                      </a:r>
                      <a:endParaRPr sz="1800">
                        <a:solidFill>
                          <a:srgbClr val="500000"/>
                        </a:solidFill>
                        <a:latin typeface="Open Sans ExtraBold"/>
                        <a:ea typeface="Open Sans ExtraBold"/>
                        <a:cs typeface="Open Sans ExtraBold"/>
                        <a:sym typeface="Open Sans ExtraBold"/>
                      </a:endParaRPr>
                    </a:p>
                  </a:txBody>
                  <a:tcPr marT="91425" marB="91425" marR="91425" marL="91425">
                    <a:solidFill>
                      <a:srgbClr val="D9D9D9"/>
                    </a:solidFill>
                  </a:tcPr>
                </a:tc>
                <a:tc>
                  <a:txBody>
                    <a:bodyPr/>
                    <a:lstStyle/>
                    <a:p>
                      <a:pPr indent="0" lvl="0" marL="0" rtl="0" algn="l">
                        <a:spcBef>
                          <a:spcPts val="0"/>
                        </a:spcBef>
                        <a:spcAft>
                          <a:spcPts val="0"/>
                        </a:spcAft>
                        <a:buNone/>
                      </a:pPr>
                      <a:r>
                        <a:rPr lang="en-US" sz="1800">
                          <a:solidFill>
                            <a:srgbClr val="500000"/>
                          </a:solidFill>
                          <a:latin typeface="Open Sans ExtraBold"/>
                          <a:ea typeface="Open Sans ExtraBold"/>
                          <a:cs typeface="Open Sans ExtraBold"/>
                          <a:sym typeface="Open Sans ExtraBold"/>
                        </a:rPr>
                        <a:t>Pros</a:t>
                      </a:r>
                      <a:endParaRPr sz="1800">
                        <a:solidFill>
                          <a:srgbClr val="500000"/>
                        </a:solidFill>
                        <a:latin typeface="Open Sans ExtraBold"/>
                        <a:ea typeface="Open Sans ExtraBold"/>
                        <a:cs typeface="Open Sans ExtraBold"/>
                        <a:sym typeface="Open Sans ExtraBold"/>
                      </a:endParaRPr>
                    </a:p>
                  </a:txBody>
                  <a:tcPr marT="91425" marB="91425" marR="91425" marL="91425">
                    <a:solidFill>
                      <a:srgbClr val="D9D9D9"/>
                    </a:solidFill>
                  </a:tcPr>
                </a:tc>
                <a:tc>
                  <a:txBody>
                    <a:bodyPr/>
                    <a:lstStyle/>
                    <a:p>
                      <a:pPr indent="0" lvl="0" marL="0" rtl="0" algn="l">
                        <a:spcBef>
                          <a:spcPts val="0"/>
                        </a:spcBef>
                        <a:spcAft>
                          <a:spcPts val="0"/>
                        </a:spcAft>
                        <a:buNone/>
                      </a:pPr>
                      <a:r>
                        <a:rPr lang="en-US" sz="1800">
                          <a:solidFill>
                            <a:srgbClr val="500000"/>
                          </a:solidFill>
                          <a:latin typeface="Open Sans ExtraBold"/>
                          <a:ea typeface="Open Sans ExtraBold"/>
                          <a:cs typeface="Open Sans ExtraBold"/>
                          <a:sym typeface="Open Sans ExtraBold"/>
                        </a:rPr>
                        <a:t>Cons</a:t>
                      </a:r>
                      <a:endParaRPr sz="1800">
                        <a:solidFill>
                          <a:srgbClr val="500000"/>
                        </a:solidFill>
                        <a:latin typeface="Open Sans ExtraBold"/>
                        <a:ea typeface="Open Sans ExtraBold"/>
                        <a:cs typeface="Open Sans ExtraBold"/>
                        <a:sym typeface="Open Sans ExtraBold"/>
                      </a:endParaRPr>
                    </a:p>
                  </a:txBody>
                  <a:tcPr marT="91425" marB="91425" marR="91425" marL="91425">
                    <a:solidFill>
                      <a:srgbClr val="D9D9D9"/>
                    </a:solidFill>
                  </a:tcPr>
                </a:tc>
              </a:tr>
              <a:tr h="1448150">
                <a:tc>
                  <a:txBody>
                    <a:bodyPr/>
                    <a:lstStyle/>
                    <a:p>
                      <a:pPr indent="0" lvl="0" marL="0" rtl="0" algn="l">
                        <a:spcBef>
                          <a:spcPts val="0"/>
                        </a:spcBef>
                        <a:spcAft>
                          <a:spcPts val="0"/>
                        </a:spcAft>
                        <a:buNone/>
                      </a:pPr>
                      <a:r>
                        <a:rPr b="1" lang="en-US" sz="1800">
                          <a:solidFill>
                            <a:srgbClr val="500000"/>
                          </a:solidFill>
                          <a:latin typeface="Open Sans ExtraBold"/>
                          <a:ea typeface="Open Sans ExtraBold"/>
                          <a:cs typeface="Open Sans ExtraBold"/>
                          <a:sym typeface="Open Sans ExtraBold"/>
                        </a:rPr>
                        <a:t>The Brinc Ball</a:t>
                      </a:r>
                      <a:endParaRPr sz="180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800">
                          <a:solidFill>
                            <a:srgbClr val="500000"/>
                          </a:solidFill>
                          <a:latin typeface="Open Sans"/>
                          <a:ea typeface="Open Sans"/>
                          <a:cs typeface="Open Sans"/>
                          <a:sym typeface="Open Sans"/>
                        </a:rPr>
                        <a:t>Throwable communication device that functions as a telephone</a:t>
                      </a:r>
                      <a:endParaRPr sz="1800">
                        <a:solidFill>
                          <a:srgbClr val="500000"/>
                        </a:solidFill>
                        <a:latin typeface="Open Sans"/>
                        <a:ea typeface="Open Sans"/>
                        <a:cs typeface="Open Sans"/>
                        <a:sym typeface="Open Sans"/>
                      </a:endParaRPr>
                    </a:p>
                    <a:p>
                      <a:pPr indent="-228600" lvl="0" marL="457200" rtl="0" algn="l">
                        <a:spcBef>
                          <a:spcPts val="0"/>
                        </a:spcBef>
                        <a:spcAft>
                          <a:spcPts val="0"/>
                        </a:spcAft>
                        <a:buNone/>
                      </a:pPr>
                      <a:r>
                        <a:t/>
                      </a:r>
                      <a:endParaRPr sz="1800">
                        <a:solidFill>
                          <a:srgbClr val="500000"/>
                        </a:solidFill>
                        <a:latin typeface="Open Sans"/>
                        <a:ea typeface="Open Sans"/>
                        <a:cs typeface="Open Sans"/>
                        <a:sym typeface="Open Sans"/>
                      </a:endParaRPr>
                    </a:p>
                  </a:txBody>
                  <a:tcPr marT="91425" marB="91425" marR="91425" marL="91425"/>
                </a:tc>
                <a:tc>
                  <a:txBody>
                    <a:bodyPr/>
                    <a:lstStyle/>
                    <a:p>
                      <a:pPr indent="0" lvl="0" marL="0" rtl="0" algn="l">
                        <a:spcBef>
                          <a:spcPts val="0"/>
                        </a:spcBef>
                        <a:spcAft>
                          <a:spcPts val="0"/>
                        </a:spcAft>
                        <a:buNone/>
                      </a:pPr>
                      <a:r>
                        <a:rPr lang="en-US" sz="1800">
                          <a:solidFill>
                            <a:srgbClr val="500000"/>
                          </a:solidFill>
                          <a:latin typeface="Open Sans"/>
                          <a:ea typeface="Open Sans"/>
                          <a:cs typeface="Open Sans"/>
                          <a:sym typeface="Open Sans"/>
                        </a:rPr>
                        <a:t>Capable of communicating with people inside dangerous area</a:t>
                      </a:r>
                      <a:endParaRPr sz="1800">
                        <a:solidFill>
                          <a:srgbClr val="500000"/>
                        </a:solidFill>
                        <a:latin typeface="Open Sans"/>
                        <a:ea typeface="Open Sans"/>
                        <a:cs typeface="Open Sans"/>
                        <a:sym typeface="Open Sans"/>
                      </a:endParaRPr>
                    </a:p>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rPr lang="en-US" sz="1800">
                          <a:solidFill>
                            <a:srgbClr val="500000"/>
                          </a:solidFill>
                          <a:latin typeface="Open Sans"/>
                          <a:ea typeface="Open Sans"/>
                          <a:cs typeface="Open Sans"/>
                          <a:sym typeface="Open Sans"/>
                        </a:rPr>
                        <a:t>Does not record video, scan environments, or generate maps</a:t>
                      </a:r>
                      <a:endParaRPr sz="1800"/>
                    </a:p>
                  </a:txBody>
                  <a:tcPr marT="91425" marB="91425" marR="91425" marL="91425"/>
                </a:tc>
              </a:tr>
              <a:tr h="1820550">
                <a:tc>
                  <a:txBody>
                    <a:bodyPr/>
                    <a:lstStyle/>
                    <a:p>
                      <a:pPr indent="0" lvl="0" marL="0" rtl="0" algn="l">
                        <a:spcBef>
                          <a:spcPts val="0"/>
                        </a:spcBef>
                        <a:spcAft>
                          <a:spcPts val="0"/>
                        </a:spcAft>
                        <a:buClr>
                          <a:schemeClr val="dk1"/>
                        </a:buClr>
                        <a:buSzPts val="1100"/>
                        <a:buFont typeface="Arial"/>
                        <a:buNone/>
                      </a:pPr>
                      <a:r>
                        <a:rPr b="1" lang="en-US" sz="1800">
                          <a:solidFill>
                            <a:srgbClr val="500000"/>
                          </a:solidFill>
                          <a:latin typeface="Open Sans ExtraBold"/>
                          <a:ea typeface="Open Sans ExtraBold"/>
                          <a:cs typeface="Open Sans ExtraBold"/>
                          <a:sym typeface="Open Sans ExtraBold"/>
                        </a:rPr>
                        <a:t>Bouncing Image Explorer 360</a:t>
                      </a:r>
                      <a:endParaRPr b="1" sz="1800">
                        <a:solidFill>
                          <a:srgbClr val="500000"/>
                        </a:solidFill>
                        <a:latin typeface="Open Sans ExtraBold"/>
                        <a:ea typeface="Open Sans ExtraBold"/>
                        <a:cs typeface="Open Sans ExtraBold"/>
                        <a:sym typeface="Open Sans ExtraBold"/>
                      </a:endParaRPr>
                    </a:p>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rPr lang="en-US" sz="1800">
                          <a:solidFill>
                            <a:srgbClr val="500000"/>
                          </a:solidFill>
                          <a:latin typeface="Open Sans"/>
                          <a:ea typeface="Open Sans"/>
                          <a:cs typeface="Open Sans"/>
                          <a:sym typeface="Open Sans"/>
                        </a:rPr>
                        <a:t>Throwable 360° tactical ball camera with live phone streaming (WiFi &amp; Cellular)</a:t>
                      </a:r>
                      <a:endParaRPr sz="1800">
                        <a:solidFill>
                          <a:srgbClr val="500000"/>
                        </a:solidFill>
                        <a:latin typeface="Open Sans"/>
                        <a:ea typeface="Open Sans"/>
                        <a:cs typeface="Open Sans"/>
                        <a:sym typeface="Open Sans"/>
                      </a:endParaRPr>
                    </a:p>
                    <a:p>
                      <a:pPr indent="-228600" lvl="0" marL="457200" rtl="0" algn="l">
                        <a:spcBef>
                          <a:spcPts val="0"/>
                        </a:spcBef>
                        <a:spcAft>
                          <a:spcPts val="0"/>
                        </a:spcAft>
                        <a:buNone/>
                      </a:pPr>
                      <a:r>
                        <a:t/>
                      </a:r>
                      <a:endParaRPr sz="1800">
                        <a:solidFill>
                          <a:srgbClr val="500000"/>
                        </a:solidFill>
                        <a:latin typeface="Open Sans"/>
                        <a:ea typeface="Open Sans"/>
                        <a:cs typeface="Open Sans"/>
                        <a:sym typeface="Open Sans"/>
                      </a:endParaRPr>
                    </a:p>
                  </a:txBody>
                  <a:tcPr marT="91425" marB="91425" marR="91425" marL="91425"/>
                </a:tc>
                <a:tc>
                  <a:txBody>
                    <a:bodyPr/>
                    <a:lstStyle/>
                    <a:p>
                      <a:pPr indent="0" lvl="0" marL="0" rtl="0" algn="l">
                        <a:spcBef>
                          <a:spcPts val="0"/>
                        </a:spcBef>
                        <a:spcAft>
                          <a:spcPts val="0"/>
                        </a:spcAft>
                        <a:buNone/>
                      </a:pPr>
                      <a:r>
                        <a:rPr lang="en-US" sz="1800">
                          <a:solidFill>
                            <a:srgbClr val="500000"/>
                          </a:solidFill>
                          <a:latin typeface="Open Sans"/>
                          <a:ea typeface="Open Sans"/>
                          <a:cs typeface="Open Sans"/>
                          <a:sym typeface="Open Sans"/>
                        </a:rPr>
                        <a:t>Compact, durable, and capable of window impact deployment</a:t>
                      </a:r>
                      <a:endParaRPr sz="1800">
                        <a:solidFill>
                          <a:srgbClr val="500000"/>
                        </a:solidFill>
                        <a:latin typeface="Open Sans"/>
                        <a:ea typeface="Open Sans"/>
                        <a:cs typeface="Open Sans"/>
                        <a:sym typeface="Open Sans"/>
                      </a:endParaRPr>
                    </a:p>
                  </a:txBody>
                  <a:tcPr marT="91425" marB="91425" marR="91425" marL="91425"/>
                </a:tc>
                <a:tc>
                  <a:txBody>
                    <a:bodyPr/>
                    <a:lstStyle/>
                    <a:p>
                      <a:pPr indent="0" lvl="0" marL="0" rtl="0" algn="l">
                        <a:spcBef>
                          <a:spcPts val="0"/>
                        </a:spcBef>
                        <a:spcAft>
                          <a:spcPts val="0"/>
                        </a:spcAft>
                        <a:buNone/>
                      </a:pPr>
                      <a:r>
                        <a:rPr lang="en-US" sz="1800">
                          <a:solidFill>
                            <a:srgbClr val="500000"/>
                          </a:solidFill>
                          <a:latin typeface="Open Sans"/>
                          <a:ea typeface="Open Sans"/>
                          <a:cs typeface="Open Sans"/>
                          <a:sym typeface="Open Sans"/>
                        </a:rPr>
                        <a:t>No depth reconstruction (manual viewing only); high cost ($4k–$7k)</a:t>
                      </a:r>
                      <a:endParaRPr sz="1800"/>
                    </a:p>
                  </a:txBody>
                  <a:tcPr marT="91425" marB="91425" marR="91425" marL="91425"/>
                </a:tc>
              </a:tr>
              <a:tr h="1448150">
                <a:tc>
                  <a:txBody>
                    <a:bodyPr/>
                    <a:lstStyle/>
                    <a:p>
                      <a:pPr indent="0" lvl="0" marL="0" rtl="0" algn="l">
                        <a:spcBef>
                          <a:spcPts val="0"/>
                        </a:spcBef>
                        <a:spcAft>
                          <a:spcPts val="0"/>
                        </a:spcAft>
                        <a:buClr>
                          <a:schemeClr val="dk1"/>
                        </a:buClr>
                        <a:buSzPts val="1100"/>
                        <a:buFont typeface="Arial"/>
                        <a:buNone/>
                      </a:pPr>
                      <a:r>
                        <a:rPr b="1" lang="en-US" sz="1800">
                          <a:solidFill>
                            <a:srgbClr val="500000"/>
                          </a:solidFill>
                          <a:latin typeface="Open Sans ExtraBold"/>
                          <a:ea typeface="Open Sans ExtraBold"/>
                          <a:cs typeface="Open Sans ExtraBold"/>
                          <a:sym typeface="Open Sans ExtraBold"/>
                        </a:rPr>
                        <a:t>Squishy Robotics Stationary Robot</a:t>
                      </a:r>
                      <a:endParaRPr sz="1800"/>
                    </a:p>
                  </a:txBody>
                  <a:tcPr marT="91425" marB="91425" marR="91425" marL="91425"/>
                </a:tc>
                <a:tc>
                  <a:txBody>
                    <a:bodyPr/>
                    <a:lstStyle/>
                    <a:p>
                      <a:pPr indent="0" lvl="0" marL="0" rtl="0" algn="l">
                        <a:spcBef>
                          <a:spcPts val="0"/>
                        </a:spcBef>
                        <a:spcAft>
                          <a:spcPts val="0"/>
                        </a:spcAft>
                        <a:buNone/>
                      </a:pPr>
                      <a:r>
                        <a:rPr lang="en-US" sz="1800">
                          <a:solidFill>
                            <a:srgbClr val="500000"/>
                          </a:solidFill>
                          <a:latin typeface="Open Sans"/>
                          <a:ea typeface="Open Sans"/>
                          <a:cs typeface="Open Sans"/>
                          <a:sym typeface="Open Sans"/>
                        </a:rPr>
                        <a:t>A</a:t>
                      </a:r>
                      <a:r>
                        <a:rPr lang="en-US" sz="1800">
                          <a:solidFill>
                            <a:srgbClr val="500000"/>
                          </a:solidFill>
                          <a:latin typeface="Open Sans"/>
                          <a:ea typeface="Open Sans"/>
                          <a:cs typeface="Open Sans"/>
                          <a:sym typeface="Open Sans"/>
                        </a:rPr>
                        <a:t>erial-deployable multi-sensor response device with 360 camera</a:t>
                      </a:r>
                      <a:endParaRPr sz="1800">
                        <a:solidFill>
                          <a:srgbClr val="500000"/>
                        </a:solidFill>
                        <a:latin typeface="Open Sans"/>
                        <a:ea typeface="Open Sans"/>
                        <a:cs typeface="Open Sans"/>
                        <a:sym typeface="Open Sans"/>
                      </a:endParaRPr>
                    </a:p>
                  </a:txBody>
                  <a:tcPr marT="91425" marB="91425" marR="91425" marL="91425"/>
                </a:tc>
                <a:tc>
                  <a:txBody>
                    <a:bodyPr/>
                    <a:lstStyle/>
                    <a:p>
                      <a:pPr indent="0" lvl="0" marL="0" rtl="0" algn="l">
                        <a:spcBef>
                          <a:spcPts val="0"/>
                        </a:spcBef>
                        <a:spcAft>
                          <a:spcPts val="0"/>
                        </a:spcAft>
                        <a:buNone/>
                      </a:pPr>
                      <a:r>
                        <a:rPr lang="en-US" sz="1800">
                          <a:solidFill>
                            <a:srgbClr val="500000"/>
                          </a:solidFill>
                          <a:latin typeface="Open Sans"/>
                          <a:ea typeface="Open Sans"/>
                          <a:cs typeface="Open Sans"/>
                          <a:sym typeface="Open Sans"/>
                        </a:rPr>
                        <a:t>Highly impact-tolerant; designed for hazardous and disaster environments</a:t>
                      </a:r>
                      <a:endParaRPr sz="1800">
                        <a:solidFill>
                          <a:srgbClr val="500000"/>
                        </a:solidFill>
                        <a:latin typeface="Open Sans"/>
                        <a:ea typeface="Open Sans"/>
                        <a:cs typeface="Open Sans"/>
                        <a:sym typeface="Open Sans"/>
                      </a:endParaRPr>
                    </a:p>
                  </a:txBody>
                  <a:tcPr marT="91425" marB="91425" marR="91425" marL="91425"/>
                </a:tc>
                <a:tc>
                  <a:txBody>
                    <a:bodyPr/>
                    <a:lstStyle/>
                    <a:p>
                      <a:pPr indent="0" lvl="0" marL="0" rtl="0" algn="l">
                        <a:spcBef>
                          <a:spcPts val="0"/>
                        </a:spcBef>
                        <a:spcAft>
                          <a:spcPts val="0"/>
                        </a:spcAft>
                        <a:buNone/>
                      </a:pPr>
                      <a:r>
                        <a:rPr lang="en-US" sz="1800">
                          <a:solidFill>
                            <a:srgbClr val="500000"/>
                          </a:solidFill>
                          <a:latin typeface="Open Sans"/>
                          <a:ea typeface="Open Sans"/>
                          <a:cs typeface="Open Sans"/>
                          <a:sym typeface="Open Sans"/>
                        </a:rPr>
                        <a:t>Stationary operation; complex and high-cost system</a:t>
                      </a:r>
                      <a:endParaRPr sz="1800"/>
                    </a:p>
                  </a:txBody>
                  <a:tcPr marT="91425" marB="91425" marR="91425" marL="914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3bea363fe22_0_0"/>
          <p:cNvSpPr txBox="1"/>
          <p:nvPr>
            <p:ph type="title"/>
          </p:nvPr>
        </p:nvSpPr>
        <p:spPr>
          <a:xfrm>
            <a:off x="609600" y="238118"/>
            <a:ext cx="10972800" cy="8937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00000"/>
              </a:buClr>
              <a:buSzPts val="4400"/>
              <a:buFont typeface="Oswald Medium"/>
              <a:buNone/>
            </a:pPr>
            <a:r>
              <a:rPr lang="en-US">
                <a:solidFill>
                  <a:schemeClr val="lt1"/>
                </a:solidFill>
              </a:rPr>
              <a:t>Literature Review</a:t>
            </a:r>
            <a:endParaRPr>
              <a:solidFill>
                <a:schemeClr val="lt1"/>
              </a:solidFill>
            </a:endParaRPr>
          </a:p>
        </p:txBody>
      </p:sp>
      <p:graphicFrame>
        <p:nvGraphicFramePr>
          <p:cNvPr id="121" name="Google Shape;121;g3bea363fe22_0_0"/>
          <p:cNvGraphicFramePr/>
          <p:nvPr/>
        </p:nvGraphicFramePr>
        <p:xfrm>
          <a:off x="256050" y="1131825"/>
          <a:ext cx="3000000" cy="3000000"/>
        </p:xfrm>
        <a:graphic>
          <a:graphicData uri="http://schemas.openxmlformats.org/drawingml/2006/table">
            <a:tbl>
              <a:tblPr>
                <a:noFill/>
                <a:tableStyleId>{FD26A37F-556E-48F0-B075-F9ACD07589E8}</a:tableStyleId>
              </a:tblPr>
              <a:tblGrid>
                <a:gridCol w="2943900"/>
                <a:gridCol w="3122700"/>
                <a:gridCol w="3008925"/>
                <a:gridCol w="2588100"/>
              </a:tblGrid>
              <a:tr h="701675">
                <a:tc>
                  <a:txBody>
                    <a:bodyPr/>
                    <a:lstStyle/>
                    <a:p>
                      <a:pPr indent="0" lvl="0" marL="0" rtl="0" algn="l">
                        <a:spcBef>
                          <a:spcPts val="0"/>
                        </a:spcBef>
                        <a:spcAft>
                          <a:spcPts val="0"/>
                        </a:spcAft>
                        <a:buNone/>
                      </a:pPr>
                      <a:r>
                        <a:rPr b="1" lang="en-US" sz="1800">
                          <a:solidFill>
                            <a:srgbClr val="500000"/>
                          </a:solidFill>
                          <a:latin typeface="Open Sans ExtraBold"/>
                          <a:ea typeface="Open Sans ExtraBold"/>
                          <a:cs typeface="Open Sans ExtraBold"/>
                          <a:sym typeface="Open Sans ExtraBold"/>
                        </a:rPr>
                        <a:t>Solution</a:t>
                      </a:r>
                      <a:endParaRPr b="1" sz="1800">
                        <a:solidFill>
                          <a:srgbClr val="500000"/>
                        </a:solidFill>
                        <a:latin typeface="Open Sans ExtraBold"/>
                        <a:ea typeface="Open Sans ExtraBold"/>
                        <a:cs typeface="Open Sans ExtraBold"/>
                        <a:sym typeface="Open Sans ExtraBold"/>
                      </a:endParaRPr>
                    </a:p>
                  </a:txBody>
                  <a:tcPr marT="91425" marB="91425" marR="91425" marL="91425">
                    <a:solidFill>
                      <a:srgbClr val="D9D9D9"/>
                    </a:solidFill>
                  </a:tcPr>
                </a:tc>
                <a:tc>
                  <a:txBody>
                    <a:bodyPr/>
                    <a:lstStyle/>
                    <a:p>
                      <a:pPr indent="0" lvl="0" marL="0" rtl="0" algn="l">
                        <a:spcBef>
                          <a:spcPts val="0"/>
                        </a:spcBef>
                        <a:spcAft>
                          <a:spcPts val="0"/>
                        </a:spcAft>
                        <a:buNone/>
                      </a:pPr>
                      <a:r>
                        <a:rPr lang="en-US" sz="1800">
                          <a:solidFill>
                            <a:srgbClr val="500000"/>
                          </a:solidFill>
                          <a:latin typeface="Open Sans ExtraBold"/>
                          <a:ea typeface="Open Sans ExtraBold"/>
                          <a:cs typeface="Open Sans ExtraBold"/>
                          <a:sym typeface="Open Sans ExtraBold"/>
                        </a:rPr>
                        <a:t>Description</a:t>
                      </a:r>
                      <a:endParaRPr sz="1800">
                        <a:solidFill>
                          <a:srgbClr val="500000"/>
                        </a:solidFill>
                        <a:latin typeface="Open Sans ExtraBold"/>
                        <a:ea typeface="Open Sans ExtraBold"/>
                        <a:cs typeface="Open Sans ExtraBold"/>
                        <a:sym typeface="Open Sans ExtraBold"/>
                      </a:endParaRPr>
                    </a:p>
                  </a:txBody>
                  <a:tcPr marT="91425" marB="91425" marR="91425" marL="91425">
                    <a:solidFill>
                      <a:srgbClr val="D9D9D9"/>
                    </a:solidFill>
                  </a:tcPr>
                </a:tc>
                <a:tc>
                  <a:txBody>
                    <a:bodyPr/>
                    <a:lstStyle/>
                    <a:p>
                      <a:pPr indent="0" lvl="0" marL="0" rtl="0" algn="l">
                        <a:spcBef>
                          <a:spcPts val="0"/>
                        </a:spcBef>
                        <a:spcAft>
                          <a:spcPts val="0"/>
                        </a:spcAft>
                        <a:buNone/>
                      </a:pPr>
                      <a:r>
                        <a:rPr lang="en-US" sz="1800">
                          <a:solidFill>
                            <a:srgbClr val="500000"/>
                          </a:solidFill>
                          <a:latin typeface="Open Sans ExtraBold"/>
                          <a:ea typeface="Open Sans ExtraBold"/>
                          <a:cs typeface="Open Sans ExtraBold"/>
                          <a:sym typeface="Open Sans ExtraBold"/>
                        </a:rPr>
                        <a:t>Pros</a:t>
                      </a:r>
                      <a:endParaRPr sz="1800">
                        <a:solidFill>
                          <a:srgbClr val="500000"/>
                        </a:solidFill>
                        <a:latin typeface="Open Sans ExtraBold"/>
                        <a:ea typeface="Open Sans ExtraBold"/>
                        <a:cs typeface="Open Sans ExtraBold"/>
                        <a:sym typeface="Open Sans ExtraBold"/>
                      </a:endParaRPr>
                    </a:p>
                  </a:txBody>
                  <a:tcPr marT="91425" marB="91425" marR="91425" marL="91425">
                    <a:solidFill>
                      <a:srgbClr val="D9D9D9"/>
                    </a:solidFill>
                  </a:tcPr>
                </a:tc>
                <a:tc>
                  <a:txBody>
                    <a:bodyPr/>
                    <a:lstStyle/>
                    <a:p>
                      <a:pPr indent="0" lvl="0" marL="0" rtl="0" algn="l">
                        <a:spcBef>
                          <a:spcPts val="0"/>
                        </a:spcBef>
                        <a:spcAft>
                          <a:spcPts val="0"/>
                        </a:spcAft>
                        <a:buNone/>
                      </a:pPr>
                      <a:r>
                        <a:rPr lang="en-US" sz="1800">
                          <a:solidFill>
                            <a:srgbClr val="500000"/>
                          </a:solidFill>
                          <a:latin typeface="Open Sans ExtraBold"/>
                          <a:ea typeface="Open Sans ExtraBold"/>
                          <a:cs typeface="Open Sans ExtraBold"/>
                          <a:sym typeface="Open Sans ExtraBold"/>
                        </a:rPr>
                        <a:t>Cons</a:t>
                      </a:r>
                      <a:endParaRPr sz="1800">
                        <a:solidFill>
                          <a:srgbClr val="500000"/>
                        </a:solidFill>
                        <a:latin typeface="Open Sans ExtraBold"/>
                        <a:ea typeface="Open Sans ExtraBold"/>
                        <a:cs typeface="Open Sans ExtraBold"/>
                        <a:sym typeface="Open Sans ExtraBold"/>
                      </a:endParaRPr>
                    </a:p>
                  </a:txBody>
                  <a:tcPr marT="91425" marB="91425" marR="91425" marL="91425">
                    <a:solidFill>
                      <a:srgbClr val="D9D9D9"/>
                    </a:solidFill>
                  </a:tcPr>
                </a:tc>
              </a:tr>
              <a:tr h="2134775">
                <a:tc>
                  <a:txBody>
                    <a:bodyPr/>
                    <a:lstStyle/>
                    <a:p>
                      <a:pPr indent="0" lvl="0" marL="0" rtl="0" algn="l">
                        <a:spcBef>
                          <a:spcPts val="0"/>
                        </a:spcBef>
                        <a:spcAft>
                          <a:spcPts val="0"/>
                        </a:spcAft>
                        <a:buClr>
                          <a:srgbClr val="500000"/>
                        </a:buClr>
                        <a:buSzPts val="2200"/>
                        <a:buFont typeface="Arial"/>
                        <a:buNone/>
                      </a:pPr>
                      <a:r>
                        <a:rPr b="1" lang="en-US" sz="1800">
                          <a:solidFill>
                            <a:srgbClr val="500000"/>
                          </a:solidFill>
                          <a:latin typeface="Open Sans ExtraBold"/>
                          <a:ea typeface="Open Sans ExtraBold"/>
                          <a:cs typeface="Open Sans ExtraBold"/>
                          <a:sym typeface="Open Sans ExtraBold"/>
                        </a:rPr>
                        <a:t>Recon </a:t>
                      </a:r>
                      <a:r>
                        <a:rPr lang="en-US" sz="1800">
                          <a:solidFill>
                            <a:srgbClr val="500000"/>
                          </a:solidFill>
                          <a:latin typeface="Open Sans ExtraBold"/>
                          <a:ea typeface="Open Sans ExtraBold"/>
                          <a:cs typeface="Open Sans ExtraBold"/>
                          <a:sym typeface="Open Sans ExtraBold"/>
                        </a:rPr>
                        <a:t>Robotics Throwbot</a:t>
                      </a:r>
                      <a:endParaRPr sz="1800">
                        <a:solidFill>
                          <a:srgbClr val="500000"/>
                        </a:solidFill>
                        <a:latin typeface="Open Sans ExtraBold"/>
                        <a:ea typeface="Open Sans ExtraBold"/>
                        <a:cs typeface="Open Sans ExtraBold"/>
                        <a:sym typeface="Open Sans ExtraBold"/>
                      </a:endParaRPr>
                    </a:p>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rPr lang="en-US" sz="1800">
                          <a:solidFill>
                            <a:srgbClr val="500000"/>
                          </a:solidFill>
                          <a:latin typeface="Open Sans"/>
                          <a:ea typeface="Open Sans"/>
                          <a:cs typeface="Open Sans"/>
                          <a:sym typeface="Open Sans"/>
                        </a:rPr>
                        <a:t>Compact wheeled surveillance robot for live video and audio</a:t>
                      </a:r>
                      <a:endParaRPr sz="1800">
                        <a:solidFill>
                          <a:schemeClr val="dk1"/>
                        </a:solidFill>
                      </a:endParaRPr>
                    </a:p>
                    <a:p>
                      <a:pPr indent="-228600" lvl="0" marL="457200" rtl="0" algn="l">
                        <a:spcBef>
                          <a:spcPts val="0"/>
                        </a:spcBef>
                        <a:spcAft>
                          <a:spcPts val="0"/>
                        </a:spcAft>
                        <a:buNone/>
                      </a:pPr>
                      <a:r>
                        <a:t/>
                      </a:r>
                      <a:endParaRPr sz="1800">
                        <a:solidFill>
                          <a:srgbClr val="500000"/>
                        </a:solidFill>
                        <a:latin typeface="Open Sans"/>
                        <a:ea typeface="Open Sans"/>
                        <a:cs typeface="Open Sans"/>
                        <a:sym typeface="Open Sans"/>
                      </a:endParaRPr>
                    </a:p>
                  </a:txBody>
                  <a:tcPr marT="91425" marB="91425" marR="91425" marL="91425"/>
                </a:tc>
                <a:tc>
                  <a:txBody>
                    <a:bodyPr/>
                    <a:lstStyle/>
                    <a:p>
                      <a:pPr indent="0" lvl="0" marL="0" rtl="0" algn="l">
                        <a:spcBef>
                          <a:spcPts val="0"/>
                        </a:spcBef>
                        <a:spcAft>
                          <a:spcPts val="0"/>
                        </a:spcAft>
                        <a:buNone/>
                      </a:pPr>
                      <a:r>
                        <a:rPr lang="en-US" sz="1800">
                          <a:solidFill>
                            <a:srgbClr val="500000"/>
                          </a:solidFill>
                          <a:latin typeface="Open Sans"/>
                          <a:ea typeface="Open Sans"/>
                          <a:cs typeface="Open Sans"/>
                          <a:sym typeface="Open Sans"/>
                        </a:rPr>
                        <a:t>Extremely durable (30-ft drops, 120-ft throws) and provides instant video &amp; audio of environment</a:t>
                      </a:r>
                      <a:endParaRPr sz="1800">
                        <a:solidFill>
                          <a:srgbClr val="500000"/>
                        </a:solidFill>
                        <a:latin typeface="Open Sans"/>
                        <a:ea typeface="Open Sans"/>
                        <a:cs typeface="Open Sans"/>
                        <a:sym typeface="Open Sans"/>
                      </a:endParaRPr>
                    </a:p>
                  </a:txBody>
                  <a:tcPr marT="91425" marB="91425" marR="91425" marL="91425"/>
                </a:tc>
                <a:tc>
                  <a:txBody>
                    <a:bodyPr/>
                    <a:lstStyle/>
                    <a:p>
                      <a:pPr indent="0" lvl="0" marL="0" rtl="0" algn="l">
                        <a:spcBef>
                          <a:spcPts val="0"/>
                        </a:spcBef>
                        <a:spcAft>
                          <a:spcPts val="0"/>
                        </a:spcAft>
                        <a:buNone/>
                      </a:pPr>
                      <a:r>
                        <a:rPr lang="en-US" sz="1800">
                          <a:solidFill>
                            <a:srgbClr val="500000"/>
                          </a:solidFill>
                          <a:latin typeface="Open Sans"/>
                          <a:ea typeface="Open Sans"/>
                          <a:cs typeface="Open Sans"/>
                          <a:sym typeface="Open Sans"/>
                        </a:rPr>
                        <a:t>Requires training to operate and has only one camera angle</a:t>
                      </a:r>
                      <a:endParaRPr sz="1800"/>
                    </a:p>
                  </a:txBody>
                  <a:tcPr marT="91425" marB="91425" marR="91425" marL="91425"/>
                </a:tc>
              </a:tr>
              <a:tr h="1985000">
                <a:tc>
                  <a:txBody>
                    <a:bodyPr/>
                    <a:lstStyle/>
                    <a:p>
                      <a:pPr indent="0" lvl="0" marL="0" rtl="0" algn="l">
                        <a:spcBef>
                          <a:spcPts val="0"/>
                        </a:spcBef>
                        <a:spcAft>
                          <a:spcPts val="0"/>
                        </a:spcAft>
                        <a:buClr>
                          <a:schemeClr val="dk1"/>
                        </a:buClr>
                        <a:buSzPts val="1100"/>
                        <a:buFont typeface="Arial"/>
                        <a:buNone/>
                      </a:pPr>
                      <a:r>
                        <a:rPr b="1" lang="en-US" sz="1800">
                          <a:solidFill>
                            <a:srgbClr val="500000"/>
                          </a:solidFill>
                          <a:latin typeface="Open Sans ExtraBold"/>
                          <a:ea typeface="Open Sans ExtraBold"/>
                          <a:cs typeface="Open Sans ExtraBold"/>
                          <a:sym typeface="Open Sans ExtraBold"/>
                        </a:rPr>
                        <a:t>Flyability Elios 3 (Surveying Payload)</a:t>
                      </a:r>
                      <a:endParaRPr b="1" sz="1800">
                        <a:solidFill>
                          <a:srgbClr val="500000"/>
                        </a:solidFill>
                        <a:latin typeface="Open Sans ExtraBold"/>
                        <a:ea typeface="Open Sans ExtraBold"/>
                        <a:cs typeface="Open Sans ExtraBold"/>
                        <a:sym typeface="Open Sans ExtraBold"/>
                      </a:endParaRPr>
                    </a:p>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rPr lang="en-US" sz="1800">
                          <a:solidFill>
                            <a:srgbClr val="500000"/>
                          </a:solidFill>
                          <a:latin typeface="Open Sans"/>
                          <a:ea typeface="Open Sans"/>
                          <a:cs typeface="Open Sans"/>
                          <a:sym typeface="Open Sans"/>
                        </a:rPr>
                        <a:t>Collision-tolerant indoor drone</a:t>
                      </a:r>
                      <a:endParaRPr sz="1800">
                        <a:solidFill>
                          <a:srgbClr val="500000"/>
                        </a:solidFill>
                        <a:latin typeface="Open Sans"/>
                        <a:ea typeface="Open Sans"/>
                        <a:cs typeface="Open Sans"/>
                        <a:sym typeface="Open Sans"/>
                      </a:endParaRPr>
                    </a:p>
                    <a:p>
                      <a:pPr indent="0" lvl="0" marL="0" rtl="0" algn="l">
                        <a:spcBef>
                          <a:spcPts val="0"/>
                        </a:spcBef>
                        <a:spcAft>
                          <a:spcPts val="0"/>
                        </a:spcAft>
                        <a:buNone/>
                      </a:pPr>
                      <a:r>
                        <a:rPr lang="en-US" sz="1800">
                          <a:solidFill>
                            <a:srgbClr val="500000"/>
                          </a:solidFill>
                          <a:latin typeface="Open Sans"/>
                          <a:ea typeface="Open Sans"/>
                          <a:cs typeface="Open Sans"/>
                          <a:sym typeface="Open Sans"/>
                        </a:rPr>
                        <a:t>designed for inspection,</a:t>
                      </a:r>
                      <a:endParaRPr sz="1800">
                        <a:solidFill>
                          <a:srgbClr val="500000"/>
                        </a:solidFill>
                        <a:latin typeface="Open Sans"/>
                        <a:ea typeface="Open Sans"/>
                        <a:cs typeface="Open Sans"/>
                        <a:sym typeface="Open Sans"/>
                      </a:endParaRPr>
                    </a:p>
                    <a:p>
                      <a:pPr indent="0" lvl="0" marL="0" rtl="0" algn="l">
                        <a:spcBef>
                          <a:spcPts val="0"/>
                        </a:spcBef>
                        <a:spcAft>
                          <a:spcPts val="0"/>
                        </a:spcAft>
                        <a:buNone/>
                      </a:pPr>
                      <a:r>
                        <a:rPr lang="en-US" sz="1800">
                          <a:solidFill>
                            <a:srgbClr val="500000"/>
                          </a:solidFill>
                          <a:latin typeface="Open Sans"/>
                          <a:ea typeface="Open Sans"/>
                          <a:cs typeface="Open Sans"/>
                          <a:sym typeface="Open Sans"/>
                        </a:rPr>
                        <a:t>mapping, and 3D environment</a:t>
                      </a:r>
                      <a:endParaRPr sz="1800">
                        <a:solidFill>
                          <a:srgbClr val="500000"/>
                        </a:solidFill>
                        <a:latin typeface="Open Sans"/>
                        <a:ea typeface="Open Sans"/>
                        <a:cs typeface="Open Sans"/>
                        <a:sym typeface="Open Sans"/>
                      </a:endParaRPr>
                    </a:p>
                    <a:p>
                      <a:pPr indent="0" lvl="0" marL="0" rtl="0" algn="l">
                        <a:spcBef>
                          <a:spcPts val="0"/>
                        </a:spcBef>
                        <a:spcAft>
                          <a:spcPts val="0"/>
                        </a:spcAft>
                        <a:buNone/>
                      </a:pPr>
                      <a:r>
                        <a:rPr lang="en-US" sz="1800">
                          <a:solidFill>
                            <a:srgbClr val="500000"/>
                          </a:solidFill>
                          <a:latin typeface="Open Sans"/>
                          <a:ea typeface="Open Sans"/>
                          <a:cs typeface="Open Sans"/>
                          <a:sym typeface="Open Sans"/>
                        </a:rPr>
                        <a:t>reconstruction</a:t>
                      </a:r>
                      <a:endParaRPr sz="1800">
                        <a:solidFill>
                          <a:srgbClr val="500000"/>
                        </a:solidFill>
                        <a:latin typeface="Open Sans"/>
                        <a:ea typeface="Open Sans"/>
                        <a:cs typeface="Open Sans"/>
                        <a:sym typeface="Open Sans"/>
                      </a:endParaRPr>
                    </a:p>
                    <a:p>
                      <a:pPr indent="-228600" lvl="0" marL="457200" rtl="0" algn="l">
                        <a:spcBef>
                          <a:spcPts val="0"/>
                        </a:spcBef>
                        <a:spcAft>
                          <a:spcPts val="0"/>
                        </a:spcAft>
                        <a:buNone/>
                      </a:pPr>
                      <a:r>
                        <a:t/>
                      </a:r>
                      <a:endParaRPr sz="1800">
                        <a:solidFill>
                          <a:srgbClr val="500000"/>
                        </a:solidFill>
                        <a:latin typeface="Open Sans"/>
                        <a:ea typeface="Open Sans"/>
                        <a:cs typeface="Open Sans"/>
                        <a:sym typeface="Open Sans"/>
                      </a:endParaRPr>
                    </a:p>
                  </a:txBody>
                  <a:tcPr marT="91425" marB="91425" marR="91425" marL="91425"/>
                </a:tc>
                <a:tc>
                  <a:txBody>
                    <a:bodyPr/>
                    <a:lstStyle/>
                    <a:p>
                      <a:pPr indent="0" lvl="0" marL="0" rtl="0" algn="l">
                        <a:spcBef>
                          <a:spcPts val="0"/>
                        </a:spcBef>
                        <a:spcAft>
                          <a:spcPts val="0"/>
                        </a:spcAft>
                        <a:buNone/>
                      </a:pPr>
                      <a:r>
                        <a:rPr lang="en-US" sz="1800">
                          <a:solidFill>
                            <a:srgbClr val="500000"/>
                          </a:solidFill>
                          <a:latin typeface="Open Sans"/>
                          <a:ea typeface="Open Sans"/>
                          <a:cs typeface="Open Sans"/>
                          <a:sym typeface="Open Sans"/>
                        </a:rPr>
                        <a:t>Can actively navigate complex or obstructed spaces</a:t>
                      </a:r>
                      <a:endParaRPr sz="1800">
                        <a:solidFill>
                          <a:srgbClr val="500000"/>
                        </a:solidFill>
                        <a:latin typeface="Open Sans"/>
                        <a:ea typeface="Open Sans"/>
                        <a:cs typeface="Open Sans"/>
                        <a:sym typeface="Open Sans"/>
                      </a:endParaRPr>
                    </a:p>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rPr lang="en-US" sz="1800">
                          <a:solidFill>
                            <a:srgbClr val="500000"/>
                          </a:solidFill>
                          <a:latin typeface="Open Sans"/>
                          <a:ea typeface="Open Sans"/>
                          <a:cs typeface="Open Sans"/>
                          <a:sym typeface="Open Sans"/>
                        </a:rPr>
                        <a:t>Not throwable, requires skilled operation, and is high-cost industrial hardware</a:t>
                      </a:r>
                      <a:endParaRPr sz="1800"/>
                    </a:p>
                  </a:txBody>
                  <a:tcPr marT="91425" marB="91425" marR="91425" marL="914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bd96a98101_0_19"/>
          <p:cNvSpPr txBox="1"/>
          <p:nvPr>
            <p:ph idx="1" type="body"/>
          </p:nvPr>
        </p:nvSpPr>
        <p:spPr>
          <a:xfrm>
            <a:off x="609600" y="1388375"/>
            <a:ext cx="10400400" cy="5016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970"/>
              <a:t>Performance Requirements</a:t>
            </a:r>
            <a:endParaRPr sz="1970"/>
          </a:p>
          <a:p>
            <a:pPr indent="-353695" lvl="0" marL="457200" rtl="0" algn="l">
              <a:lnSpc>
                <a:spcPct val="100000"/>
              </a:lnSpc>
              <a:spcBef>
                <a:spcPts val="0"/>
              </a:spcBef>
              <a:spcAft>
                <a:spcPts val="0"/>
              </a:spcAft>
              <a:buSzPts val="1970"/>
              <a:buFont typeface="Open Sans"/>
              <a:buChar char="•"/>
            </a:pPr>
            <a:r>
              <a:rPr b="0" lang="en-US" sz="1970">
                <a:latin typeface="Open Sans"/>
                <a:ea typeface="Open Sans"/>
                <a:cs typeface="Open Sans"/>
                <a:sym typeface="Open Sans"/>
              </a:rPr>
              <a:t>3D model generation must complete in </a:t>
            </a:r>
            <a:r>
              <a:rPr b="0" lang="en-US" sz="1970">
                <a:latin typeface="Open Sans"/>
                <a:ea typeface="Open Sans"/>
                <a:cs typeface="Open Sans"/>
                <a:sym typeface="Open Sans"/>
              </a:rPr>
              <a:t>﹤30 seconds from capture to visualization, requiring GPU-accelerated SLAM and Gaussian Splatting on remote server</a:t>
            </a:r>
            <a:endParaRPr b="0" sz="1970">
              <a:latin typeface="Open Sans"/>
              <a:ea typeface="Open Sans"/>
              <a:cs typeface="Open Sans"/>
              <a:sym typeface="Open Sans"/>
            </a:endParaRPr>
          </a:p>
          <a:p>
            <a:pPr indent="-353695" lvl="0" marL="457200" rtl="0" algn="l">
              <a:lnSpc>
                <a:spcPct val="100000"/>
              </a:lnSpc>
              <a:spcBef>
                <a:spcPts val="0"/>
              </a:spcBef>
              <a:spcAft>
                <a:spcPts val="0"/>
              </a:spcAft>
              <a:buSzPts val="1970"/>
              <a:buFont typeface="Open Sans"/>
              <a:buChar char="•"/>
            </a:pPr>
            <a:r>
              <a:rPr b="0" lang="en-US" sz="1970">
                <a:latin typeface="Open Sans"/>
                <a:ea typeface="Open Sans"/>
                <a:cs typeface="Open Sans"/>
                <a:sym typeface="Open Sans"/>
              </a:rPr>
              <a:t>System must achieve ﹤5 seconds end-to-end latency (capture to operator display) through efficient compression and stable WiFi transmission</a:t>
            </a:r>
            <a:endParaRPr b="0" sz="1970">
              <a:latin typeface="Open Sans"/>
              <a:ea typeface="Open Sans"/>
              <a:cs typeface="Open Sans"/>
              <a:sym typeface="Open Sans"/>
            </a:endParaRPr>
          </a:p>
          <a:p>
            <a:pPr indent="-353695" lvl="0" marL="457200" rtl="0" algn="l">
              <a:lnSpc>
                <a:spcPct val="100000"/>
              </a:lnSpc>
              <a:spcBef>
                <a:spcPts val="0"/>
              </a:spcBef>
              <a:spcAft>
                <a:spcPts val="0"/>
              </a:spcAft>
              <a:buSzPts val="1970"/>
              <a:buFont typeface="Open Sans"/>
              <a:buChar char="•"/>
            </a:pPr>
            <a:r>
              <a:rPr b="0" lang="en-US" sz="1970">
                <a:latin typeface="Open Sans"/>
                <a:ea typeface="Open Sans"/>
                <a:cs typeface="Open Sans"/>
                <a:sym typeface="Open Sans"/>
              </a:rPr>
              <a:t>Hardware needs to synchronize 3 camera feeds within ﹤100 ms via multiplexer while simultaneously processing IMU data and transmitting it to remote server</a:t>
            </a:r>
            <a:endParaRPr b="0" sz="1970">
              <a:latin typeface="Open Sans"/>
              <a:ea typeface="Open Sans"/>
              <a:cs typeface="Open Sans"/>
              <a:sym typeface="Open Sans"/>
            </a:endParaRPr>
          </a:p>
          <a:p>
            <a:pPr indent="-353695" lvl="0" marL="457200" rtl="0" algn="l">
              <a:lnSpc>
                <a:spcPct val="100000"/>
              </a:lnSpc>
              <a:spcBef>
                <a:spcPts val="0"/>
              </a:spcBef>
              <a:spcAft>
                <a:spcPts val="0"/>
              </a:spcAft>
              <a:buSzPts val="1970"/>
              <a:buFont typeface="Open Sans"/>
              <a:buChar char="•"/>
            </a:pPr>
            <a:r>
              <a:rPr b="0" lang="en-US" sz="1970">
                <a:latin typeface="Open Sans"/>
                <a:ea typeface="Open Sans"/>
                <a:cs typeface="Open Sans"/>
                <a:sym typeface="Open Sans"/>
              </a:rPr>
              <a:t>Object detection must identify moving targets with ≥85% accuracy</a:t>
            </a:r>
            <a:endParaRPr b="0" sz="1970">
              <a:latin typeface="Open Sans"/>
              <a:ea typeface="Open Sans"/>
              <a:cs typeface="Open Sans"/>
              <a:sym typeface="Open Sans"/>
            </a:endParaRPr>
          </a:p>
          <a:p>
            <a:pPr indent="0" lvl="0" marL="0" rtl="0" algn="l">
              <a:lnSpc>
                <a:spcPct val="100000"/>
              </a:lnSpc>
              <a:spcBef>
                <a:spcPts val="0"/>
              </a:spcBef>
              <a:spcAft>
                <a:spcPts val="0"/>
              </a:spcAft>
              <a:buNone/>
            </a:pPr>
            <a:r>
              <a:t/>
            </a:r>
            <a:endParaRPr sz="1970"/>
          </a:p>
          <a:p>
            <a:pPr indent="0" lvl="0" marL="0" rtl="0" algn="l">
              <a:lnSpc>
                <a:spcPct val="100000"/>
              </a:lnSpc>
              <a:spcBef>
                <a:spcPts val="0"/>
              </a:spcBef>
              <a:spcAft>
                <a:spcPts val="0"/>
              </a:spcAft>
              <a:buNone/>
            </a:pPr>
            <a:r>
              <a:rPr b="0" lang="en-US" sz="1970"/>
              <a:t>Durability Requirements</a:t>
            </a:r>
            <a:endParaRPr b="0" sz="1970"/>
          </a:p>
          <a:p>
            <a:pPr indent="-353695" lvl="0" marL="457200" rtl="0" algn="l">
              <a:lnSpc>
                <a:spcPct val="100000"/>
              </a:lnSpc>
              <a:spcBef>
                <a:spcPts val="0"/>
              </a:spcBef>
              <a:spcAft>
                <a:spcPts val="0"/>
              </a:spcAft>
              <a:buSzPts val="1970"/>
              <a:buFont typeface="Open Sans"/>
              <a:buChar char="•"/>
            </a:pPr>
            <a:r>
              <a:rPr b="0" lang="en-US" sz="1970">
                <a:latin typeface="Open Sans"/>
                <a:ea typeface="Open Sans"/>
                <a:cs typeface="Open Sans"/>
                <a:sym typeface="Open Sans"/>
              </a:rPr>
              <a:t>Device must survive repeated 2-meter drops and continuous rolling without component damage </a:t>
            </a:r>
            <a:endParaRPr b="0" sz="1970">
              <a:latin typeface="Open Sans"/>
              <a:ea typeface="Open Sans"/>
              <a:cs typeface="Open Sans"/>
              <a:sym typeface="Open Sans"/>
            </a:endParaRPr>
          </a:p>
          <a:p>
            <a:pPr indent="-353695" lvl="0" marL="457200" rtl="0" algn="l">
              <a:lnSpc>
                <a:spcPct val="100000"/>
              </a:lnSpc>
              <a:spcBef>
                <a:spcPts val="0"/>
              </a:spcBef>
              <a:spcAft>
                <a:spcPts val="0"/>
              </a:spcAft>
              <a:buSzPts val="1970"/>
              <a:buFont typeface="Open Sans"/>
              <a:buChar char="•"/>
            </a:pPr>
            <a:r>
              <a:rPr b="0" lang="en-US" sz="1970">
                <a:latin typeface="Open Sans"/>
                <a:ea typeface="Open Sans"/>
                <a:cs typeface="Open Sans"/>
                <a:sym typeface="Open Sans"/>
              </a:rPr>
              <a:t>Maximum weight of 3 lbs for comfortable one handed throwing</a:t>
            </a:r>
            <a:endParaRPr b="0" sz="1970">
              <a:latin typeface="Open Sans"/>
              <a:ea typeface="Open Sans"/>
              <a:cs typeface="Open Sans"/>
              <a:sym typeface="Open Sans"/>
            </a:endParaRPr>
          </a:p>
          <a:p>
            <a:pPr indent="0" lvl="0" marL="0" rtl="0" algn="l">
              <a:lnSpc>
                <a:spcPct val="100000"/>
              </a:lnSpc>
              <a:spcBef>
                <a:spcPts val="0"/>
              </a:spcBef>
              <a:spcAft>
                <a:spcPts val="0"/>
              </a:spcAft>
              <a:buNone/>
            </a:pPr>
            <a:r>
              <a:t/>
            </a:r>
            <a:endParaRPr b="0" sz="1970">
              <a:latin typeface="Open Sans"/>
              <a:ea typeface="Open Sans"/>
              <a:cs typeface="Open Sans"/>
              <a:sym typeface="Open Sans"/>
            </a:endParaRPr>
          </a:p>
          <a:p>
            <a:pPr indent="0" lvl="0" marL="0" rtl="0" algn="l">
              <a:lnSpc>
                <a:spcPct val="100000"/>
              </a:lnSpc>
              <a:spcBef>
                <a:spcPts val="0"/>
              </a:spcBef>
              <a:spcAft>
                <a:spcPts val="0"/>
              </a:spcAft>
              <a:buNone/>
            </a:pPr>
            <a:r>
              <a:rPr b="0" lang="en-US" sz="1970"/>
              <a:t>Cost Requirement</a:t>
            </a:r>
            <a:endParaRPr b="0" sz="1970"/>
          </a:p>
          <a:p>
            <a:pPr indent="-353695" lvl="0" marL="457200" rtl="0" algn="l">
              <a:lnSpc>
                <a:spcPct val="100000"/>
              </a:lnSpc>
              <a:spcBef>
                <a:spcPts val="0"/>
              </a:spcBef>
              <a:spcAft>
                <a:spcPts val="0"/>
              </a:spcAft>
              <a:buSzPts val="1970"/>
              <a:buFont typeface="Open Sans"/>
              <a:buChar char="•"/>
            </a:pPr>
            <a:r>
              <a:rPr b="0" lang="en-US" sz="1970">
                <a:latin typeface="Open Sans"/>
                <a:ea typeface="Open Sans"/>
                <a:cs typeface="Open Sans"/>
                <a:sym typeface="Open Sans"/>
              </a:rPr>
              <a:t>Prototype cost should be within $150-$250, with a sub $75 unit cost for mass production </a:t>
            </a:r>
            <a:endParaRPr sz="1970"/>
          </a:p>
        </p:txBody>
      </p:sp>
      <p:sp>
        <p:nvSpPr>
          <p:cNvPr id="127" name="Google Shape;127;g3bd96a98101_0_19"/>
          <p:cNvSpPr txBox="1"/>
          <p:nvPr>
            <p:ph type="title"/>
          </p:nvPr>
        </p:nvSpPr>
        <p:spPr>
          <a:xfrm>
            <a:off x="609600" y="238118"/>
            <a:ext cx="10972800" cy="8937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00000"/>
              </a:buClr>
              <a:buSzPts val="4400"/>
              <a:buFont typeface="Oswald Medium"/>
              <a:buNone/>
            </a:pPr>
            <a:r>
              <a:rPr lang="en-US">
                <a:solidFill>
                  <a:schemeClr val="lt1"/>
                </a:solidFill>
              </a:rPr>
              <a:t>Design Constraints and Feasibility</a:t>
            </a:r>
            <a:endParaRPr>
              <a:solidFill>
                <a:schemeClr val="l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3bd96a98101_0_25"/>
          <p:cNvSpPr txBox="1"/>
          <p:nvPr>
            <p:ph idx="1" type="body"/>
          </p:nvPr>
        </p:nvSpPr>
        <p:spPr>
          <a:xfrm>
            <a:off x="609600" y="1370250"/>
            <a:ext cx="5580300" cy="3530400"/>
          </a:xfrm>
          <a:prstGeom prst="rect">
            <a:avLst/>
          </a:prstGeom>
          <a:noFill/>
          <a:ln>
            <a:noFill/>
          </a:ln>
        </p:spPr>
        <p:txBody>
          <a:bodyPr anchorCtr="0" anchor="t" bIns="45700" lIns="91425" spcFirstLastPara="1" rIns="91425" wrap="square" tIns="45700">
            <a:normAutofit fontScale="92500" lnSpcReduction="20000"/>
          </a:bodyPr>
          <a:lstStyle/>
          <a:p>
            <a:pPr indent="-203200" lvl="0" marL="342900" rtl="0" algn="l">
              <a:spcBef>
                <a:spcPts val="0"/>
              </a:spcBef>
              <a:spcAft>
                <a:spcPts val="0"/>
              </a:spcAft>
              <a:buClr>
                <a:srgbClr val="500000"/>
              </a:buClr>
              <a:buSzPct val="100000"/>
              <a:buNone/>
            </a:pPr>
            <a:r>
              <a:rPr lang="en-US" u="sng"/>
              <a:t>Drones</a:t>
            </a:r>
            <a:endParaRPr u="sng"/>
          </a:p>
          <a:p>
            <a:pPr indent="-203200" lvl="0" marL="342900" rtl="0" algn="l">
              <a:spcBef>
                <a:spcPts val="0"/>
              </a:spcBef>
              <a:spcAft>
                <a:spcPts val="0"/>
              </a:spcAft>
              <a:buClr>
                <a:srgbClr val="500000"/>
              </a:buClr>
              <a:buSzPct val="100000"/>
              <a:buNone/>
            </a:pPr>
            <a:r>
              <a:t/>
            </a:r>
            <a:endParaRPr u="sng"/>
          </a:p>
          <a:p>
            <a:pPr indent="-203200" lvl="0" marL="342900" rtl="0" algn="l">
              <a:spcBef>
                <a:spcPts val="0"/>
              </a:spcBef>
              <a:spcAft>
                <a:spcPts val="0"/>
              </a:spcAft>
              <a:buClr>
                <a:srgbClr val="500000"/>
              </a:buClr>
              <a:buSzPct val="100000"/>
              <a:buNone/>
            </a:pPr>
            <a:r>
              <a:rPr b="0" lang="en-US"/>
              <a:t>Pros</a:t>
            </a:r>
            <a:endParaRPr b="0"/>
          </a:p>
          <a:p>
            <a:pPr indent="-357822" lvl="0" marL="457200" rtl="0" algn="l">
              <a:spcBef>
                <a:spcPts val="0"/>
              </a:spcBef>
              <a:spcAft>
                <a:spcPts val="0"/>
              </a:spcAft>
              <a:buSzPct val="100000"/>
              <a:buFont typeface="Open Sans"/>
              <a:buChar char="•"/>
            </a:pPr>
            <a:r>
              <a:rPr b="0" lang="en-US">
                <a:latin typeface="Open Sans"/>
                <a:ea typeface="Open Sans"/>
                <a:cs typeface="Open Sans"/>
                <a:sym typeface="Open Sans"/>
              </a:rPr>
              <a:t>Provide overhead views of environments, including inaccessible or elevated areas.</a:t>
            </a:r>
            <a:endParaRPr b="0">
              <a:latin typeface="Open Sans"/>
              <a:ea typeface="Open Sans"/>
              <a:cs typeface="Open Sans"/>
              <a:sym typeface="Open Sans"/>
            </a:endParaRPr>
          </a:p>
          <a:p>
            <a:pPr indent="-357822" lvl="0" marL="457200" rtl="0" algn="l">
              <a:spcBef>
                <a:spcPts val="0"/>
              </a:spcBef>
              <a:spcAft>
                <a:spcPts val="0"/>
              </a:spcAft>
              <a:buSzPct val="100000"/>
              <a:buFont typeface="Open Sans"/>
              <a:buChar char="•"/>
            </a:pPr>
            <a:r>
              <a:rPr b="0" lang="en-US">
                <a:latin typeface="Open Sans"/>
                <a:ea typeface="Open Sans"/>
                <a:cs typeface="Open Sans"/>
                <a:sym typeface="Open Sans"/>
              </a:rPr>
              <a:t>Already commercially available and supported by existing technology.</a:t>
            </a:r>
            <a:endParaRPr b="0">
              <a:latin typeface="Open Sans"/>
              <a:ea typeface="Open Sans"/>
              <a:cs typeface="Open Sans"/>
              <a:sym typeface="Open Sans"/>
            </a:endParaRPr>
          </a:p>
          <a:p>
            <a:pPr indent="0" lvl="0" marL="457200" rtl="0" algn="l">
              <a:spcBef>
                <a:spcPts val="0"/>
              </a:spcBef>
              <a:spcAft>
                <a:spcPts val="0"/>
              </a:spcAft>
              <a:buNone/>
            </a:pPr>
            <a:r>
              <a:t/>
            </a:r>
            <a:endParaRPr b="0">
              <a:latin typeface="Open Sans"/>
              <a:ea typeface="Open Sans"/>
              <a:cs typeface="Open Sans"/>
              <a:sym typeface="Open Sans"/>
            </a:endParaRPr>
          </a:p>
          <a:p>
            <a:pPr indent="-203200" lvl="0" marL="342900" rtl="0" algn="l">
              <a:spcBef>
                <a:spcPts val="0"/>
              </a:spcBef>
              <a:spcAft>
                <a:spcPts val="0"/>
              </a:spcAft>
              <a:buClr>
                <a:srgbClr val="500000"/>
              </a:buClr>
              <a:buSzPct val="100000"/>
              <a:buNone/>
            </a:pPr>
            <a:r>
              <a:rPr b="0" lang="en-US"/>
              <a:t>Cons</a:t>
            </a:r>
            <a:endParaRPr b="0"/>
          </a:p>
          <a:p>
            <a:pPr indent="-357822" lvl="0" marL="457200" rtl="0" algn="l">
              <a:spcBef>
                <a:spcPts val="0"/>
              </a:spcBef>
              <a:spcAft>
                <a:spcPts val="0"/>
              </a:spcAft>
              <a:buSzPct val="100000"/>
              <a:buFont typeface="Open Sans"/>
              <a:buChar char="•"/>
            </a:pPr>
            <a:r>
              <a:rPr b="0" lang="en-US">
                <a:latin typeface="Open Sans"/>
                <a:ea typeface="Open Sans"/>
                <a:cs typeface="Open Sans"/>
                <a:sym typeface="Open Sans"/>
              </a:rPr>
              <a:t>Hard to operate in enclosed areas</a:t>
            </a:r>
            <a:endParaRPr b="0">
              <a:latin typeface="Open Sans"/>
              <a:ea typeface="Open Sans"/>
              <a:cs typeface="Open Sans"/>
              <a:sym typeface="Open Sans"/>
            </a:endParaRPr>
          </a:p>
          <a:p>
            <a:pPr indent="-357822" lvl="0" marL="457200" rtl="0" algn="l">
              <a:spcBef>
                <a:spcPts val="0"/>
              </a:spcBef>
              <a:spcAft>
                <a:spcPts val="0"/>
              </a:spcAft>
              <a:buSzPct val="100000"/>
              <a:buFont typeface="Open Sans"/>
              <a:buChar char="•"/>
            </a:pPr>
            <a:r>
              <a:rPr b="0" lang="en-US">
                <a:latin typeface="Open Sans"/>
                <a:ea typeface="Open Sans"/>
                <a:cs typeface="Open Sans"/>
                <a:sym typeface="Open Sans"/>
              </a:rPr>
              <a:t>Requires significant skill from a trained operator</a:t>
            </a:r>
            <a:endParaRPr b="0">
              <a:latin typeface="Open Sans"/>
              <a:ea typeface="Open Sans"/>
              <a:cs typeface="Open Sans"/>
              <a:sym typeface="Open Sans"/>
            </a:endParaRPr>
          </a:p>
        </p:txBody>
      </p:sp>
      <p:sp>
        <p:nvSpPr>
          <p:cNvPr id="133" name="Google Shape;133;g3bd96a98101_0_25"/>
          <p:cNvSpPr txBox="1"/>
          <p:nvPr>
            <p:ph idx="2" type="body"/>
          </p:nvPr>
        </p:nvSpPr>
        <p:spPr>
          <a:xfrm>
            <a:off x="6363975" y="1342350"/>
            <a:ext cx="5395200" cy="3586200"/>
          </a:xfrm>
          <a:prstGeom prst="rect">
            <a:avLst/>
          </a:prstGeom>
          <a:noFill/>
          <a:ln>
            <a:noFill/>
          </a:ln>
        </p:spPr>
        <p:txBody>
          <a:bodyPr anchorCtr="0" anchor="t" bIns="45700" lIns="91425" spcFirstLastPara="1" rIns="91425" wrap="square" tIns="45700">
            <a:normAutofit fontScale="92500" lnSpcReduction="20000"/>
          </a:bodyPr>
          <a:lstStyle/>
          <a:p>
            <a:pPr indent="-203200" lvl="0" marL="342900" rtl="0" algn="l">
              <a:spcBef>
                <a:spcPts val="0"/>
              </a:spcBef>
              <a:spcAft>
                <a:spcPts val="0"/>
              </a:spcAft>
              <a:buClr>
                <a:srgbClr val="500000"/>
              </a:buClr>
              <a:buSzPct val="100000"/>
              <a:buNone/>
            </a:pPr>
            <a:r>
              <a:rPr lang="en-US" u="sng"/>
              <a:t>Ground Robots</a:t>
            </a:r>
            <a:endParaRPr u="sng"/>
          </a:p>
          <a:p>
            <a:pPr indent="-203200" lvl="0" marL="342900" rtl="0" algn="l">
              <a:spcBef>
                <a:spcPts val="0"/>
              </a:spcBef>
              <a:spcAft>
                <a:spcPts val="0"/>
              </a:spcAft>
              <a:buClr>
                <a:srgbClr val="500000"/>
              </a:buClr>
              <a:buSzPct val="100000"/>
              <a:buNone/>
            </a:pPr>
            <a:r>
              <a:t/>
            </a:r>
            <a:endParaRPr u="sng"/>
          </a:p>
          <a:p>
            <a:pPr indent="-203200" lvl="0" marL="342900" rtl="0" algn="l">
              <a:spcBef>
                <a:spcPts val="0"/>
              </a:spcBef>
              <a:spcAft>
                <a:spcPts val="0"/>
              </a:spcAft>
              <a:buClr>
                <a:srgbClr val="500000"/>
              </a:buClr>
              <a:buSzPct val="100000"/>
              <a:buNone/>
            </a:pPr>
            <a:r>
              <a:rPr b="0" lang="en-US"/>
              <a:t>Pros</a:t>
            </a:r>
            <a:endParaRPr b="0">
              <a:latin typeface="Open Sans"/>
              <a:ea typeface="Open Sans"/>
              <a:cs typeface="Open Sans"/>
              <a:sym typeface="Open Sans"/>
            </a:endParaRPr>
          </a:p>
          <a:p>
            <a:pPr indent="-357822" lvl="0" marL="457200" rtl="0" algn="l">
              <a:spcBef>
                <a:spcPts val="0"/>
              </a:spcBef>
              <a:spcAft>
                <a:spcPts val="0"/>
              </a:spcAft>
              <a:buSzPct val="100000"/>
              <a:buFont typeface="Open Sans"/>
              <a:buChar char="•"/>
            </a:pPr>
            <a:r>
              <a:rPr b="0" lang="en-US">
                <a:latin typeface="Open Sans"/>
                <a:ea typeface="Open Sans"/>
                <a:cs typeface="Open Sans"/>
                <a:sym typeface="Open Sans"/>
              </a:rPr>
              <a:t>Can have mobility in enclosed areas</a:t>
            </a:r>
            <a:endParaRPr b="0">
              <a:latin typeface="Open Sans"/>
              <a:ea typeface="Open Sans"/>
              <a:cs typeface="Open Sans"/>
              <a:sym typeface="Open Sans"/>
            </a:endParaRPr>
          </a:p>
          <a:p>
            <a:pPr indent="-357822" lvl="0" marL="457200" rtl="0" algn="l">
              <a:spcBef>
                <a:spcPts val="0"/>
              </a:spcBef>
              <a:spcAft>
                <a:spcPts val="0"/>
              </a:spcAft>
              <a:buSzPct val="100000"/>
              <a:buFont typeface="Open Sans"/>
              <a:buChar char="•"/>
            </a:pPr>
            <a:r>
              <a:rPr b="0" lang="en-US">
                <a:latin typeface="Open Sans"/>
                <a:ea typeface="Open Sans"/>
                <a:cs typeface="Open Sans"/>
                <a:sym typeface="Open Sans"/>
              </a:rPr>
              <a:t>A lot of them carry very sophisticated mapping and recording systems</a:t>
            </a:r>
            <a:endParaRPr b="0">
              <a:latin typeface="Open Sans"/>
              <a:ea typeface="Open Sans"/>
              <a:cs typeface="Open Sans"/>
              <a:sym typeface="Open Sans"/>
            </a:endParaRPr>
          </a:p>
          <a:p>
            <a:pPr indent="-357822" lvl="0" marL="457200" rtl="0" algn="l">
              <a:spcBef>
                <a:spcPts val="0"/>
              </a:spcBef>
              <a:spcAft>
                <a:spcPts val="0"/>
              </a:spcAft>
              <a:buSzPct val="100000"/>
              <a:buFont typeface="Open Sans"/>
              <a:buChar char="•"/>
            </a:pPr>
            <a:r>
              <a:rPr b="0" lang="en-US">
                <a:latin typeface="Open Sans"/>
                <a:ea typeface="Open Sans"/>
                <a:cs typeface="Open Sans"/>
                <a:sym typeface="Open Sans"/>
              </a:rPr>
              <a:t>Already being used by some first responders and military units</a:t>
            </a:r>
            <a:endParaRPr b="0">
              <a:latin typeface="Open Sans"/>
              <a:ea typeface="Open Sans"/>
              <a:cs typeface="Open Sans"/>
              <a:sym typeface="Open Sans"/>
            </a:endParaRPr>
          </a:p>
          <a:p>
            <a:pPr indent="0" lvl="0" marL="139700" rtl="0" algn="l">
              <a:spcBef>
                <a:spcPts val="0"/>
              </a:spcBef>
              <a:spcAft>
                <a:spcPts val="0"/>
              </a:spcAft>
              <a:buClr>
                <a:srgbClr val="500000"/>
              </a:buClr>
              <a:buSzPct val="100000"/>
              <a:buNone/>
            </a:pPr>
            <a:r>
              <a:t/>
            </a:r>
            <a:endParaRPr b="0"/>
          </a:p>
          <a:p>
            <a:pPr indent="0" lvl="0" marL="139700" rtl="0" algn="l">
              <a:spcBef>
                <a:spcPts val="0"/>
              </a:spcBef>
              <a:spcAft>
                <a:spcPts val="0"/>
              </a:spcAft>
              <a:buClr>
                <a:srgbClr val="500000"/>
              </a:buClr>
              <a:buSzPct val="100000"/>
              <a:buNone/>
            </a:pPr>
            <a:r>
              <a:rPr b="0" lang="en-US"/>
              <a:t>Cons</a:t>
            </a:r>
            <a:endParaRPr b="0"/>
          </a:p>
          <a:p>
            <a:pPr indent="-357822" lvl="0" marL="457200" rtl="0" algn="l">
              <a:spcBef>
                <a:spcPts val="0"/>
              </a:spcBef>
              <a:spcAft>
                <a:spcPts val="0"/>
              </a:spcAft>
              <a:buSzPct val="100000"/>
              <a:buFont typeface="Open Sans"/>
              <a:buChar char="•"/>
            </a:pPr>
            <a:r>
              <a:rPr b="0" lang="en-US">
                <a:latin typeface="Open Sans"/>
                <a:ea typeface="Open Sans"/>
                <a:cs typeface="Open Sans"/>
                <a:sym typeface="Open Sans"/>
              </a:rPr>
              <a:t>Mobility issues if the ground is obstructed/uneven</a:t>
            </a:r>
            <a:endParaRPr b="0">
              <a:latin typeface="Open Sans"/>
              <a:ea typeface="Open Sans"/>
              <a:cs typeface="Open Sans"/>
              <a:sym typeface="Open Sans"/>
            </a:endParaRPr>
          </a:p>
          <a:p>
            <a:pPr indent="-357822" lvl="0" marL="457200" rtl="0" algn="l">
              <a:spcBef>
                <a:spcPts val="0"/>
              </a:spcBef>
              <a:spcAft>
                <a:spcPts val="0"/>
              </a:spcAft>
              <a:buSzPct val="100000"/>
              <a:buFont typeface="Open Sans"/>
              <a:buChar char="•"/>
            </a:pPr>
            <a:r>
              <a:rPr b="0" lang="en-US">
                <a:latin typeface="Open Sans"/>
                <a:ea typeface="Open Sans"/>
                <a:cs typeface="Open Sans"/>
                <a:sym typeface="Open Sans"/>
              </a:rPr>
              <a:t>Usually large and hard to carry. Not very portable</a:t>
            </a:r>
            <a:endParaRPr b="0">
              <a:latin typeface="Open Sans"/>
              <a:ea typeface="Open Sans"/>
              <a:cs typeface="Open Sans"/>
              <a:sym typeface="Open Sans"/>
            </a:endParaRPr>
          </a:p>
        </p:txBody>
      </p:sp>
      <p:sp>
        <p:nvSpPr>
          <p:cNvPr id="134" name="Google Shape;134;g3bd96a98101_0_25"/>
          <p:cNvSpPr txBox="1"/>
          <p:nvPr>
            <p:ph type="title"/>
          </p:nvPr>
        </p:nvSpPr>
        <p:spPr>
          <a:xfrm>
            <a:off x="609600" y="238118"/>
            <a:ext cx="10972800" cy="8937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00000"/>
              </a:buClr>
              <a:buSzPts val="4400"/>
              <a:buFont typeface="Oswald Medium"/>
              <a:buNone/>
            </a:pPr>
            <a:r>
              <a:rPr lang="en-US">
                <a:solidFill>
                  <a:schemeClr val="lt1"/>
                </a:solidFill>
              </a:rPr>
              <a:t>Evaluation of alternative solutions</a:t>
            </a:r>
            <a:endParaRPr>
              <a:solidFill>
                <a:schemeClr val="lt1"/>
              </a:solidFill>
            </a:endParaRPr>
          </a:p>
        </p:txBody>
      </p:sp>
      <p:pic>
        <p:nvPicPr>
          <p:cNvPr id="135" name="Google Shape;135;g3bd96a98101_0_25"/>
          <p:cNvPicPr preferRelativeResize="0"/>
          <p:nvPr/>
        </p:nvPicPr>
        <p:blipFill>
          <a:blip r:embed="rId3">
            <a:alphaModFix/>
          </a:blip>
          <a:stretch>
            <a:fillRect/>
          </a:stretch>
        </p:blipFill>
        <p:spPr>
          <a:xfrm>
            <a:off x="7742338" y="4976176"/>
            <a:ext cx="2638474" cy="1754575"/>
          </a:xfrm>
          <a:prstGeom prst="rect">
            <a:avLst/>
          </a:prstGeom>
          <a:noFill/>
          <a:ln>
            <a:noFill/>
          </a:ln>
        </p:spPr>
      </p:pic>
      <p:pic>
        <p:nvPicPr>
          <p:cNvPr id="136" name="Google Shape;136;g3bd96a98101_0_25"/>
          <p:cNvPicPr preferRelativeResize="0"/>
          <p:nvPr/>
        </p:nvPicPr>
        <p:blipFill rotWithShape="1">
          <a:blip r:embed="rId4">
            <a:alphaModFix/>
          </a:blip>
          <a:srcRect b="10747" l="6520" r="4290" t="3276"/>
          <a:stretch/>
        </p:blipFill>
        <p:spPr>
          <a:xfrm>
            <a:off x="1805675" y="4976175"/>
            <a:ext cx="2730982" cy="17545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g3c82bc410a0_0_0"/>
          <p:cNvSpPr txBox="1"/>
          <p:nvPr>
            <p:ph idx="1" type="body"/>
          </p:nvPr>
        </p:nvSpPr>
        <p:spPr>
          <a:xfrm>
            <a:off x="609600" y="1370250"/>
            <a:ext cx="5580300" cy="3530400"/>
          </a:xfrm>
          <a:prstGeom prst="rect">
            <a:avLst/>
          </a:prstGeom>
          <a:noFill/>
          <a:ln>
            <a:noFill/>
          </a:ln>
        </p:spPr>
        <p:txBody>
          <a:bodyPr anchorCtr="0" anchor="t" bIns="45700" lIns="91425" spcFirstLastPara="1" rIns="91425" wrap="square" tIns="45700">
            <a:normAutofit lnSpcReduction="20000"/>
          </a:bodyPr>
          <a:lstStyle/>
          <a:p>
            <a:pPr indent="-203200" lvl="0" marL="342900" rtl="0" algn="l">
              <a:spcBef>
                <a:spcPts val="0"/>
              </a:spcBef>
              <a:spcAft>
                <a:spcPts val="0"/>
              </a:spcAft>
              <a:buClr>
                <a:srgbClr val="500000"/>
              </a:buClr>
              <a:buSzPts val="2200"/>
              <a:buNone/>
            </a:pPr>
            <a:r>
              <a:rPr lang="en-US" u="sng"/>
              <a:t>Wearable Cameras for First</a:t>
            </a:r>
            <a:endParaRPr u="sng"/>
          </a:p>
          <a:p>
            <a:pPr indent="-203200" lvl="0" marL="342900" rtl="0" algn="l">
              <a:spcBef>
                <a:spcPts val="0"/>
              </a:spcBef>
              <a:spcAft>
                <a:spcPts val="0"/>
              </a:spcAft>
              <a:buClr>
                <a:srgbClr val="500000"/>
              </a:buClr>
              <a:buSzPts val="2200"/>
              <a:buNone/>
            </a:pPr>
            <a:r>
              <a:rPr lang="en-US" u="sng"/>
              <a:t>Responders</a:t>
            </a:r>
            <a:endParaRPr u="sng"/>
          </a:p>
          <a:p>
            <a:pPr indent="-203200" lvl="0" marL="342900" rtl="0" algn="l">
              <a:spcBef>
                <a:spcPts val="0"/>
              </a:spcBef>
              <a:spcAft>
                <a:spcPts val="0"/>
              </a:spcAft>
              <a:buClr>
                <a:srgbClr val="500000"/>
              </a:buClr>
              <a:buSzPts val="2200"/>
              <a:buNone/>
            </a:pPr>
            <a:r>
              <a:t/>
            </a:r>
            <a:endParaRPr u="sng"/>
          </a:p>
          <a:p>
            <a:pPr indent="-203200" lvl="0" marL="342900" rtl="0" algn="l">
              <a:spcBef>
                <a:spcPts val="0"/>
              </a:spcBef>
              <a:spcAft>
                <a:spcPts val="0"/>
              </a:spcAft>
              <a:buClr>
                <a:srgbClr val="500000"/>
              </a:buClr>
              <a:buSzPts val="2200"/>
              <a:buNone/>
            </a:pPr>
            <a:r>
              <a:rPr b="0" lang="en-US"/>
              <a:t>Pros</a:t>
            </a:r>
            <a:endParaRPr b="0"/>
          </a:p>
          <a:p>
            <a:pPr indent="-368300" lvl="0" marL="457200" rtl="0" algn="l">
              <a:spcBef>
                <a:spcPts val="0"/>
              </a:spcBef>
              <a:spcAft>
                <a:spcPts val="0"/>
              </a:spcAft>
              <a:buSzPts val="2200"/>
              <a:buFont typeface="Open Sans"/>
              <a:buChar char="•"/>
            </a:pPr>
            <a:r>
              <a:rPr b="0" lang="en-US">
                <a:latin typeface="Open Sans"/>
                <a:ea typeface="Open Sans"/>
                <a:cs typeface="Open Sans"/>
                <a:sym typeface="Open Sans"/>
              </a:rPr>
              <a:t>Portable, lightweight</a:t>
            </a:r>
            <a:endParaRPr b="0">
              <a:latin typeface="Open Sans"/>
              <a:ea typeface="Open Sans"/>
              <a:cs typeface="Open Sans"/>
              <a:sym typeface="Open Sans"/>
            </a:endParaRPr>
          </a:p>
          <a:p>
            <a:pPr indent="-368300" lvl="0" marL="457200" rtl="0" algn="l">
              <a:spcBef>
                <a:spcPts val="0"/>
              </a:spcBef>
              <a:spcAft>
                <a:spcPts val="0"/>
              </a:spcAft>
              <a:buSzPts val="2200"/>
              <a:buFont typeface="Open Sans"/>
              <a:buChar char="•"/>
            </a:pPr>
            <a:r>
              <a:rPr b="0" lang="en-US">
                <a:latin typeface="Open Sans"/>
                <a:ea typeface="Open Sans"/>
                <a:cs typeface="Open Sans"/>
                <a:sym typeface="Open Sans"/>
              </a:rPr>
              <a:t>High-quality streaming of real-time events</a:t>
            </a:r>
            <a:endParaRPr b="0">
              <a:latin typeface="Open Sans"/>
              <a:ea typeface="Open Sans"/>
              <a:cs typeface="Open Sans"/>
              <a:sym typeface="Open Sans"/>
            </a:endParaRPr>
          </a:p>
          <a:p>
            <a:pPr indent="0" lvl="0" marL="457200" rtl="0" algn="l">
              <a:spcBef>
                <a:spcPts val="0"/>
              </a:spcBef>
              <a:spcAft>
                <a:spcPts val="0"/>
              </a:spcAft>
              <a:buNone/>
            </a:pPr>
            <a:r>
              <a:t/>
            </a:r>
            <a:endParaRPr b="0">
              <a:latin typeface="Open Sans"/>
              <a:ea typeface="Open Sans"/>
              <a:cs typeface="Open Sans"/>
              <a:sym typeface="Open Sans"/>
            </a:endParaRPr>
          </a:p>
          <a:p>
            <a:pPr indent="-203200" lvl="0" marL="342900" rtl="0" algn="l">
              <a:spcBef>
                <a:spcPts val="0"/>
              </a:spcBef>
              <a:spcAft>
                <a:spcPts val="0"/>
              </a:spcAft>
              <a:buClr>
                <a:srgbClr val="500000"/>
              </a:buClr>
              <a:buSzPts val="2200"/>
              <a:buNone/>
            </a:pPr>
            <a:r>
              <a:rPr b="0" lang="en-US"/>
              <a:t>Cons</a:t>
            </a:r>
            <a:endParaRPr b="0"/>
          </a:p>
          <a:p>
            <a:pPr indent="-368300" lvl="0" marL="457200" rtl="0" algn="l">
              <a:spcBef>
                <a:spcPts val="0"/>
              </a:spcBef>
              <a:spcAft>
                <a:spcPts val="0"/>
              </a:spcAft>
              <a:buSzPts val="2200"/>
              <a:buFont typeface="Open Sans"/>
              <a:buChar char="•"/>
            </a:pPr>
            <a:r>
              <a:rPr b="0" lang="en-US">
                <a:latin typeface="Open Sans"/>
                <a:ea typeface="Open Sans"/>
                <a:cs typeface="Open Sans"/>
                <a:sym typeface="Open Sans"/>
              </a:rPr>
              <a:t>A human has to enter room to get the images</a:t>
            </a:r>
            <a:endParaRPr b="0">
              <a:latin typeface="Open Sans"/>
              <a:ea typeface="Open Sans"/>
              <a:cs typeface="Open Sans"/>
              <a:sym typeface="Open Sans"/>
            </a:endParaRPr>
          </a:p>
          <a:p>
            <a:pPr indent="-368300" lvl="0" marL="457200" rtl="0" algn="l">
              <a:spcBef>
                <a:spcPts val="0"/>
              </a:spcBef>
              <a:spcAft>
                <a:spcPts val="0"/>
              </a:spcAft>
              <a:buSzPts val="2200"/>
              <a:buFont typeface="Open Sans"/>
              <a:buChar char="•"/>
            </a:pPr>
            <a:r>
              <a:rPr b="0" lang="en-US">
                <a:latin typeface="Open Sans"/>
                <a:ea typeface="Open Sans"/>
                <a:cs typeface="Open Sans"/>
                <a:sym typeface="Open Sans"/>
              </a:rPr>
              <a:t>Only video streaming</a:t>
            </a:r>
            <a:endParaRPr b="0">
              <a:latin typeface="Open Sans"/>
              <a:ea typeface="Open Sans"/>
              <a:cs typeface="Open Sans"/>
              <a:sym typeface="Open Sans"/>
            </a:endParaRPr>
          </a:p>
        </p:txBody>
      </p:sp>
      <p:sp>
        <p:nvSpPr>
          <p:cNvPr id="142" name="Google Shape;142;g3c82bc410a0_0_0"/>
          <p:cNvSpPr txBox="1"/>
          <p:nvPr>
            <p:ph idx="2" type="body"/>
          </p:nvPr>
        </p:nvSpPr>
        <p:spPr>
          <a:xfrm>
            <a:off x="6363975" y="1342350"/>
            <a:ext cx="5395200" cy="3586200"/>
          </a:xfrm>
          <a:prstGeom prst="rect">
            <a:avLst/>
          </a:prstGeom>
          <a:noFill/>
          <a:ln>
            <a:noFill/>
          </a:ln>
        </p:spPr>
        <p:txBody>
          <a:bodyPr anchorCtr="0" anchor="t" bIns="45700" lIns="91425" spcFirstLastPara="1" rIns="91425" wrap="square" tIns="45700">
            <a:normAutofit lnSpcReduction="10000"/>
          </a:bodyPr>
          <a:lstStyle/>
          <a:p>
            <a:pPr indent="-203200" lvl="0" marL="342900" rtl="0" algn="l">
              <a:spcBef>
                <a:spcPts val="0"/>
              </a:spcBef>
              <a:spcAft>
                <a:spcPts val="0"/>
              </a:spcAft>
              <a:buClr>
                <a:srgbClr val="500000"/>
              </a:buClr>
              <a:buSzPts val="2200"/>
              <a:buNone/>
            </a:pPr>
            <a:r>
              <a:rPr lang="en-US" u="sng"/>
              <a:t>Throwable Communication Ball</a:t>
            </a:r>
            <a:endParaRPr u="sng"/>
          </a:p>
          <a:p>
            <a:pPr indent="-203200" lvl="0" marL="342900" rtl="0" algn="l">
              <a:spcBef>
                <a:spcPts val="0"/>
              </a:spcBef>
              <a:spcAft>
                <a:spcPts val="0"/>
              </a:spcAft>
              <a:buClr>
                <a:srgbClr val="500000"/>
              </a:buClr>
              <a:buSzPts val="2200"/>
              <a:buNone/>
            </a:pPr>
            <a:r>
              <a:t/>
            </a:r>
            <a:endParaRPr u="sng"/>
          </a:p>
          <a:p>
            <a:pPr indent="-203200" lvl="0" marL="342900" rtl="0" algn="l">
              <a:spcBef>
                <a:spcPts val="0"/>
              </a:spcBef>
              <a:spcAft>
                <a:spcPts val="0"/>
              </a:spcAft>
              <a:buClr>
                <a:srgbClr val="500000"/>
              </a:buClr>
              <a:buSzPts val="2200"/>
              <a:buNone/>
            </a:pPr>
            <a:r>
              <a:rPr b="0" lang="en-US"/>
              <a:t>Pros</a:t>
            </a:r>
            <a:endParaRPr b="0">
              <a:latin typeface="Open Sans"/>
              <a:ea typeface="Open Sans"/>
              <a:cs typeface="Open Sans"/>
              <a:sym typeface="Open Sans"/>
            </a:endParaRPr>
          </a:p>
          <a:p>
            <a:pPr indent="-368300" lvl="0" marL="457200" rtl="0" algn="l">
              <a:spcBef>
                <a:spcPts val="0"/>
              </a:spcBef>
              <a:spcAft>
                <a:spcPts val="0"/>
              </a:spcAft>
              <a:buSzPts val="2200"/>
              <a:buFont typeface="Open Sans"/>
              <a:buChar char="•"/>
            </a:pPr>
            <a:r>
              <a:rPr b="0" lang="en-US">
                <a:latin typeface="Open Sans"/>
                <a:ea typeface="Open Sans"/>
                <a:cs typeface="Open Sans"/>
                <a:sym typeface="Open Sans"/>
              </a:rPr>
              <a:t>Portable, lightweight, durable</a:t>
            </a:r>
            <a:endParaRPr b="0">
              <a:latin typeface="Open Sans"/>
              <a:ea typeface="Open Sans"/>
              <a:cs typeface="Open Sans"/>
              <a:sym typeface="Open Sans"/>
            </a:endParaRPr>
          </a:p>
          <a:p>
            <a:pPr indent="-368300" lvl="0" marL="457200" rtl="0" algn="l">
              <a:spcBef>
                <a:spcPts val="0"/>
              </a:spcBef>
              <a:spcAft>
                <a:spcPts val="0"/>
              </a:spcAft>
              <a:buSzPts val="2200"/>
              <a:buFont typeface="Open Sans"/>
              <a:buChar char="•"/>
            </a:pPr>
            <a:r>
              <a:rPr b="0" lang="en-US">
                <a:latin typeface="Open Sans"/>
                <a:ea typeface="Open Sans"/>
                <a:cs typeface="Open Sans"/>
                <a:sym typeface="Open Sans"/>
              </a:rPr>
              <a:t>Connects first responders to civilians</a:t>
            </a:r>
            <a:endParaRPr b="0">
              <a:latin typeface="Open Sans"/>
              <a:ea typeface="Open Sans"/>
              <a:cs typeface="Open Sans"/>
              <a:sym typeface="Open Sans"/>
            </a:endParaRPr>
          </a:p>
          <a:p>
            <a:pPr indent="0" lvl="0" marL="139700" rtl="0" algn="l">
              <a:spcBef>
                <a:spcPts val="0"/>
              </a:spcBef>
              <a:spcAft>
                <a:spcPts val="0"/>
              </a:spcAft>
              <a:buClr>
                <a:srgbClr val="500000"/>
              </a:buClr>
              <a:buSzPts val="2200"/>
              <a:buNone/>
            </a:pPr>
            <a:r>
              <a:rPr b="0" lang="en-US"/>
              <a:t>Cons</a:t>
            </a:r>
            <a:endParaRPr b="0"/>
          </a:p>
          <a:p>
            <a:pPr indent="-368300" lvl="0" marL="457200" rtl="0" algn="l">
              <a:spcBef>
                <a:spcPts val="0"/>
              </a:spcBef>
              <a:spcAft>
                <a:spcPts val="0"/>
              </a:spcAft>
              <a:buSzPts val="2200"/>
              <a:buFont typeface="Open Sans"/>
              <a:buChar char="•"/>
            </a:pPr>
            <a:r>
              <a:rPr b="0" lang="en-US">
                <a:latin typeface="Open Sans"/>
                <a:ea typeface="Open Sans"/>
                <a:cs typeface="Open Sans"/>
                <a:sym typeface="Open Sans"/>
              </a:rPr>
              <a:t>Requires someone within the room to speak to</a:t>
            </a:r>
            <a:endParaRPr b="0">
              <a:latin typeface="Open Sans"/>
              <a:ea typeface="Open Sans"/>
              <a:cs typeface="Open Sans"/>
              <a:sym typeface="Open Sans"/>
            </a:endParaRPr>
          </a:p>
          <a:p>
            <a:pPr indent="-368300" lvl="0" marL="457200" rtl="0" algn="l">
              <a:spcBef>
                <a:spcPts val="0"/>
              </a:spcBef>
              <a:spcAft>
                <a:spcPts val="0"/>
              </a:spcAft>
              <a:buSzPts val="2200"/>
              <a:buFont typeface="Open Sans"/>
              <a:buChar char="•"/>
            </a:pPr>
            <a:r>
              <a:rPr b="0" lang="en-US">
                <a:latin typeface="Open Sans"/>
                <a:ea typeface="Open Sans"/>
                <a:cs typeface="Open Sans"/>
                <a:sym typeface="Open Sans"/>
              </a:rPr>
              <a:t>Only helps for audio, not for mapping environment</a:t>
            </a:r>
            <a:endParaRPr b="0">
              <a:latin typeface="Open Sans"/>
              <a:ea typeface="Open Sans"/>
              <a:cs typeface="Open Sans"/>
              <a:sym typeface="Open Sans"/>
            </a:endParaRPr>
          </a:p>
        </p:txBody>
      </p:sp>
      <p:sp>
        <p:nvSpPr>
          <p:cNvPr id="143" name="Google Shape;143;g3c82bc410a0_0_0"/>
          <p:cNvSpPr txBox="1"/>
          <p:nvPr>
            <p:ph type="title"/>
          </p:nvPr>
        </p:nvSpPr>
        <p:spPr>
          <a:xfrm>
            <a:off x="609600" y="238118"/>
            <a:ext cx="10972800" cy="8937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00000"/>
              </a:buClr>
              <a:buSzPts val="4400"/>
              <a:buFont typeface="Oswald Medium"/>
              <a:buNone/>
            </a:pPr>
            <a:r>
              <a:rPr lang="en-US">
                <a:solidFill>
                  <a:schemeClr val="lt1"/>
                </a:solidFill>
              </a:rPr>
              <a:t>Evaluation of alternative solutions</a:t>
            </a:r>
            <a:endParaRPr>
              <a:solidFill>
                <a:schemeClr val="lt1"/>
              </a:solidFill>
            </a:endParaRPr>
          </a:p>
        </p:txBody>
      </p:sp>
      <p:pic>
        <p:nvPicPr>
          <p:cNvPr id="144" name="Google Shape;144;g3c82bc410a0_0_0"/>
          <p:cNvPicPr preferRelativeResize="0"/>
          <p:nvPr/>
        </p:nvPicPr>
        <p:blipFill>
          <a:blip r:embed="rId3">
            <a:alphaModFix/>
          </a:blip>
          <a:stretch>
            <a:fillRect/>
          </a:stretch>
        </p:blipFill>
        <p:spPr>
          <a:xfrm>
            <a:off x="2375957" y="5041137"/>
            <a:ext cx="1645957" cy="1624650"/>
          </a:xfrm>
          <a:prstGeom prst="rect">
            <a:avLst/>
          </a:prstGeom>
          <a:noFill/>
          <a:ln>
            <a:noFill/>
          </a:ln>
        </p:spPr>
      </p:pic>
      <p:pic>
        <p:nvPicPr>
          <p:cNvPr id="145" name="Google Shape;145;g3c82bc410a0_0_0"/>
          <p:cNvPicPr preferRelativeResize="0"/>
          <p:nvPr/>
        </p:nvPicPr>
        <p:blipFill>
          <a:blip r:embed="rId4">
            <a:alphaModFix/>
          </a:blip>
          <a:stretch>
            <a:fillRect/>
          </a:stretch>
        </p:blipFill>
        <p:spPr>
          <a:xfrm>
            <a:off x="7405677" y="5080950"/>
            <a:ext cx="3311787" cy="16246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g3bd96a98101_0_31"/>
          <p:cNvSpPr txBox="1"/>
          <p:nvPr>
            <p:ph idx="1" type="body"/>
          </p:nvPr>
        </p:nvSpPr>
        <p:spPr>
          <a:xfrm>
            <a:off x="609600" y="1935375"/>
            <a:ext cx="5384700" cy="4682700"/>
          </a:xfrm>
          <a:prstGeom prst="rect">
            <a:avLst/>
          </a:prstGeom>
          <a:noFill/>
          <a:ln>
            <a:noFill/>
          </a:ln>
        </p:spPr>
        <p:txBody>
          <a:bodyPr anchorCtr="0" anchor="t" bIns="45700" lIns="91425" spcFirstLastPara="1" rIns="91425" wrap="square" tIns="45700">
            <a:normAutofit fontScale="92500" lnSpcReduction="20000"/>
          </a:bodyPr>
          <a:lstStyle/>
          <a:p>
            <a:pPr indent="-357822" lvl="0" marL="457200" rtl="0" algn="l">
              <a:spcBef>
                <a:spcPts val="0"/>
              </a:spcBef>
              <a:spcAft>
                <a:spcPts val="0"/>
              </a:spcAft>
              <a:buSzPct val="100000"/>
              <a:buChar char="●"/>
            </a:pPr>
            <a:r>
              <a:rPr lang="en-US"/>
              <a:t>A throwable ball containing cameras and electronics can be tossed into an environment</a:t>
            </a:r>
            <a:endParaRPr/>
          </a:p>
          <a:p>
            <a:pPr indent="0" lvl="0" marL="0" rtl="0" algn="l">
              <a:spcBef>
                <a:spcPts val="0"/>
              </a:spcBef>
              <a:spcAft>
                <a:spcPts val="0"/>
              </a:spcAft>
              <a:buNone/>
            </a:pPr>
            <a:r>
              <a:t/>
            </a:r>
            <a:endParaRPr/>
          </a:p>
          <a:p>
            <a:pPr indent="-357822" lvl="0" marL="457200" rtl="0" algn="l">
              <a:spcBef>
                <a:spcPts val="0"/>
              </a:spcBef>
              <a:spcAft>
                <a:spcPts val="0"/>
              </a:spcAft>
              <a:buSzPct val="100000"/>
              <a:buChar char="●"/>
            </a:pPr>
            <a:r>
              <a:rPr lang="en-US"/>
              <a:t>Once deployed, the ball captures wide-angle photos from each camera and transmits them to remote server via TAMU IoT</a:t>
            </a:r>
            <a:endParaRPr/>
          </a:p>
          <a:p>
            <a:pPr indent="0" lvl="0" marL="0" rtl="0" algn="l">
              <a:spcBef>
                <a:spcPts val="0"/>
              </a:spcBef>
              <a:spcAft>
                <a:spcPts val="0"/>
              </a:spcAft>
              <a:buNone/>
            </a:pPr>
            <a:r>
              <a:t/>
            </a:r>
            <a:endParaRPr/>
          </a:p>
          <a:p>
            <a:pPr indent="-357822" lvl="0" marL="457200" rtl="0" algn="l">
              <a:spcBef>
                <a:spcPts val="0"/>
              </a:spcBef>
              <a:spcAft>
                <a:spcPts val="0"/>
              </a:spcAft>
              <a:buSzPct val="100000"/>
              <a:buChar char="●"/>
            </a:pPr>
            <a:r>
              <a:rPr lang="en-US"/>
              <a:t>Once received by server, it synchronizes the data and performs 3D reconstruction via 3D Gaussian Splatting</a:t>
            </a:r>
            <a:endParaRPr/>
          </a:p>
          <a:p>
            <a:pPr indent="0" lvl="0" marL="0" rtl="0" algn="l">
              <a:spcBef>
                <a:spcPts val="0"/>
              </a:spcBef>
              <a:spcAft>
                <a:spcPts val="0"/>
              </a:spcAft>
              <a:buNone/>
            </a:pPr>
            <a:r>
              <a:t/>
            </a:r>
            <a:endParaRPr/>
          </a:p>
          <a:p>
            <a:pPr indent="-357822" lvl="0" marL="457200" rtl="0" algn="l">
              <a:spcBef>
                <a:spcPts val="0"/>
              </a:spcBef>
              <a:spcAft>
                <a:spcPts val="0"/>
              </a:spcAft>
              <a:buSzPct val="100000"/>
              <a:buChar char="●"/>
            </a:pPr>
            <a:r>
              <a:rPr lang="en-US"/>
              <a:t>Resulting 3D model sent to connected device for operator to inspect</a:t>
            </a:r>
            <a:endParaRPr/>
          </a:p>
          <a:p>
            <a:pPr indent="0" lvl="0" marL="457200" rtl="0" algn="l">
              <a:spcBef>
                <a:spcPts val="0"/>
              </a:spcBef>
              <a:spcAft>
                <a:spcPts val="0"/>
              </a:spcAft>
              <a:buNone/>
            </a:pPr>
            <a:r>
              <a:t/>
            </a:r>
            <a:endParaRPr/>
          </a:p>
        </p:txBody>
      </p:sp>
      <p:sp>
        <p:nvSpPr>
          <p:cNvPr id="151" name="Google Shape;151;g3bd96a98101_0_31"/>
          <p:cNvSpPr txBox="1"/>
          <p:nvPr>
            <p:ph type="title"/>
          </p:nvPr>
        </p:nvSpPr>
        <p:spPr>
          <a:xfrm>
            <a:off x="609600" y="238118"/>
            <a:ext cx="10972800" cy="8937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00000"/>
              </a:buClr>
              <a:buSzPts val="4400"/>
              <a:buFont typeface="Oswald Medium"/>
              <a:buNone/>
            </a:pPr>
            <a:r>
              <a:rPr lang="en-US">
                <a:solidFill>
                  <a:schemeClr val="lt1"/>
                </a:solidFill>
              </a:rPr>
              <a:t>Proposed Design: Overview</a:t>
            </a:r>
            <a:endParaRPr>
              <a:solidFill>
                <a:schemeClr val="lt1"/>
              </a:solidFill>
            </a:endParaRPr>
          </a:p>
        </p:txBody>
      </p:sp>
      <p:pic>
        <p:nvPicPr>
          <p:cNvPr id="152" name="Google Shape;152;g3bd96a98101_0_31" title="Frame 2 - Operational Flow Block Design.png"/>
          <p:cNvPicPr preferRelativeResize="0"/>
          <p:nvPr/>
        </p:nvPicPr>
        <p:blipFill>
          <a:blip r:embed="rId3">
            <a:alphaModFix/>
          </a:blip>
          <a:stretch>
            <a:fillRect/>
          </a:stretch>
        </p:blipFill>
        <p:spPr>
          <a:xfrm>
            <a:off x="6234925" y="1181425"/>
            <a:ext cx="5722425" cy="57224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3c858109de7_0_2"/>
          <p:cNvSpPr txBox="1"/>
          <p:nvPr>
            <p:ph type="title"/>
          </p:nvPr>
        </p:nvSpPr>
        <p:spPr>
          <a:xfrm>
            <a:off x="609600" y="238118"/>
            <a:ext cx="10972800" cy="8937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00000"/>
              </a:buClr>
              <a:buSzPts val="4400"/>
              <a:buFont typeface="Oswald Medium"/>
              <a:buNone/>
            </a:pPr>
            <a:r>
              <a:rPr lang="en-US">
                <a:solidFill>
                  <a:schemeClr val="lt1"/>
                </a:solidFill>
              </a:rPr>
              <a:t>Proposed Design: Overview</a:t>
            </a:r>
            <a:endParaRPr>
              <a:solidFill>
                <a:schemeClr val="lt1"/>
              </a:solidFill>
            </a:endParaRPr>
          </a:p>
        </p:txBody>
      </p:sp>
      <p:pic>
        <p:nvPicPr>
          <p:cNvPr id="158" name="Google Shape;158;g3c858109de7_0_2"/>
          <p:cNvPicPr preferRelativeResize="0"/>
          <p:nvPr/>
        </p:nvPicPr>
        <p:blipFill>
          <a:blip r:embed="rId3">
            <a:alphaModFix/>
          </a:blip>
          <a:stretch>
            <a:fillRect/>
          </a:stretch>
        </p:blipFill>
        <p:spPr>
          <a:xfrm>
            <a:off x="1232250" y="1131825"/>
            <a:ext cx="9727511" cy="5471725"/>
          </a:xfrm>
          <a:prstGeom prst="rect">
            <a:avLst/>
          </a:prstGeom>
          <a:noFill/>
          <a:ln>
            <a:noFill/>
          </a:ln>
        </p:spPr>
      </p:pic>
      <p:sp>
        <p:nvSpPr>
          <p:cNvPr id="159" name="Google Shape;159;g3c858109de7_0_2"/>
          <p:cNvSpPr/>
          <p:nvPr/>
        </p:nvSpPr>
        <p:spPr>
          <a:xfrm>
            <a:off x="7672650" y="1818450"/>
            <a:ext cx="3606300" cy="4785300"/>
          </a:xfrm>
          <a:prstGeom prst="roundRect">
            <a:avLst>
              <a:gd fmla="val 16667" name="adj"/>
            </a:avLst>
          </a:prstGeom>
          <a:noFill/>
          <a:ln cap="flat" cmpd="sng" w="36850">
            <a:solidFill>
              <a:schemeClr val="dk2"/>
            </a:solidFill>
            <a:prstDash val="solid"/>
            <a:round/>
            <a:headEnd len="sm" w="sm" type="none"/>
            <a:tailEnd len="sm" w="sm" type="none"/>
          </a:ln>
        </p:spPr>
        <p:txBody>
          <a:bodyPr anchorCtr="0" anchor="ctr" bIns="88400" lIns="88400" spcFirstLastPara="1" rIns="88400" wrap="square" tIns="88400">
            <a:noAutofit/>
          </a:bodyPr>
          <a:lstStyle/>
          <a:p>
            <a:pPr indent="0" lvl="0" marL="0" rtl="0" algn="ctr">
              <a:spcBef>
                <a:spcPts val="0"/>
              </a:spcBef>
              <a:spcAft>
                <a:spcPts val="0"/>
              </a:spcAft>
              <a:buNone/>
            </a:pPr>
            <a:r>
              <a:t/>
            </a:r>
            <a:endParaRPr sz="1353">
              <a:latin typeface="Open Sans"/>
              <a:ea typeface="Open Sans"/>
              <a:cs typeface="Open Sans"/>
              <a:sym typeface="Open Sans"/>
            </a:endParaRPr>
          </a:p>
        </p:txBody>
      </p:sp>
      <p:sp>
        <p:nvSpPr>
          <p:cNvPr id="160" name="Google Shape;160;g3c858109de7_0_2"/>
          <p:cNvSpPr txBox="1"/>
          <p:nvPr/>
        </p:nvSpPr>
        <p:spPr>
          <a:xfrm>
            <a:off x="8503674" y="1849105"/>
            <a:ext cx="1944300" cy="446400"/>
          </a:xfrm>
          <a:prstGeom prst="rect">
            <a:avLst/>
          </a:prstGeom>
          <a:solidFill>
            <a:srgbClr val="D9D9D9"/>
          </a:solidFill>
          <a:ln>
            <a:noFill/>
          </a:ln>
        </p:spPr>
        <p:txBody>
          <a:bodyPr anchorCtr="0" anchor="t" bIns="88400" lIns="88400" spcFirstLastPara="1" rIns="88400" wrap="square" tIns="88400">
            <a:spAutoFit/>
          </a:bodyPr>
          <a:lstStyle/>
          <a:p>
            <a:pPr indent="0" lvl="0" marL="0" rtl="0" algn="l">
              <a:spcBef>
                <a:spcPts val="0"/>
              </a:spcBef>
              <a:spcAft>
                <a:spcPts val="0"/>
              </a:spcAft>
              <a:buNone/>
            </a:pPr>
            <a:r>
              <a:rPr b="1" lang="en-US" sz="1740">
                <a:solidFill>
                  <a:srgbClr val="500000"/>
                </a:solidFill>
                <a:latin typeface="Open Sans"/>
                <a:ea typeface="Open Sans"/>
                <a:cs typeface="Open Sans"/>
                <a:sym typeface="Open Sans"/>
              </a:rPr>
              <a:t>Monitoring Unit</a:t>
            </a:r>
            <a:endParaRPr b="1" sz="1740">
              <a:solidFill>
                <a:srgbClr val="500000"/>
              </a:solidFill>
              <a:latin typeface="Open Sans"/>
              <a:ea typeface="Open Sans"/>
              <a:cs typeface="Open Sans"/>
              <a:sym typeface="Open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g3c707e37b49_0_10"/>
          <p:cNvSpPr txBox="1"/>
          <p:nvPr>
            <p:ph idx="1" type="body"/>
          </p:nvPr>
        </p:nvSpPr>
        <p:spPr>
          <a:xfrm>
            <a:off x="494425" y="1284226"/>
            <a:ext cx="5384700" cy="5288700"/>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None/>
            </a:pPr>
            <a:r>
              <a:rPr lang="en-US"/>
              <a:t>Physical Shell:</a:t>
            </a:r>
            <a:r>
              <a:rPr b="0" lang="en-US">
                <a:latin typeface="Open Sans"/>
                <a:ea typeface="Open Sans"/>
                <a:cs typeface="Open Sans"/>
                <a:sym typeface="Open Sans"/>
              </a:rPr>
              <a:t> </a:t>
            </a:r>
            <a:r>
              <a:rPr b="0" lang="en-US" sz="2000">
                <a:latin typeface="Open Sans"/>
                <a:ea typeface="Open Sans"/>
                <a:cs typeface="Open Sans"/>
                <a:sym typeface="Open Sans"/>
              </a:rPr>
              <a:t>3D-printed/CAD Design</a:t>
            </a:r>
            <a:endParaRPr b="0" sz="2000">
              <a:latin typeface="Open Sans"/>
              <a:ea typeface="Open Sans"/>
              <a:cs typeface="Open Sans"/>
              <a:sym typeface="Open Sans"/>
            </a:endParaRPr>
          </a:p>
          <a:p>
            <a:pPr indent="0" lvl="0" marL="0" rtl="0" algn="l">
              <a:spcBef>
                <a:spcPts val="0"/>
              </a:spcBef>
              <a:spcAft>
                <a:spcPts val="0"/>
              </a:spcAft>
              <a:buNone/>
            </a:pPr>
            <a:r>
              <a:rPr b="0" lang="en-US" sz="2000">
                <a:latin typeface="Open Sans"/>
                <a:ea typeface="Open Sans"/>
                <a:cs typeface="Open Sans"/>
                <a:sym typeface="Open Sans"/>
              </a:rPr>
              <a:t>(ABS filament for temperature resistance)</a:t>
            </a:r>
            <a:endParaRPr b="0" sz="2000">
              <a:latin typeface="Open Sans"/>
              <a:ea typeface="Open Sans"/>
              <a:cs typeface="Open Sans"/>
              <a:sym typeface="Open Sans"/>
            </a:endParaRPr>
          </a:p>
          <a:p>
            <a:pPr indent="0" lvl="0" marL="0" rtl="0" algn="l">
              <a:spcBef>
                <a:spcPts val="0"/>
              </a:spcBef>
              <a:spcAft>
                <a:spcPts val="0"/>
              </a:spcAft>
              <a:buNone/>
            </a:pPr>
            <a:r>
              <a:t/>
            </a:r>
            <a:endParaRPr/>
          </a:p>
          <a:p>
            <a:pPr indent="0" lvl="0" marL="0" rtl="0" algn="l">
              <a:spcBef>
                <a:spcPts val="0"/>
              </a:spcBef>
              <a:spcAft>
                <a:spcPts val="0"/>
              </a:spcAft>
              <a:buNone/>
            </a:pPr>
            <a:r>
              <a:rPr lang="en-US"/>
              <a:t>Components:</a:t>
            </a:r>
            <a:endParaRPr/>
          </a:p>
          <a:p>
            <a:pPr indent="-355600" lvl="0" marL="457200" rtl="0" algn="l">
              <a:spcBef>
                <a:spcPts val="0"/>
              </a:spcBef>
              <a:spcAft>
                <a:spcPts val="0"/>
              </a:spcAft>
              <a:buSzPts val="2000"/>
              <a:buChar char="●"/>
            </a:pPr>
            <a:r>
              <a:rPr b="0" lang="en-US" sz="2000">
                <a:latin typeface="Open Sans"/>
                <a:ea typeface="Open Sans"/>
                <a:cs typeface="Open Sans"/>
                <a:sym typeface="Open Sans"/>
              </a:rPr>
              <a:t>Raspberry Pi 4B microprocessor</a:t>
            </a:r>
            <a:endParaRPr b="0" sz="2000">
              <a:latin typeface="Open Sans"/>
              <a:ea typeface="Open Sans"/>
              <a:cs typeface="Open Sans"/>
              <a:sym typeface="Open Sans"/>
            </a:endParaRPr>
          </a:p>
          <a:p>
            <a:pPr indent="-355600" lvl="0" marL="457200" rtl="0" algn="l">
              <a:spcBef>
                <a:spcPts val="0"/>
              </a:spcBef>
              <a:spcAft>
                <a:spcPts val="0"/>
              </a:spcAft>
              <a:buSzPts val="2000"/>
              <a:buFont typeface="Open Sans"/>
              <a:buChar char="●"/>
            </a:pPr>
            <a:r>
              <a:rPr b="0" lang="en-US" sz="2000">
                <a:latin typeface="Open Sans"/>
                <a:ea typeface="Open Sans"/>
                <a:cs typeface="Open Sans"/>
                <a:sym typeface="Open Sans"/>
              </a:rPr>
              <a:t>Camera multiplexer</a:t>
            </a:r>
            <a:endParaRPr b="0" sz="2000">
              <a:latin typeface="Open Sans"/>
              <a:ea typeface="Open Sans"/>
              <a:cs typeface="Open Sans"/>
              <a:sym typeface="Open Sans"/>
            </a:endParaRPr>
          </a:p>
          <a:p>
            <a:pPr indent="-355600" lvl="0" marL="457200" rtl="0" algn="l">
              <a:spcBef>
                <a:spcPts val="0"/>
              </a:spcBef>
              <a:spcAft>
                <a:spcPts val="0"/>
              </a:spcAft>
              <a:buSzPts val="2000"/>
              <a:buFont typeface="Open Sans"/>
              <a:buChar char="●"/>
            </a:pPr>
            <a:r>
              <a:rPr b="0" lang="en-US" sz="2000">
                <a:latin typeface="Open Sans"/>
                <a:ea typeface="Open Sans"/>
                <a:cs typeface="Open Sans"/>
                <a:sym typeface="Open Sans"/>
              </a:rPr>
              <a:t>3 Camera modules</a:t>
            </a:r>
            <a:endParaRPr b="0" sz="2000">
              <a:latin typeface="Open Sans"/>
              <a:ea typeface="Open Sans"/>
              <a:cs typeface="Open Sans"/>
              <a:sym typeface="Open Sans"/>
            </a:endParaRPr>
          </a:p>
          <a:p>
            <a:pPr indent="-355600" lvl="0" marL="457200" rtl="0" algn="l">
              <a:spcBef>
                <a:spcPts val="0"/>
              </a:spcBef>
              <a:spcAft>
                <a:spcPts val="0"/>
              </a:spcAft>
              <a:buSzPts val="2000"/>
              <a:buFont typeface="Open Sans"/>
              <a:buChar char="●"/>
            </a:pPr>
            <a:r>
              <a:rPr b="0" lang="en-US" sz="2000">
                <a:latin typeface="Open Sans"/>
                <a:ea typeface="Open Sans"/>
                <a:cs typeface="Open Sans"/>
                <a:sym typeface="Open Sans"/>
              </a:rPr>
              <a:t>Portable USB battery bank</a:t>
            </a:r>
            <a:endParaRPr b="0" sz="2000">
              <a:latin typeface="Open Sans"/>
              <a:ea typeface="Open Sans"/>
              <a:cs typeface="Open Sans"/>
              <a:sym typeface="Open Sans"/>
            </a:endParaRPr>
          </a:p>
          <a:p>
            <a:pPr indent="-355600" lvl="0" marL="457200" rtl="0" algn="l">
              <a:spcBef>
                <a:spcPts val="0"/>
              </a:spcBef>
              <a:spcAft>
                <a:spcPts val="0"/>
              </a:spcAft>
              <a:buSzPts val="2000"/>
              <a:buFont typeface="Open Sans"/>
              <a:buChar char="●"/>
            </a:pPr>
            <a:r>
              <a:rPr b="0" lang="en-US" sz="2000">
                <a:latin typeface="Open Sans"/>
                <a:ea typeface="Open Sans"/>
                <a:cs typeface="Open Sans"/>
                <a:sym typeface="Open Sans"/>
              </a:rPr>
              <a:t>IMU Sensor (For camera-cut alg)</a:t>
            </a:r>
            <a:endParaRPr b="0" sz="2000">
              <a:latin typeface="Open Sans"/>
              <a:ea typeface="Open Sans"/>
              <a:cs typeface="Open Sans"/>
              <a:sym typeface="Open Sans"/>
            </a:endParaRPr>
          </a:p>
          <a:p>
            <a:pPr indent="0" lvl="0" marL="0" rtl="0" algn="l">
              <a:spcBef>
                <a:spcPts val="0"/>
              </a:spcBef>
              <a:spcAft>
                <a:spcPts val="0"/>
              </a:spcAft>
              <a:buNone/>
            </a:pPr>
            <a:r>
              <a:t/>
            </a:r>
            <a:endParaRPr/>
          </a:p>
          <a:p>
            <a:pPr indent="0" lvl="0" marL="0" rtl="0" algn="l">
              <a:spcBef>
                <a:spcPts val="0"/>
              </a:spcBef>
              <a:spcAft>
                <a:spcPts val="0"/>
              </a:spcAft>
              <a:buNone/>
            </a:pPr>
            <a:r>
              <a:rPr lang="en-US"/>
              <a:t>Overview</a:t>
            </a:r>
            <a:endParaRPr/>
          </a:p>
          <a:p>
            <a:pPr indent="-355600" lvl="0" marL="457200" rtl="0" algn="l">
              <a:spcBef>
                <a:spcPts val="0"/>
              </a:spcBef>
              <a:spcAft>
                <a:spcPts val="0"/>
              </a:spcAft>
              <a:buSzPts val="2000"/>
              <a:buFont typeface="Open Sans"/>
              <a:buChar char="●"/>
            </a:pPr>
            <a:r>
              <a:rPr b="0" lang="en-US" sz="2000">
                <a:latin typeface="Open Sans"/>
                <a:ea typeface="Open Sans"/>
                <a:cs typeface="Open Sans"/>
                <a:sym typeface="Open Sans"/>
              </a:rPr>
              <a:t>Cameras connected to Pi via Multiplexer</a:t>
            </a:r>
            <a:endParaRPr b="0" sz="2000">
              <a:latin typeface="Open Sans"/>
              <a:ea typeface="Open Sans"/>
              <a:cs typeface="Open Sans"/>
              <a:sym typeface="Open Sans"/>
            </a:endParaRPr>
          </a:p>
          <a:p>
            <a:pPr indent="-355600" lvl="0" marL="457200" rtl="0" algn="l">
              <a:spcBef>
                <a:spcPts val="0"/>
              </a:spcBef>
              <a:spcAft>
                <a:spcPts val="0"/>
              </a:spcAft>
              <a:buSzPts val="2000"/>
              <a:buFont typeface="Open Sans"/>
              <a:buChar char="●"/>
            </a:pPr>
            <a:r>
              <a:rPr b="0" lang="en-US" sz="2000">
                <a:latin typeface="Open Sans"/>
                <a:ea typeface="Open Sans"/>
                <a:cs typeface="Open Sans"/>
                <a:sym typeface="Open Sans"/>
              </a:rPr>
              <a:t>IMU Sensor connected to Pi</a:t>
            </a:r>
            <a:endParaRPr b="0" sz="2000">
              <a:latin typeface="Open Sans"/>
              <a:ea typeface="Open Sans"/>
              <a:cs typeface="Open Sans"/>
              <a:sym typeface="Open Sans"/>
            </a:endParaRPr>
          </a:p>
          <a:p>
            <a:pPr indent="-355600" lvl="0" marL="457200" rtl="0" algn="l">
              <a:spcBef>
                <a:spcPts val="0"/>
              </a:spcBef>
              <a:spcAft>
                <a:spcPts val="0"/>
              </a:spcAft>
              <a:buSzPts val="2000"/>
              <a:buFont typeface="Open Sans"/>
              <a:buChar char="●"/>
            </a:pPr>
            <a:r>
              <a:rPr b="0" lang="en-US" sz="2000">
                <a:latin typeface="Open Sans"/>
                <a:ea typeface="Open Sans"/>
                <a:cs typeface="Open Sans"/>
                <a:sym typeface="Open Sans"/>
              </a:rPr>
              <a:t>All components powered by a portable battery bank through the Pi</a:t>
            </a:r>
            <a:endParaRPr b="0" sz="2000">
              <a:latin typeface="Open Sans"/>
              <a:ea typeface="Open Sans"/>
              <a:cs typeface="Open Sans"/>
              <a:sym typeface="Open Sans"/>
            </a:endParaRPr>
          </a:p>
          <a:p>
            <a:pPr indent="-355600" lvl="0" marL="457200" rtl="0" algn="l">
              <a:spcBef>
                <a:spcPts val="0"/>
              </a:spcBef>
              <a:spcAft>
                <a:spcPts val="0"/>
              </a:spcAft>
              <a:buSzPts val="2000"/>
              <a:buFont typeface="Open Sans"/>
              <a:buChar char="●"/>
            </a:pPr>
            <a:r>
              <a:rPr b="0" lang="en-US" sz="2000">
                <a:latin typeface="Open Sans"/>
                <a:ea typeface="Open Sans"/>
                <a:cs typeface="Open Sans"/>
                <a:sym typeface="Open Sans"/>
              </a:rPr>
              <a:t>Cameras and Pi are mounted by screws</a:t>
            </a:r>
            <a:endParaRPr b="0" sz="2000">
              <a:latin typeface="Open Sans"/>
              <a:ea typeface="Open Sans"/>
              <a:cs typeface="Open Sans"/>
              <a:sym typeface="Open Sans"/>
            </a:endParaRPr>
          </a:p>
        </p:txBody>
      </p:sp>
      <p:sp>
        <p:nvSpPr>
          <p:cNvPr id="166" name="Google Shape;166;g3c707e37b49_0_10"/>
          <p:cNvSpPr txBox="1"/>
          <p:nvPr>
            <p:ph type="title"/>
          </p:nvPr>
        </p:nvSpPr>
        <p:spPr>
          <a:xfrm>
            <a:off x="609600" y="238118"/>
            <a:ext cx="10972800" cy="8937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00000"/>
              </a:buClr>
              <a:buSzPts val="4400"/>
              <a:buFont typeface="Oswald Medium"/>
              <a:buNone/>
            </a:pPr>
            <a:r>
              <a:rPr lang="en-US">
                <a:solidFill>
                  <a:schemeClr val="lt1"/>
                </a:solidFill>
              </a:rPr>
              <a:t>Hardware Design: Throwable Ball</a:t>
            </a:r>
            <a:endParaRPr>
              <a:solidFill>
                <a:schemeClr val="lt1"/>
              </a:solidFill>
            </a:endParaRPr>
          </a:p>
        </p:txBody>
      </p:sp>
      <p:sp>
        <p:nvSpPr>
          <p:cNvPr id="167" name="Google Shape;167;g3c707e37b49_0_10"/>
          <p:cNvSpPr txBox="1"/>
          <p:nvPr/>
        </p:nvSpPr>
        <p:spPr>
          <a:xfrm>
            <a:off x="6166613" y="5735925"/>
            <a:ext cx="5654700" cy="8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rgbClr val="500000"/>
                </a:solidFill>
                <a:latin typeface="Open Sans"/>
                <a:ea typeface="Open Sans"/>
                <a:cs typeface="Open Sans"/>
                <a:sym typeface="Open Sans"/>
              </a:rPr>
              <a:t>Battery→Pi (Initializing power source)</a:t>
            </a:r>
            <a:endParaRPr sz="2000">
              <a:solidFill>
                <a:srgbClr val="500000"/>
              </a:solidFill>
              <a:latin typeface="Open Sans"/>
              <a:ea typeface="Open Sans"/>
              <a:cs typeface="Open Sans"/>
              <a:sym typeface="Open Sans"/>
            </a:endParaRPr>
          </a:p>
          <a:p>
            <a:pPr indent="0" lvl="0" marL="0" rtl="0" algn="l">
              <a:spcBef>
                <a:spcPts val="0"/>
              </a:spcBef>
              <a:spcAft>
                <a:spcPts val="0"/>
              </a:spcAft>
              <a:buNone/>
            </a:pPr>
            <a:r>
              <a:rPr lang="en-US" sz="2000">
                <a:solidFill>
                  <a:srgbClr val="500000"/>
                </a:solidFill>
                <a:latin typeface="Open Sans"/>
                <a:ea typeface="Open Sans"/>
                <a:cs typeface="Open Sans"/>
                <a:sym typeface="Open Sans"/>
              </a:rPr>
              <a:t>Raspberry Pi→Camera Multiplexer→Cameras</a:t>
            </a:r>
            <a:endParaRPr sz="2000">
              <a:solidFill>
                <a:srgbClr val="500000"/>
              </a:solidFill>
              <a:latin typeface="Open Sans"/>
              <a:ea typeface="Open Sans"/>
              <a:cs typeface="Open Sans"/>
              <a:sym typeface="Open Sans"/>
            </a:endParaRPr>
          </a:p>
        </p:txBody>
      </p:sp>
      <p:pic>
        <p:nvPicPr>
          <p:cNvPr id="168" name="Google Shape;168;g3c707e37b49_0_10"/>
          <p:cNvPicPr preferRelativeResize="0"/>
          <p:nvPr/>
        </p:nvPicPr>
        <p:blipFill rotWithShape="1">
          <a:blip r:embed="rId3">
            <a:alphaModFix/>
          </a:blip>
          <a:srcRect b="0" l="0" r="6629" t="0"/>
          <a:stretch/>
        </p:blipFill>
        <p:spPr>
          <a:xfrm>
            <a:off x="5994300" y="1284225"/>
            <a:ext cx="5999324" cy="43577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c707e37b49_0_4"/>
          <p:cNvSpPr txBox="1"/>
          <p:nvPr>
            <p:ph idx="1" type="body"/>
          </p:nvPr>
        </p:nvSpPr>
        <p:spPr>
          <a:xfrm>
            <a:off x="7098350" y="3708200"/>
            <a:ext cx="1782300" cy="1326000"/>
          </a:xfrm>
          <a:prstGeom prst="rect">
            <a:avLst/>
          </a:prstGeom>
          <a:noFill/>
          <a:ln>
            <a:noFill/>
          </a:ln>
        </p:spPr>
        <p:txBody>
          <a:bodyPr anchorCtr="0" anchor="t" bIns="43775" lIns="87575" spcFirstLastPara="1" rIns="87575" wrap="square" tIns="43775">
            <a:normAutofit/>
          </a:bodyPr>
          <a:lstStyle/>
          <a:p>
            <a:pPr indent="0" lvl="0" marL="437944" rtl="0" algn="l">
              <a:spcBef>
                <a:spcPts val="0"/>
              </a:spcBef>
              <a:spcAft>
                <a:spcPts val="0"/>
              </a:spcAft>
              <a:buNone/>
            </a:pPr>
            <a:r>
              <a:rPr lang="en-US" sz="2107"/>
              <a:t>Server process image</a:t>
            </a:r>
            <a:endParaRPr sz="2107"/>
          </a:p>
        </p:txBody>
      </p:sp>
      <p:sp>
        <p:nvSpPr>
          <p:cNvPr id="174" name="Google Shape;174;g3c707e37b49_0_4"/>
          <p:cNvSpPr txBox="1"/>
          <p:nvPr>
            <p:ph type="title"/>
          </p:nvPr>
        </p:nvSpPr>
        <p:spPr>
          <a:xfrm>
            <a:off x="609600" y="238118"/>
            <a:ext cx="10972800" cy="8937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00000"/>
              </a:buClr>
              <a:buSzPts val="4400"/>
              <a:buFont typeface="Oswald Medium"/>
              <a:buNone/>
            </a:pPr>
            <a:r>
              <a:rPr lang="en-US" sz="4000">
                <a:solidFill>
                  <a:schemeClr val="lt1"/>
                </a:solidFill>
              </a:rPr>
              <a:t>Software Design: Server Connection</a:t>
            </a:r>
            <a:endParaRPr sz="4000">
              <a:solidFill>
                <a:schemeClr val="lt1"/>
              </a:solidFill>
            </a:endParaRPr>
          </a:p>
        </p:txBody>
      </p:sp>
      <p:cxnSp>
        <p:nvCxnSpPr>
          <p:cNvPr id="175" name="Google Shape;175;g3c707e37b49_0_4"/>
          <p:cNvCxnSpPr/>
          <p:nvPr/>
        </p:nvCxnSpPr>
        <p:spPr>
          <a:xfrm rot="10800000">
            <a:off x="8661042" y="4067666"/>
            <a:ext cx="2124900" cy="118500"/>
          </a:xfrm>
          <a:prstGeom prst="straightConnector1">
            <a:avLst/>
          </a:prstGeom>
          <a:noFill/>
          <a:ln cap="flat" cmpd="sng" w="9125">
            <a:solidFill>
              <a:schemeClr val="dk2"/>
            </a:solidFill>
            <a:prstDash val="solid"/>
            <a:round/>
            <a:headEnd len="med" w="med" type="none"/>
            <a:tailEnd len="med" w="med" type="triangle"/>
          </a:ln>
        </p:spPr>
      </p:cxnSp>
      <p:sp>
        <p:nvSpPr>
          <p:cNvPr id="176" name="Google Shape;176;g3c707e37b49_0_4"/>
          <p:cNvSpPr txBox="1"/>
          <p:nvPr/>
        </p:nvSpPr>
        <p:spPr>
          <a:xfrm>
            <a:off x="10871325" y="3889925"/>
            <a:ext cx="1094700" cy="477000"/>
          </a:xfrm>
          <a:prstGeom prst="rect">
            <a:avLst/>
          </a:prstGeom>
          <a:noFill/>
          <a:ln>
            <a:noFill/>
          </a:ln>
        </p:spPr>
        <p:txBody>
          <a:bodyPr anchorCtr="0" anchor="t" bIns="87575" lIns="87575" spcFirstLastPara="1" rIns="87575" wrap="square" tIns="87575">
            <a:spAutoFit/>
          </a:bodyPr>
          <a:lstStyle/>
          <a:p>
            <a:pPr indent="0" lvl="0" marL="0" rtl="0" algn="l">
              <a:spcBef>
                <a:spcPts val="0"/>
              </a:spcBef>
              <a:spcAft>
                <a:spcPts val="0"/>
              </a:spcAft>
              <a:buNone/>
            </a:pPr>
            <a:r>
              <a:rPr lang="en-US" sz="1950">
                <a:solidFill>
                  <a:srgbClr val="500000"/>
                </a:solidFill>
                <a:latin typeface="Open Sans"/>
                <a:ea typeface="Open Sans"/>
                <a:cs typeface="Open Sans"/>
                <a:sym typeface="Open Sans"/>
              </a:rPr>
              <a:t>Ball</a:t>
            </a:r>
            <a:endParaRPr sz="1950">
              <a:solidFill>
                <a:srgbClr val="500000"/>
              </a:solidFill>
              <a:latin typeface="Open Sans"/>
              <a:ea typeface="Open Sans"/>
              <a:cs typeface="Open Sans"/>
              <a:sym typeface="Open Sans"/>
            </a:endParaRPr>
          </a:p>
        </p:txBody>
      </p:sp>
      <p:sp>
        <p:nvSpPr>
          <p:cNvPr id="177" name="Google Shape;177;g3c707e37b49_0_4"/>
          <p:cNvSpPr txBox="1"/>
          <p:nvPr/>
        </p:nvSpPr>
        <p:spPr>
          <a:xfrm>
            <a:off x="9106450" y="5690200"/>
            <a:ext cx="3163500" cy="781800"/>
          </a:xfrm>
          <a:prstGeom prst="rect">
            <a:avLst/>
          </a:prstGeom>
          <a:noFill/>
          <a:ln>
            <a:noFill/>
          </a:ln>
        </p:spPr>
        <p:txBody>
          <a:bodyPr anchorCtr="0" anchor="t" bIns="87575" lIns="87575" spcFirstLastPara="1" rIns="87575" wrap="square" tIns="87575">
            <a:spAutoFit/>
          </a:bodyPr>
          <a:lstStyle/>
          <a:p>
            <a:pPr indent="0" lvl="0" marL="0" rtl="0" algn="l">
              <a:spcBef>
                <a:spcPts val="0"/>
              </a:spcBef>
              <a:spcAft>
                <a:spcPts val="0"/>
              </a:spcAft>
              <a:buNone/>
            </a:pPr>
            <a:r>
              <a:rPr lang="en-US" sz="1965">
                <a:solidFill>
                  <a:srgbClr val="500000"/>
                </a:solidFill>
                <a:latin typeface="Open Sans"/>
                <a:ea typeface="Open Sans"/>
                <a:cs typeface="Open Sans"/>
                <a:sym typeface="Open Sans"/>
              </a:rPr>
              <a:t>Remote Operator navigates 3D scene</a:t>
            </a:r>
            <a:endParaRPr sz="1965">
              <a:solidFill>
                <a:srgbClr val="500000"/>
              </a:solidFill>
              <a:latin typeface="Open Sans"/>
              <a:ea typeface="Open Sans"/>
              <a:cs typeface="Open Sans"/>
              <a:sym typeface="Open Sans"/>
            </a:endParaRPr>
          </a:p>
        </p:txBody>
      </p:sp>
      <p:cxnSp>
        <p:nvCxnSpPr>
          <p:cNvPr id="178" name="Google Shape;178;g3c707e37b49_0_4"/>
          <p:cNvCxnSpPr/>
          <p:nvPr/>
        </p:nvCxnSpPr>
        <p:spPr>
          <a:xfrm rot="10800000">
            <a:off x="8583038" y="4582044"/>
            <a:ext cx="1678800" cy="1014600"/>
          </a:xfrm>
          <a:prstGeom prst="straightConnector1">
            <a:avLst/>
          </a:prstGeom>
          <a:noFill/>
          <a:ln cap="flat" cmpd="sng" w="9125">
            <a:solidFill>
              <a:schemeClr val="dk2"/>
            </a:solidFill>
            <a:prstDash val="solid"/>
            <a:round/>
            <a:headEnd len="med" w="med" type="none"/>
            <a:tailEnd len="med" w="med" type="triangle"/>
          </a:ln>
        </p:spPr>
      </p:cxnSp>
      <p:pic>
        <p:nvPicPr>
          <p:cNvPr id="179" name="Google Shape;179;g3c707e37b49_0_4"/>
          <p:cNvPicPr preferRelativeResize="0"/>
          <p:nvPr/>
        </p:nvPicPr>
        <p:blipFill>
          <a:blip r:embed="rId3">
            <a:alphaModFix/>
          </a:blip>
          <a:stretch>
            <a:fillRect/>
          </a:stretch>
        </p:blipFill>
        <p:spPr>
          <a:xfrm>
            <a:off x="7638510" y="1255751"/>
            <a:ext cx="4317615" cy="2326963"/>
          </a:xfrm>
          <a:prstGeom prst="rect">
            <a:avLst/>
          </a:prstGeom>
          <a:noFill/>
          <a:ln>
            <a:noFill/>
          </a:ln>
        </p:spPr>
      </p:pic>
      <p:sp>
        <p:nvSpPr>
          <p:cNvPr id="180" name="Google Shape;180;g3c707e37b49_0_4"/>
          <p:cNvSpPr txBox="1"/>
          <p:nvPr/>
        </p:nvSpPr>
        <p:spPr>
          <a:xfrm>
            <a:off x="365750" y="1361800"/>
            <a:ext cx="6732600" cy="511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u="sng">
                <a:solidFill>
                  <a:srgbClr val="500000"/>
                </a:solidFill>
                <a:latin typeface="Open Sans"/>
                <a:ea typeface="Open Sans"/>
                <a:cs typeface="Open Sans"/>
                <a:sym typeface="Open Sans"/>
              </a:rPr>
              <a:t>Network Architecture</a:t>
            </a:r>
            <a:endParaRPr b="1" sz="2000" u="sng">
              <a:solidFill>
                <a:srgbClr val="500000"/>
              </a:solidFill>
              <a:latin typeface="Open Sans"/>
              <a:ea typeface="Open Sans"/>
              <a:cs typeface="Open Sans"/>
              <a:sym typeface="Open Sans"/>
            </a:endParaRPr>
          </a:p>
          <a:p>
            <a:pPr indent="-355600" lvl="0" marL="457200" rtl="0" algn="l">
              <a:spcBef>
                <a:spcPts val="0"/>
              </a:spcBef>
              <a:spcAft>
                <a:spcPts val="0"/>
              </a:spcAft>
              <a:buClr>
                <a:srgbClr val="500000"/>
              </a:buClr>
              <a:buSzPts val="2000"/>
              <a:buFont typeface="Open Sans"/>
              <a:buChar char="●"/>
            </a:pPr>
            <a:r>
              <a:rPr b="1" lang="en-US" sz="2000">
                <a:solidFill>
                  <a:srgbClr val="500000"/>
                </a:solidFill>
                <a:latin typeface="Open Sans"/>
                <a:ea typeface="Open Sans"/>
                <a:cs typeface="Open Sans"/>
                <a:sym typeface="Open Sans"/>
              </a:rPr>
              <a:t>Tailscale VPN Mesh Networking</a:t>
            </a:r>
            <a:endParaRPr b="1" sz="2000">
              <a:solidFill>
                <a:srgbClr val="500000"/>
              </a:solidFill>
              <a:latin typeface="Open Sans"/>
              <a:ea typeface="Open Sans"/>
              <a:cs typeface="Open Sans"/>
              <a:sym typeface="Open Sans"/>
            </a:endParaRPr>
          </a:p>
          <a:p>
            <a:pPr indent="-355600" lvl="1" marL="914400" rtl="0" algn="l">
              <a:spcBef>
                <a:spcPts val="0"/>
              </a:spcBef>
              <a:spcAft>
                <a:spcPts val="0"/>
              </a:spcAft>
              <a:buClr>
                <a:srgbClr val="500000"/>
              </a:buClr>
              <a:buSzPts val="2000"/>
              <a:buFont typeface="Open Sans"/>
              <a:buChar char="○"/>
            </a:pPr>
            <a:r>
              <a:rPr lang="en-US" sz="2000">
                <a:solidFill>
                  <a:srgbClr val="500000"/>
                </a:solidFill>
                <a:latin typeface="Open Sans"/>
                <a:ea typeface="Open Sans"/>
                <a:cs typeface="Open Sans"/>
                <a:sym typeface="Open Sans"/>
              </a:rPr>
              <a:t>Secure </a:t>
            </a:r>
            <a:r>
              <a:rPr lang="en-US" sz="2000">
                <a:solidFill>
                  <a:srgbClr val="500000"/>
                </a:solidFill>
                <a:latin typeface="Open Sans"/>
                <a:ea typeface="Open Sans"/>
                <a:cs typeface="Open Sans"/>
                <a:sym typeface="Open Sans"/>
              </a:rPr>
              <a:t>encrypted</a:t>
            </a:r>
            <a:r>
              <a:rPr lang="en-US" sz="2000">
                <a:solidFill>
                  <a:srgbClr val="500000"/>
                </a:solidFill>
                <a:latin typeface="Open Sans"/>
                <a:ea typeface="Open Sans"/>
                <a:cs typeface="Open Sans"/>
                <a:sym typeface="Open Sans"/>
              </a:rPr>
              <a:t> tunnel between ball and server</a:t>
            </a:r>
            <a:endParaRPr sz="2000">
              <a:solidFill>
                <a:srgbClr val="500000"/>
              </a:solidFill>
              <a:latin typeface="Open Sans"/>
              <a:ea typeface="Open Sans"/>
              <a:cs typeface="Open Sans"/>
              <a:sym typeface="Open Sans"/>
            </a:endParaRPr>
          </a:p>
          <a:p>
            <a:pPr indent="-355600" lvl="1" marL="914400" rtl="0" algn="l">
              <a:spcBef>
                <a:spcPts val="0"/>
              </a:spcBef>
              <a:spcAft>
                <a:spcPts val="0"/>
              </a:spcAft>
              <a:buClr>
                <a:srgbClr val="500000"/>
              </a:buClr>
              <a:buSzPts val="2000"/>
              <a:buFont typeface="Open Sans"/>
              <a:buChar char="○"/>
            </a:pPr>
            <a:r>
              <a:rPr lang="en-US" sz="2000">
                <a:solidFill>
                  <a:srgbClr val="500000"/>
                </a:solidFill>
                <a:latin typeface="Open Sans"/>
                <a:ea typeface="Open Sans"/>
                <a:cs typeface="Open Sans"/>
                <a:sym typeface="Open Sans"/>
              </a:rPr>
              <a:t>Works across different physical Wi-Fi networks</a:t>
            </a:r>
            <a:endParaRPr sz="2000">
              <a:solidFill>
                <a:srgbClr val="500000"/>
              </a:solidFill>
              <a:latin typeface="Open Sans"/>
              <a:ea typeface="Open Sans"/>
              <a:cs typeface="Open Sans"/>
              <a:sym typeface="Open Sans"/>
            </a:endParaRPr>
          </a:p>
          <a:p>
            <a:pPr indent="0" lvl="0" marL="0" rtl="0" algn="l">
              <a:spcBef>
                <a:spcPts val="0"/>
              </a:spcBef>
              <a:spcAft>
                <a:spcPts val="0"/>
              </a:spcAft>
              <a:buNone/>
            </a:pPr>
            <a:r>
              <a:t/>
            </a:r>
            <a:endParaRPr sz="2000">
              <a:solidFill>
                <a:srgbClr val="500000"/>
              </a:solidFill>
              <a:latin typeface="Open Sans"/>
              <a:ea typeface="Open Sans"/>
              <a:cs typeface="Open Sans"/>
              <a:sym typeface="Open Sans"/>
            </a:endParaRPr>
          </a:p>
          <a:p>
            <a:pPr indent="0" lvl="0" marL="0" rtl="0" algn="l">
              <a:spcBef>
                <a:spcPts val="0"/>
              </a:spcBef>
              <a:spcAft>
                <a:spcPts val="0"/>
              </a:spcAft>
              <a:buNone/>
            </a:pPr>
            <a:r>
              <a:rPr b="1" lang="en-US" sz="2000" u="sng">
                <a:solidFill>
                  <a:srgbClr val="500000"/>
                </a:solidFill>
                <a:latin typeface="Open Sans"/>
                <a:ea typeface="Open Sans"/>
                <a:cs typeface="Open Sans"/>
                <a:sym typeface="Open Sans"/>
              </a:rPr>
              <a:t>Data Transmission</a:t>
            </a:r>
            <a:endParaRPr b="1" sz="2000" u="sng">
              <a:solidFill>
                <a:srgbClr val="500000"/>
              </a:solidFill>
              <a:latin typeface="Open Sans"/>
              <a:ea typeface="Open Sans"/>
              <a:cs typeface="Open Sans"/>
              <a:sym typeface="Open Sans"/>
            </a:endParaRPr>
          </a:p>
          <a:p>
            <a:pPr indent="-355600" lvl="0" marL="457200" rtl="0" algn="l">
              <a:spcBef>
                <a:spcPts val="0"/>
              </a:spcBef>
              <a:spcAft>
                <a:spcPts val="0"/>
              </a:spcAft>
              <a:buClr>
                <a:srgbClr val="500000"/>
              </a:buClr>
              <a:buSzPts val="2000"/>
              <a:buFont typeface="Open Sans"/>
              <a:buChar char="●"/>
            </a:pPr>
            <a:r>
              <a:rPr b="1" lang="en-US" sz="2000">
                <a:solidFill>
                  <a:srgbClr val="500000"/>
                </a:solidFill>
                <a:latin typeface="Open Sans"/>
                <a:ea typeface="Open Sans"/>
                <a:cs typeface="Open Sans"/>
                <a:sym typeface="Open Sans"/>
              </a:rPr>
              <a:t>From Ball to Server</a:t>
            </a:r>
            <a:endParaRPr b="1" sz="2000">
              <a:solidFill>
                <a:srgbClr val="500000"/>
              </a:solidFill>
              <a:latin typeface="Open Sans"/>
              <a:ea typeface="Open Sans"/>
              <a:cs typeface="Open Sans"/>
              <a:sym typeface="Open Sans"/>
            </a:endParaRPr>
          </a:p>
          <a:p>
            <a:pPr indent="-355600" lvl="1" marL="914400" rtl="0" algn="l">
              <a:spcBef>
                <a:spcPts val="0"/>
              </a:spcBef>
              <a:spcAft>
                <a:spcPts val="0"/>
              </a:spcAft>
              <a:buClr>
                <a:srgbClr val="500000"/>
              </a:buClr>
              <a:buSzPts val="2000"/>
              <a:buFont typeface="Open Sans"/>
              <a:buChar char="○"/>
            </a:pPr>
            <a:r>
              <a:rPr lang="en-US" sz="2000">
                <a:solidFill>
                  <a:srgbClr val="500000"/>
                </a:solidFill>
                <a:latin typeface="Open Sans"/>
                <a:ea typeface="Open Sans"/>
                <a:cs typeface="Open Sans"/>
                <a:sym typeface="Open Sans"/>
              </a:rPr>
              <a:t>Synchronized camera frames (JPEG compressed)</a:t>
            </a:r>
            <a:endParaRPr sz="2000">
              <a:solidFill>
                <a:srgbClr val="500000"/>
              </a:solidFill>
              <a:latin typeface="Open Sans"/>
              <a:ea typeface="Open Sans"/>
              <a:cs typeface="Open Sans"/>
              <a:sym typeface="Open Sans"/>
            </a:endParaRPr>
          </a:p>
          <a:p>
            <a:pPr indent="-355600" lvl="1" marL="914400" rtl="0" algn="l">
              <a:spcBef>
                <a:spcPts val="0"/>
              </a:spcBef>
              <a:spcAft>
                <a:spcPts val="0"/>
              </a:spcAft>
              <a:buClr>
                <a:srgbClr val="500000"/>
              </a:buClr>
              <a:buSzPts val="2000"/>
              <a:buFont typeface="Open Sans"/>
              <a:buChar char="○"/>
            </a:pPr>
            <a:r>
              <a:rPr lang="en-US" sz="2000">
                <a:solidFill>
                  <a:srgbClr val="500000"/>
                </a:solidFill>
                <a:latin typeface="Open Sans"/>
                <a:ea typeface="Open Sans"/>
                <a:cs typeface="Open Sans"/>
                <a:sym typeface="Open Sans"/>
              </a:rPr>
              <a:t>IMU orientation data</a:t>
            </a:r>
            <a:endParaRPr sz="2000">
              <a:solidFill>
                <a:srgbClr val="500000"/>
              </a:solidFill>
              <a:latin typeface="Open Sans"/>
              <a:ea typeface="Open Sans"/>
              <a:cs typeface="Open Sans"/>
              <a:sym typeface="Open Sans"/>
            </a:endParaRPr>
          </a:p>
          <a:p>
            <a:pPr indent="-355600" lvl="1" marL="914400" rtl="0" algn="l">
              <a:spcBef>
                <a:spcPts val="0"/>
              </a:spcBef>
              <a:spcAft>
                <a:spcPts val="0"/>
              </a:spcAft>
              <a:buClr>
                <a:srgbClr val="500000"/>
              </a:buClr>
              <a:buSzPts val="2000"/>
              <a:buFont typeface="Open Sans"/>
              <a:buChar char="○"/>
            </a:pPr>
            <a:r>
              <a:rPr lang="en-US" sz="2000">
                <a:solidFill>
                  <a:srgbClr val="500000"/>
                </a:solidFill>
                <a:latin typeface="Open Sans"/>
                <a:ea typeface="Open Sans"/>
                <a:cs typeface="Open Sans"/>
                <a:sym typeface="Open Sans"/>
              </a:rPr>
              <a:t>Timestamps for frame alignment</a:t>
            </a:r>
            <a:endParaRPr sz="2000">
              <a:solidFill>
                <a:srgbClr val="500000"/>
              </a:solidFill>
              <a:latin typeface="Open Sans"/>
              <a:ea typeface="Open Sans"/>
              <a:cs typeface="Open Sans"/>
              <a:sym typeface="Open Sans"/>
            </a:endParaRPr>
          </a:p>
          <a:p>
            <a:pPr indent="-355600" lvl="1" marL="914400" rtl="0" algn="l">
              <a:spcBef>
                <a:spcPts val="0"/>
              </a:spcBef>
              <a:spcAft>
                <a:spcPts val="0"/>
              </a:spcAft>
              <a:buClr>
                <a:srgbClr val="500000"/>
              </a:buClr>
              <a:buSzPts val="2000"/>
              <a:buFont typeface="Open Sans"/>
              <a:buChar char="○"/>
            </a:pPr>
            <a:r>
              <a:rPr lang="en-US" sz="2000">
                <a:solidFill>
                  <a:srgbClr val="500000"/>
                </a:solidFill>
                <a:latin typeface="Open Sans"/>
                <a:ea typeface="Open Sans"/>
                <a:cs typeface="Open Sans"/>
                <a:sym typeface="Open Sans"/>
              </a:rPr>
              <a:t>HTTP Post via FastAPI endpoint</a:t>
            </a:r>
            <a:endParaRPr sz="2000">
              <a:solidFill>
                <a:srgbClr val="500000"/>
              </a:solidFill>
              <a:latin typeface="Open Sans"/>
              <a:ea typeface="Open Sans"/>
              <a:cs typeface="Open Sans"/>
              <a:sym typeface="Open Sans"/>
            </a:endParaRPr>
          </a:p>
          <a:p>
            <a:pPr indent="-355600" lvl="0" marL="457200" rtl="0" algn="l">
              <a:spcBef>
                <a:spcPts val="0"/>
              </a:spcBef>
              <a:spcAft>
                <a:spcPts val="0"/>
              </a:spcAft>
              <a:buClr>
                <a:srgbClr val="500000"/>
              </a:buClr>
              <a:buSzPts val="2000"/>
              <a:buFont typeface="Open Sans"/>
              <a:buChar char="●"/>
            </a:pPr>
            <a:r>
              <a:rPr b="1" lang="en-US" sz="2000">
                <a:solidFill>
                  <a:srgbClr val="500000"/>
                </a:solidFill>
                <a:latin typeface="Open Sans"/>
                <a:ea typeface="Open Sans"/>
                <a:cs typeface="Open Sans"/>
                <a:sym typeface="Open Sans"/>
              </a:rPr>
              <a:t>From Server to Operator</a:t>
            </a:r>
            <a:endParaRPr b="1" sz="2000">
              <a:solidFill>
                <a:srgbClr val="500000"/>
              </a:solidFill>
              <a:latin typeface="Open Sans"/>
              <a:ea typeface="Open Sans"/>
              <a:cs typeface="Open Sans"/>
              <a:sym typeface="Open Sans"/>
            </a:endParaRPr>
          </a:p>
          <a:p>
            <a:pPr indent="-355600" lvl="1" marL="914400" rtl="0" algn="l">
              <a:spcBef>
                <a:spcPts val="0"/>
              </a:spcBef>
              <a:spcAft>
                <a:spcPts val="0"/>
              </a:spcAft>
              <a:buClr>
                <a:srgbClr val="500000"/>
              </a:buClr>
              <a:buSzPts val="2000"/>
              <a:buFont typeface="Open Sans"/>
              <a:buChar char="○"/>
            </a:pPr>
            <a:r>
              <a:rPr lang="en-US" sz="2000">
                <a:solidFill>
                  <a:srgbClr val="500000"/>
                </a:solidFill>
                <a:latin typeface="Open Sans"/>
                <a:ea typeface="Open Sans"/>
                <a:cs typeface="Open Sans"/>
                <a:sym typeface="Open Sans"/>
              </a:rPr>
              <a:t>WebRTC streaming of rendered 3D model</a:t>
            </a:r>
            <a:endParaRPr sz="2000">
              <a:solidFill>
                <a:srgbClr val="500000"/>
              </a:solidFill>
              <a:latin typeface="Open Sans"/>
              <a:ea typeface="Open Sans"/>
              <a:cs typeface="Open Sans"/>
              <a:sym typeface="Open Sans"/>
            </a:endParaRPr>
          </a:p>
          <a:p>
            <a:pPr indent="-355600" lvl="1" marL="914400" rtl="0" algn="l">
              <a:spcBef>
                <a:spcPts val="0"/>
              </a:spcBef>
              <a:spcAft>
                <a:spcPts val="0"/>
              </a:spcAft>
              <a:buClr>
                <a:srgbClr val="500000"/>
              </a:buClr>
              <a:buSzPts val="2000"/>
              <a:buFont typeface="Open Sans"/>
              <a:buChar char="○"/>
            </a:pPr>
            <a:r>
              <a:rPr lang="en-US" sz="2000">
                <a:solidFill>
                  <a:srgbClr val="500000"/>
                </a:solidFill>
                <a:latin typeface="Open Sans"/>
                <a:ea typeface="Open Sans"/>
                <a:cs typeface="Open Sans"/>
                <a:sym typeface="Open Sans"/>
              </a:rPr>
              <a:t>Real-time visualization updates</a:t>
            </a:r>
            <a:endParaRPr sz="2000">
              <a:solidFill>
                <a:srgbClr val="500000"/>
              </a:solidFill>
              <a:latin typeface="Open Sans"/>
              <a:ea typeface="Open Sans"/>
              <a:cs typeface="Open Sans"/>
              <a:sym typeface="Open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g3c707e37b49_0_15"/>
          <p:cNvSpPr txBox="1"/>
          <p:nvPr>
            <p:ph idx="1" type="body"/>
          </p:nvPr>
        </p:nvSpPr>
        <p:spPr>
          <a:xfrm>
            <a:off x="8711913" y="2016150"/>
            <a:ext cx="3006900" cy="663000"/>
          </a:xfrm>
          <a:prstGeom prst="rect">
            <a:avLst/>
          </a:prstGeom>
          <a:noFill/>
          <a:ln>
            <a:noFill/>
          </a:ln>
        </p:spPr>
        <p:txBody>
          <a:bodyPr anchorCtr="0" anchor="t" bIns="45700" lIns="91425" spcFirstLastPara="1" rIns="91425" wrap="square" tIns="45700">
            <a:noAutofit/>
          </a:bodyPr>
          <a:lstStyle/>
          <a:p>
            <a:pPr indent="0" lvl="0" marL="457200" rtl="0" algn="l">
              <a:spcBef>
                <a:spcPts val="0"/>
              </a:spcBef>
              <a:spcAft>
                <a:spcPts val="0"/>
              </a:spcAft>
              <a:buNone/>
            </a:pPr>
            <a:r>
              <a:rPr lang="en-US"/>
              <a:t>Render image</a:t>
            </a:r>
            <a:endParaRPr/>
          </a:p>
          <a:p>
            <a:pPr indent="0" lvl="0" marL="457200" rtl="0" algn="l">
              <a:spcBef>
                <a:spcPts val="0"/>
              </a:spcBef>
              <a:spcAft>
                <a:spcPts val="0"/>
              </a:spcAft>
              <a:buNone/>
            </a:pPr>
            <a:r>
              <a:t/>
            </a:r>
            <a:endParaRPr/>
          </a:p>
        </p:txBody>
      </p:sp>
      <p:sp>
        <p:nvSpPr>
          <p:cNvPr id="186" name="Google Shape;186;g3c707e37b49_0_15"/>
          <p:cNvSpPr txBox="1"/>
          <p:nvPr>
            <p:ph type="title"/>
          </p:nvPr>
        </p:nvSpPr>
        <p:spPr>
          <a:xfrm>
            <a:off x="609600" y="238118"/>
            <a:ext cx="10972800" cy="8937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00000"/>
              </a:buClr>
              <a:buSzPts val="4400"/>
              <a:buFont typeface="Oswald Medium"/>
              <a:buNone/>
            </a:pPr>
            <a:r>
              <a:rPr lang="en-US" sz="4000">
                <a:solidFill>
                  <a:schemeClr val="lt1"/>
                </a:solidFill>
              </a:rPr>
              <a:t>Software Design: SLAM + 3D-Mapping</a:t>
            </a:r>
            <a:endParaRPr sz="4000">
              <a:solidFill>
                <a:schemeClr val="lt1"/>
              </a:solidFill>
            </a:endParaRPr>
          </a:p>
        </p:txBody>
      </p:sp>
      <p:sp>
        <p:nvSpPr>
          <p:cNvPr id="187" name="Google Shape;187;g3c707e37b49_0_15"/>
          <p:cNvSpPr txBox="1"/>
          <p:nvPr>
            <p:ph idx="1" type="body"/>
          </p:nvPr>
        </p:nvSpPr>
        <p:spPr>
          <a:xfrm>
            <a:off x="7860463" y="1310900"/>
            <a:ext cx="1665900" cy="578100"/>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spcBef>
                <a:spcPts val="0"/>
              </a:spcBef>
              <a:spcAft>
                <a:spcPts val="0"/>
              </a:spcAft>
              <a:buNone/>
            </a:pPr>
            <a:r>
              <a:rPr lang="en-US" sz="3200"/>
              <a:t>Server</a:t>
            </a:r>
            <a:endParaRPr sz="3200"/>
          </a:p>
          <a:p>
            <a:pPr indent="0" lvl="0" marL="457200" rtl="0" algn="l">
              <a:spcBef>
                <a:spcPts val="0"/>
              </a:spcBef>
              <a:spcAft>
                <a:spcPts val="0"/>
              </a:spcAft>
              <a:buNone/>
            </a:pPr>
            <a:r>
              <a:t/>
            </a:r>
            <a:endParaRPr/>
          </a:p>
        </p:txBody>
      </p:sp>
      <p:cxnSp>
        <p:nvCxnSpPr>
          <p:cNvPr id="188" name="Google Shape;188;g3c707e37b49_0_15"/>
          <p:cNvCxnSpPr/>
          <p:nvPr/>
        </p:nvCxnSpPr>
        <p:spPr>
          <a:xfrm rot="10800000">
            <a:off x="9079763" y="1476946"/>
            <a:ext cx="1629000" cy="45600"/>
          </a:xfrm>
          <a:prstGeom prst="straightConnector1">
            <a:avLst/>
          </a:prstGeom>
          <a:noFill/>
          <a:ln cap="flat" cmpd="sng" w="9525">
            <a:solidFill>
              <a:schemeClr val="dk2"/>
            </a:solidFill>
            <a:prstDash val="solid"/>
            <a:round/>
            <a:headEnd len="med" w="med" type="none"/>
            <a:tailEnd len="med" w="med" type="triangle"/>
          </a:ln>
        </p:spPr>
      </p:cxnSp>
      <p:sp>
        <p:nvSpPr>
          <p:cNvPr id="189" name="Google Shape;189;g3c707e37b49_0_15"/>
          <p:cNvSpPr txBox="1"/>
          <p:nvPr/>
        </p:nvSpPr>
        <p:spPr>
          <a:xfrm>
            <a:off x="10708763" y="1260946"/>
            <a:ext cx="8985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200">
                <a:solidFill>
                  <a:srgbClr val="500000"/>
                </a:solidFill>
                <a:latin typeface="Open Sans"/>
                <a:ea typeface="Open Sans"/>
                <a:cs typeface="Open Sans"/>
                <a:sym typeface="Open Sans"/>
              </a:rPr>
              <a:t>Ball</a:t>
            </a:r>
            <a:endParaRPr b="1" sz="2200">
              <a:solidFill>
                <a:srgbClr val="500000"/>
              </a:solidFill>
              <a:latin typeface="Open Sans"/>
              <a:ea typeface="Open Sans"/>
              <a:cs typeface="Open Sans"/>
              <a:sym typeface="Open Sans"/>
            </a:endParaRPr>
          </a:p>
        </p:txBody>
      </p:sp>
      <p:cxnSp>
        <p:nvCxnSpPr>
          <p:cNvPr id="190" name="Google Shape;190;g3c707e37b49_0_15"/>
          <p:cNvCxnSpPr/>
          <p:nvPr/>
        </p:nvCxnSpPr>
        <p:spPr>
          <a:xfrm>
            <a:off x="8538938" y="1732775"/>
            <a:ext cx="587400" cy="455100"/>
          </a:xfrm>
          <a:prstGeom prst="straightConnector1">
            <a:avLst/>
          </a:prstGeom>
          <a:noFill/>
          <a:ln cap="flat" cmpd="sng" w="9525">
            <a:solidFill>
              <a:schemeClr val="dk2"/>
            </a:solidFill>
            <a:prstDash val="solid"/>
            <a:round/>
            <a:headEnd len="med" w="med" type="none"/>
            <a:tailEnd len="med" w="med" type="triangle"/>
          </a:ln>
        </p:spPr>
      </p:cxnSp>
      <p:sp>
        <p:nvSpPr>
          <p:cNvPr id="191" name="Google Shape;191;g3c707e37b49_0_15"/>
          <p:cNvSpPr txBox="1"/>
          <p:nvPr/>
        </p:nvSpPr>
        <p:spPr>
          <a:xfrm>
            <a:off x="368275" y="1372650"/>
            <a:ext cx="7492200" cy="503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100" u="sng">
                <a:solidFill>
                  <a:srgbClr val="500000"/>
                </a:solidFill>
                <a:latin typeface="Open Sans"/>
                <a:ea typeface="Open Sans"/>
                <a:cs typeface="Open Sans"/>
                <a:sym typeface="Open Sans"/>
              </a:rPr>
              <a:t>Step 1: SLAM (Simultaneous </a:t>
            </a:r>
            <a:r>
              <a:rPr b="1" lang="en-US" sz="2100" u="sng">
                <a:solidFill>
                  <a:srgbClr val="500000"/>
                </a:solidFill>
                <a:latin typeface="Open Sans"/>
                <a:ea typeface="Open Sans"/>
                <a:cs typeface="Open Sans"/>
                <a:sym typeface="Open Sans"/>
              </a:rPr>
              <a:t>Localization</a:t>
            </a:r>
            <a:r>
              <a:rPr b="1" lang="en-US" sz="2100" u="sng">
                <a:solidFill>
                  <a:srgbClr val="500000"/>
                </a:solidFill>
                <a:latin typeface="Open Sans"/>
                <a:ea typeface="Open Sans"/>
                <a:cs typeface="Open Sans"/>
                <a:sym typeface="Open Sans"/>
              </a:rPr>
              <a:t> and Mapping)</a:t>
            </a:r>
            <a:endParaRPr b="1" sz="2100" u="sng">
              <a:solidFill>
                <a:srgbClr val="500000"/>
              </a:solidFill>
              <a:latin typeface="Open Sans"/>
              <a:ea typeface="Open Sans"/>
              <a:cs typeface="Open Sans"/>
              <a:sym typeface="Open Sans"/>
            </a:endParaRPr>
          </a:p>
          <a:p>
            <a:pPr indent="-361950" lvl="0" marL="457200" rtl="0" algn="l">
              <a:spcBef>
                <a:spcPts val="0"/>
              </a:spcBef>
              <a:spcAft>
                <a:spcPts val="0"/>
              </a:spcAft>
              <a:buClr>
                <a:srgbClr val="500000"/>
              </a:buClr>
              <a:buSzPts val="2100"/>
              <a:buFont typeface="Open Sans"/>
              <a:buChar char="●"/>
            </a:pPr>
            <a:r>
              <a:rPr lang="en-US" sz="2100">
                <a:solidFill>
                  <a:srgbClr val="500000"/>
                </a:solidFill>
                <a:latin typeface="Open Sans"/>
                <a:ea typeface="Open Sans"/>
                <a:cs typeface="Open Sans"/>
                <a:sym typeface="Open Sans"/>
              </a:rPr>
              <a:t>Estimates camera position and orientation for each frame</a:t>
            </a:r>
            <a:endParaRPr sz="2100">
              <a:solidFill>
                <a:srgbClr val="500000"/>
              </a:solidFill>
              <a:latin typeface="Open Sans"/>
              <a:ea typeface="Open Sans"/>
              <a:cs typeface="Open Sans"/>
              <a:sym typeface="Open Sans"/>
            </a:endParaRPr>
          </a:p>
          <a:p>
            <a:pPr indent="-361950" lvl="0" marL="457200" rtl="0" algn="l">
              <a:spcBef>
                <a:spcPts val="0"/>
              </a:spcBef>
              <a:spcAft>
                <a:spcPts val="0"/>
              </a:spcAft>
              <a:buClr>
                <a:srgbClr val="500000"/>
              </a:buClr>
              <a:buSzPts val="2100"/>
              <a:buFont typeface="Open Sans"/>
              <a:buChar char="●"/>
            </a:pPr>
            <a:r>
              <a:rPr lang="en-US" sz="2100">
                <a:solidFill>
                  <a:srgbClr val="500000"/>
                </a:solidFill>
                <a:latin typeface="Open Sans"/>
                <a:ea typeface="Open Sans"/>
                <a:cs typeface="Open Sans"/>
                <a:sym typeface="Open Sans"/>
              </a:rPr>
              <a:t>Uses IMU data to improve pose estimation accuracy</a:t>
            </a:r>
            <a:endParaRPr sz="2100">
              <a:solidFill>
                <a:srgbClr val="500000"/>
              </a:solidFill>
              <a:latin typeface="Open Sans"/>
              <a:ea typeface="Open Sans"/>
              <a:cs typeface="Open Sans"/>
              <a:sym typeface="Open Sans"/>
            </a:endParaRPr>
          </a:p>
          <a:p>
            <a:pPr indent="-361950" lvl="0" marL="457200" rtl="0" algn="l">
              <a:spcBef>
                <a:spcPts val="0"/>
              </a:spcBef>
              <a:spcAft>
                <a:spcPts val="0"/>
              </a:spcAft>
              <a:buClr>
                <a:srgbClr val="500000"/>
              </a:buClr>
              <a:buSzPts val="2100"/>
              <a:buFont typeface="Open Sans"/>
              <a:buChar char="●"/>
            </a:pPr>
            <a:r>
              <a:rPr lang="en-US" sz="2100">
                <a:solidFill>
                  <a:srgbClr val="500000"/>
                </a:solidFill>
                <a:latin typeface="Open Sans"/>
                <a:ea typeface="Open Sans"/>
                <a:cs typeface="Open Sans"/>
                <a:sym typeface="Open Sans"/>
              </a:rPr>
              <a:t>Tracks ball’s trajectory through the environment</a:t>
            </a:r>
            <a:endParaRPr sz="2100">
              <a:solidFill>
                <a:srgbClr val="500000"/>
              </a:solidFill>
              <a:latin typeface="Open Sans"/>
              <a:ea typeface="Open Sans"/>
              <a:cs typeface="Open Sans"/>
              <a:sym typeface="Open Sans"/>
            </a:endParaRPr>
          </a:p>
          <a:p>
            <a:pPr indent="0" lvl="0" marL="0" rtl="0" algn="l">
              <a:spcBef>
                <a:spcPts val="0"/>
              </a:spcBef>
              <a:spcAft>
                <a:spcPts val="0"/>
              </a:spcAft>
              <a:buNone/>
            </a:pPr>
            <a:r>
              <a:t/>
            </a:r>
            <a:endParaRPr sz="2100">
              <a:solidFill>
                <a:srgbClr val="500000"/>
              </a:solidFill>
              <a:latin typeface="Open Sans"/>
              <a:ea typeface="Open Sans"/>
              <a:cs typeface="Open Sans"/>
              <a:sym typeface="Open Sans"/>
            </a:endParaRPr>
          </a:p>
          <a:p>
            <a:pPr indent="0" lvl="0" marL="0" rtl="0" algn="l">
              <a:spcBef>
                <a:spcPts val="0"/>
              </a:spcBef>
              <a:spcAft>
                <a:spcPts val="0"/>
              </a:spcAft>
              <a:buNone/>
            </a:pPr>
            <a:r>
              <a:rPr b="1" lang="en-US" sz="2100" u="sng">
                <a:solidFill>
                  <a:srgbClr val="500000"/>
                </a:solidFill>
                <a:latin typeface="Open Sans"/>
                <a:ea typeface="Open Sans"/>
                <a:cs typeface="Open Sans"/>
                <a:sym typeface="Open Sans"/>
              </a:rPr>
              <a:t>Step 2: 3D Gaussian Splatting</a:t>
            </a:r>
            <a:endParaRPr b="1" sz="2100" u="sng">
              <a:solidFill>
                <a:srgbClr val="500000"/>
              </a:solidFill>
              <a:latin typeface="Open Sans"/>
              <a:ea typeface="Open Sans"/>
              <a:cs typeface="Open Sans"/>
              <a:sym typeface="Open Sans"/>
            </a:endParaRPr>
          </a:p>
          <a:p>
            <a:pPr indent="-361950" lvl="0" marL="457200" rtl="0" algn="l">
              <a:spcBef>
                <a:spcPts val="0"/>
              </a:spcBef>
              <a:spcAft>
                <a:spcPts val="0"/>
              </a:spcAft>
              <a:buClr>
                <a:srgbClr val="500000"/>
              </a:buClr>
              <a:buSzPts val="2100"/>
              <a:buFont typeface="Open Sans"/>
              <a:buChar char="●"/>
            </a:pPr>
            <a:r>
              <a:rPr lang="en-US" sz="2100">
                <a:solidFill>
                  <a:srgbClr val="500000"/>
                </a:solidFill>
                <a:latin typeface="Open Sans"/>
                <a:ea typeface="Open Sans"/>
                <a:cs typeface="Open Sans"/>
                <a:sym typeface="Open Sans"/>
              </a:rPr>
              <a:t>Reconstructs environment</a:t>
            </a:r>
            <a:endParaRPr sz="2100">
              <a:solidFill>
                <a:srgbClr val="500000"/>
              </a:solidFill>
              <a:latin typeface="Open Sans"/>
              <a:ea typeface="Open Sans"/>
              <a:cs typeface="Open Sans"/>
              <a:sym typeface="Open Sans"/>
            </a:endParaRPr>
          </a:p>
          <a:p>
            <a:pPr indent="-361950" lvl="0" marL="457200" rtl="0" algn="l">
              <a:spcBef>
                <a:spcPts val="0"/>
              </a:spcBef>
              <a:spcAft>
                <a:spcPts val="0"/>
              </a:spcAft>
              <a:buClr>
                <a:srgbClr val="500000"/>
              </a:buClr>
              <a:buSzPts val="2100"/>
              <a:buFont typeface="Open Sans"/>
              <a:buChar char="●"/>
            </a:pPr>
            <a:r>
              <a:rPr lang="en-US" sz="2100">
                <a:solidFill>
                  <a:srgbClr val="500000"/>
                </a:solidFill>
                <a:latin typeface="Open Sans"/>
                <a:ea typeface="Open Sans"/>
                <a:cs typeface="Open Sans"/>
                <a:sym typeface="Open Sans"/>
              </a:rPr>
              <a:t>Refines geometry based on SLAM-estimated camera poses</a:t>
            </a:r>
            <a:endParaRPr sz="2100">
              <a:solidFill>
                <a:srgbClr val="500000"/>
              </a:solidFill>
              <a:latin typeface="Open Sans"/>
              <a:ea typeface="Open Sans"/>
              <a:cs typeface="Open Sans"/>
              <a:sym typeface="Open Sans"/>
            </a:endParaRPr>
          </a:p>
          <a:p>
            <a:pPr indent="-361950" lvl="0" marL="457200" rtl="0" algn="l">
              <a:spcBef>
                <a:spcPts val="0"/>
              </a:spcBef>
              <a:spcAft>
                <a:spcPts val="0"/>
              </a:spcAft>
              <a:buClr>
                <a:srgbClr val="500000"/>
              </a:buClr>
              <a:buSzPts val="2100"/>
              <a:buFont typeface="Open Sans"/>
              <a:buChar char="●"/>
            </a:pPr>
            <a:r>
              <a:rPr lang="en-US" sz="2100">
                <a:solidFill>
                  <a:srgbClr val="500000"/>
                </a:solidFill>
                <a:latin typeface="Open Sans"/>
                <a:ea typeface="Open Sans"/>
                <a:cs typeface="Open Sans"/>
                <a:sym typeface="Open Sans"/>
              </a:rPr>
              <a:t>Generates photorealistic 3D scene</a:t>
            </a:r>
            <a:endParaRPr sz="2100">
              <a:solidFill>
                <a:srgbClr val="500000"/>
              </a:solidFill>
              <a:latin typeface="Open Sans"/>
              <a:ea typeface="Open Sans"/>
              <a:cs typeface="Open Sans"/>
              <a:sym typeface="Open Sans"/>
            </a:endParaRPr>
          </a:p>
          <a:p>
            <a:pPr indent="0" lvl="0" marL="0" rtl="0" algn="l">
              <a:spcBef>
                <a:spcPts val="0"/>
              </a:spcBef>
              <a:spcAft>
                <a:spcPts val="0"/>
              </a:spcAft>
              <a:buNone/>
            </a:pPr>
            <a:r>
              <a:t/>
            </a:r>
            <a:endParaRPr sz="2100" u="sng">
              <a:solidFill>
                <a:srgbClr val="500000"/>
              </a:solidFill>
              <a:latin typeface="Open Sans"/>
              <a:ea typeface="Open Sans"/>
              <a:cs typeface="Open Sans"/>
              <a:sym typeface="Open Sans"/>
            </a:endParaRPr>
          </a:p>
          <a:p>
            <a:pPr indent="0" lvl="0" marL="0" rtl="0" algn="l">
              <a:spcBef>
                <a:spcPts val="0"/>
              </a:spcBef>
              <a:spcAft>
                <a:spcPts val="0"/>
              </a:spcAft>
              <a:buNone/>
            </a:pPr>
            <a:r>
              <a:rPr b="1" lang="en-US" sz="2100" u="sng">
                <a:solidFill>
                  <a:srgbClr val="500000"/>
                </a:solidFill>
                <a:latin typeface="Open Sans"/>
                <a:ea typeface="Open Sans"/>
                <a:cs typeface="Open Sans"/>
                <a:sym typeface="Open Sans"/>
              </a:rPr>
              <a:t>Step 3: Object Detection &amp; Threat Identification</a:t>
            </a:r>
            <a:endParaRPr b="1" sz="2100" u="sng">
              <a:solidFill>
                <a:srgbClr val="500000"/>
              </a:solidFill>
              <a:latin typeface="Open Sans"/>
              <a:ea typeface="Open Sans"/>
              <a:cs typeface="Open Sans"/>
              <a:sym typeface="Open Sans"/>
            </a:endParaRPr>
          </a:p>
          <a:p>
            <a:pPr indent="-361950" lvl="0" marL="457200" rtl="0" algn="l">
              <a:spcBef>
                <a:spcPts val="0"/>
              </a:spcBef>
              <a:spcAft>
                <a:spcPts val="0"/>
              </a:spcAft>
              <a:buClr>
                <a:srgbClr val="500000"/>
              </a:buClr>
              <a:buSzPts val="2100"/>
              <a:buFont typeface="Open Sans"/>
              <a:buChar char="●"/>
            </a:pPr>
            <a:r>
              <a:rPr lang="en-US" sz="2100">
                <a:solidFill>
                  <a:srgbClr val="500000"/>
                </a:solidFill>
                <a:latin typeface="Open Sans"/>
                <a:ea typeface="Open Sans"/>
                <a:cs typeface="Open Sans"/>
                <a:sym typeface="Open Sans"/>
              </a:rPr>
              <a:t>YOLO (You Only Look Once) based method</a:t>
            </a:r>
            <a:endParaRPr sz="2100">
              <a:solidFill>
                <a:srgbClr val="500000"/>
              </a:solidFill>
              <a:latin typeface="Open Sans"/>
              <a:ea typeface="Open Sans"/>
              <a:cs typeface="Open Sans"/>
              <a:sym typeface="Open Sans"/>
            </a:endParaRPr>
          </a:p>
          <a:p>
            <a:pPr indent="-361950" lvl="0" marL="457200" rtl="0" algn="l">
              <a:spcBef>
                <a:spcPts val="0"/>
              </a:spcBef>
              <a:spcAft>
                <a:spcPts val="0"/>
              </a:spcAft>
              <a:buClr>
                <a:srgbClr val="500000"/>
              </a:buClr>
              <a:buSzPts val="2100"/>
              <a:buFont typeface="Open Sans"/>
              <a:buChar char="●"/>
            </a:pPr>
            <a:r>
              <a:rPr lang="en-US" sz="2100">
                <a:solidFill>
                  <a:srgbClr val="500000"/>
                </a:solidFill>
                <a:latin typeface="Open Sans"/>
                <a:ea typeface="Open Sans"/>
                <a:cs typeface="Open Sans"/>
                <a:sym typeface="Open Sans"/>
              </a:rPr>
              <a:t>Flags moving objects</a:t>
            </a:r>
            <a:endParaRPr sz="2100">
              <a:solidFill>
                <a:srgbClr val="500000"/>
              </a:solidFill>
              <a:latin typeface="Open Sans"/>
              <a:ea typeface="Open Sans"/>
              <a:cs typeface="Open Sans"/>
              <a:sym typeface="Open Sans"/>
            </a:endParaRPr>
          </a:p>
        </p:txBody>
      </p:sp>
      <p:pic>
        <p:nvPicPr>
          <p:cNvPr id="192" name="Google Shape;192;g3c707e37b49_0_15"/>
          <p:cNvPicPr preferRelativeResize="0"/>
          <p:nvPr/>
        </p:nvPicPr>
        <p:blipFill rotWithShape="1">
          <a:blip r:embed="rId3">
            <a:alphaModFix/>
          </a:blip>
          <a:srcRect b="11902" l="0" r="0" t="0"/>
          <a:stretch/>
        </p:blipFill>
        <p:spPr>
          <a:xfrm>
            <a:off x="7955600" y="4520150"/>
            <a:ext cx="3840425" cy="2273617"/>
          </a:xfrm>
          <a:prstGeom prst="rect">
            <a:avLst/>
          </a:prstGeom>
          <a:noFill/>
          <a:ln>
            <a:noFill/>
          </a:ln>
        </p:spPr>
      </p:pic>
      <p:pic>
        <p:nvPicPr>
          <p:cNvPr id="193" name="Google Shape;193;g3c707e37b49_0_15"/>
          <p:cNvPicPr preferRelativeResize="0"/>
          <p:nvPr/>
        </p:nvPicPr>
        <p:blipFill>
          <a:blip r:embed="rId4">
            <a:alphaModFix/>
          </a:blip>
          <a:stretch>
            <a:fillRect/>
          </a:stretch>
        </p:blipFill>
        <p:spPr>
          <a:xfrm>
            <a:off x="7955600" y="2545273"/>
            <a:ext cx="3840424" cy="192502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g3cd6c5a1f6d_2_0"/>
          <p:cNvSpPr txBox="1"/>
          <p:nvPr>
            <p:ph idx="1" type="body"/>
          </p:nvPr>
        </p:nvSpPr>
        <p:spPr>
          <a:xfrm>
            <a:off x="609600" y="2294022"/>
            <a:ext cx="5384700" cy="3832200"/>
          </a:xfrm>
          <a:prstGeom prst="rect">
            <a:avLst/>
          </a:prstGeom>
        </p:spPr>
        <p:txBody>
          <a:bodyPr anchorCtr="0" anchor="t" bIns="45700" lIns="91425" spcFirstLastPara="1" rIns="91425" wrap="square" tIns="45700">
            <a:normAutofit/>
          </a:bodyPr>
          <a:lstStyle/>
          <a:p>
            <a:pPr indent="0" lvl="0" marL="0" rtl="0" algn="l">
              <a:spcBef>
                <a:spcPts val="440"/>
              </a:spcBef>
              <a:spcAft>
                <a:spcPts val="0"/>
              </a:spcAft>
              <a:buNone/>
            </a:pPr>
            <a:r>
              <a:t/>
            </a:r>
            <a:endParaRPr/>
          </a:p>
        </p:txBody>
      </p:sp>
      <p:sp>
        <p:nvSpPr>
          <p:cNvPr id="200" name="Google Shape;200;g3cd6c5a1f6d_2_0"/>
          <p:cNvSpPr txBox="1"/>
          <p:nvPr>
            <p:ph idx="2" type="body"/>
          </p:nvPr>
        </p:nvSpPr>
        <p:spPr>
          <a:xfrm>
            <a:off x="6197600" y="2294022"/>
            <a:ext cx="5384700" cy="3832200"/>
          </a:xfrm>
          <a:prstGeom prst="rect">
            <a:avLst/>
          </a:prstGeom>
        </p:spPr>
        <p:txBody>
          <a:bodyPr anchorCtr="0" anchor="t" bIns="45700" lIns="91425" spcFirstLastPara="1" rIns="91425" wrap="square" tIns="45700">
            <a:normAutofit/>
          </a:bodyPr>
          <a:lstStyle/>
          <a:p>
            <a:pPr indent="0" lvl="0" marL="0" rtl="0" algn="l">
              <a:spcBef>
                <a:spcPts val="440"/>
              </a:spcBef>
              <a:spcAft>
                <a:spcPts val="0"/>
              </a:spcAft>
              <a:buNone/>
            </a:pPr>
            <a:r>
              <a:t/>
            </a:r>
            <a:endParaRPr/>
          </a:p>
        </p:txBody>
      </p:sp>
      <p:sp>
        <p:nvSpPr>
          <p:cNvPr id="201" name="Google Shape;201;g3cd6c5a1f6d_2_0"/>
          <p:cNvSpPr txBox="1"/>
          <p:nvPr>
            <p:ph type="title"/>
          </p:nvPr>
        </p:nvSpPr>
        <p:spPr>
          <a:xfrm>
            <a:off x="609600" y="1282318"/>
            <a:ext cx="10972800" cy="893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g3c707e37b49_0_20"/>
          <p:cNvSpPr txBox="1"/>
          <p:nvPr>
            <p:ph idx="1" type="body"/>
          </p:nvPr>
        </p:nvSpPr>
        <p:spPr>
          <a:xfrm>
            <a:off x="609600" y="1512900"/>
            <a:ext cx="5987400" cy="49995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0" lang="en-US">
                <a:latin typeface="Open Sans"/>
                <a:ea typeface="Open Sans"/>
                <a:cs typeface="Open Sans"/>
                <a:sym typeface="Open Sans"/>
              </a:rPr>
              <a:t>For most </a:t>
            </a:r>
            <a:r>
              <a:rPr b="0" lang="en-US">
                <a:latin typeface="Open Sans"/>
                <a:ea typeface="Open Sans"/>
                <a:cs typeface="Open Sans"/>
                <a:sym typeface="Open Sans"/>
              </a:rPr>
              <a:t>orientations</a:t>
            </a:r>
            <a:r>
              <a:rPr b="0" lang="en-US">
                <a:latin typeface="Open Sans"/>
                <a:ea typeface="Open Sans"/>
                <a:cs typeface="Open Sans"/>
                <a:sym typeface="Open Sans"/>
              </a:rPr>
              <a:t>, </a:t>
            </a:r>
            <a:r>
              <a:rPr b="0" lang="en-US"/>
              <a:t>one camera will be pointing downwards</a:t>
            </a:r>
            <a:r>
              <a:rPr b="0" lang="en-US">
                <a:latin typeface="Open Sans"/>
                <a:ea typeface="Open Sans"/>
                <a:cs typeface="Open Sans"/>
                <a:sym typeface="Open Sans"/>
              </a:rPr>
              <a:t>, rendering it ineffective. We can </a:t>
            </a:r>
            <a:r>
              <a:rPr b="0" lang="en-US"/>
              <a:t>disable the downward camera</a:t>
            </a:r>
            <a:endParaRPr b="0"/>
          </a:p>
          <a:p>
            <a:pPr indent="0" lvl="0" marL="0" rtl="0" algn="l">
              <a:spcBef>
                <a:spcPts val="0"/>
              </a:spcBef>
              <a:spcAft>
                <a:spcPts val="0"/>
              </a:spcAft>
              <a:buNone/>
            </a:pPr>
            <a:r>
              <a:t/>
            </a:r>
            <a:endParaRPr/>
          </a:p>
          <a:p>
            <a:pPr indent="0" lvl="0" marL="0" rtl="0" algn="l">
              <a:spcBef>
                <a:spcPts val="0"/>
              </a:spcBef>
              <a:spcAft>
                <a:spcPts val="0"/>
              </a:spcAft>
              <a:buNone/>
            </a:pPr>
            <a:r>
              <a:rPr b="0" lang="en-US" u="sng">
                <a:latin typeface="Open Sans"/>
                <a:ea typeface="Open Sans"/>
                <a:cs typeface="Open Sans"/>
                <a:sym typeface="Open Sans"/>
              </a:rPr>
              <a:t>Requires two components:</a:t>
            </a:r>
            <a:endParaRPr b="0" u="sng">
              <a:latin typeface="Open Sans"/>
              <a:ea typeface="Open Sans"/>
              <a:cs typeface="Open Sans"/>
              <a:sym typeface="Open Sans"/>
            </a:endParaRPr>
          </a:p>
          <a:p>
            <a:pPr indent="-368300" lvl="0" marL="457200" rtl="0" algn="l">
              <a:spcBef>
                <a:spcPts val="0"/>
              </a:spcBef>
              <a:spcAft>
                <a:spcPts val="0"/>
              </a:spcAft>
              <a:buSzPts val="2200"/>
              <a:buChar char="•"/>
            </a:pPr>
            <a:r>
              <a:rPr b="0" lang="en-US">
                <a:latin typeface="Open Sans"/>
                <a:ea typeface="Open Sans"/>
                <a:cs typeface="Open Sans"/>
                <a:sym typeface="Open Sans"/>
              </a:rPr>
              <a:t>A </a:t>
            </a:r>
            <a:r>
              <a:rPr b="0" lang="en-US"/>
              <a:t>gyroscope </a:t>
            </a:r>
            <a:r>
              <a:rPr b="0" lang="en-US">
                <a:latin typeface="Open Sans"/>
                <a:ea typeface="Open Sans"/>
                <a:cs typeface="Open Sans"/>
                <a:sym typeface="Open Sans"/>
              </a:rPr>
              <a:t>to determine orientation</a:t>
            </a:r>
            <a:endParaRPr b="0">
              <a:latin typeface="Open Sans"/>
              <a:ea typeface="Open Sans"/>
              <a:cs typeface="Open Sans"/>
              <a:sym typeface="Open Sans"/>
            </a:endParaRPr>
          </a:p>
          <a:p>
            <a:pPr indent="-368300" lvl="0" marL="457200" rtl="0" algn="l">
              <a:spcBef>
                <a:spcPts val="0"/>
              </a:spcBef>
              <a:spcAft>
                <a:spcPts val="0"/>
              </a:spcAft>
              <a:buSzPts val="2200"/>
              <a:buChar char="•"/>
            </a:pPr>
            <a:r>
              <a:rPr b="0" lang="en-US">
                <a:latin typeface="Open Sans"/>
                <a:ea typeface="Open Sans"/>
                <a:cs typeface="Open Sans"/>
                <a:sym typeface="Open Sans"/>
              </a:rPr>
              <a:t>A </a:t>
            </a:r>
            <a:r>
              <a:rPr b="0" lang="en-US"/>
              <a:t>camera adapter</a:t>
            </a:r>
            <a:r>
              <a:rPr b="0" lang="en-US">
                <a:latin typeface="Open Sans"/>
                <a:ea typeface="Open Sans"/>
                <a:cs typeface="Open Sans"/>
                <a:sym typeface="Open Sans"/>
              </a:rPr>
              <a:t> to multiplex multiple cameras to one board</a:t>
            </a:r>
            <a:endParaRPr b="0">
              <a:latin typeface="Open Sans"/>
              <a:ea typeface="Open Sans"/>
              <a:cs typeface="Open Sans"/>
              <a:sym typeface="Open Sans"/>
            </a:endParaRPr>
          </a:p>
          <a:p>
            <a:pPr indent="0" lvl="0" marL="0" rtl="0" algn="l">
              <a:spcBef>
                <a:spcPts val="0"/>
              </a:spcBef>
              <a:spcAft>
                <a:spcPts val="0"/>
              </a:spcAft>
              <a:buNone/>
            </a:pPr>
            <a:r>
              <a:t/>
            </a:r>
            <a:endParaRPr/>
          </a:p>
          <a:p>
            <a:pPr indent="0" lvl="0" marL="0" rtl="0" algn="l">
              <a:spcBef>
                <a:spcPts val="0"/>
              </a:spcBef>
              <a:spcAft>
                <a:spcPts val="0"/>
              </a:spcAft>
              <a:buNone/>
            </a:pPr>
            <a:r>
              <a:rPr b="0" lang="en-US">
                <a:latin typeface="Open Sans"/>
                <a:ea typeface="Open Sans"/>
                <a:cs typeface="Open Sans"/>
                <a:sym typeface="Open Sans"/>
              </a:rPr>
              <a:t>Reduces power consumption, wear on cameras, and </a:t>
            </a:r>
            <a:r>
              <a:rPr b="0" lang="en-US">
                <a:latin typeface="Open Sans"/>
                <a:ea typeface="Open Sans"/>
                <a:cs typeface="Open Sans"/>
                <a:sym typeface="Open Sans"/>
              </a:rPr>
              <a:t>points</a:t>
            </a:r>
            <a:r>
              <a:rPr b="0" lang="en-US">
                <a:latin typeface="Open Sans"/>
                <a:ea typeface="Open Sans"/>
                <a:cs typeface="Open Sans"/>
                <a:sym typeface="Open Sans"/>
              </a:rPr>
              <a:t> of failure</a:t>
            </a:r>
            <a:endParaRPr b="0">
              <a:latin typeface="Open Sans"/>
              <a:ea typeface="Open Sans"/>
              <a:cs typeface="Open Sans"/>
              <a:sym typeface="Open Sans"/>
            </a:endParaRPr>
          </a:p>
        </p:txBody>
      </p:sp>
      <p:sp>
        <p:nvSpPr>
          <p:cNvPr id="207" name="Google Shape;207;g3c707e37b49_0_20"/>
          <p:cNvSpPr txBox="1"/>
          <p:nvPr>
            <p:ph type="title"/>
          </p:nvPr>
        </p:nvSpPr>
        <p:spPr>
          <a:xfrm>
            <a:off x="609600" y="238118"/>
            <a:ext cx="10972800" cy="8937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00000"/>
              </a:buClr>
              <a:buSzPts val="4400"/>
              <a:buFont typeface="Oswald Medium"/>
              <a:buNone/>
            </a:pPr>
            <a:r>
              <a:rPr lang="en-US" sz="4000">
                <a:solidFill>
                  <a:schemeClr val="lt1"/>
                </a:solidFill>
              </a:rPr>
              <a:t>Software Design: Camera Multiplexing</a:t>
            </a:r>
            <a:endParaRPr sz="4000">
              <a:solidFill>
                <a:schemeClr val="lt1"/>
              </a:solidFill>
            </a:endParaRPr>
          </a:p>
        </p:txBody>
      </p:sp>
      <p:sp>
        <p:nvSpPr>
          <p:cNvPr id="208" name="Google Shape;208;g3c707e37b49_0_20"/>
          <p:cNvSpPr/>
          <p:nvPr/>
        </p:nvSpPr>
        <p:spPr>
          <a:xfrm>
            <a:off x="7284615" y="2158644"/>
            <a:ext cx="3934200" cy="3843900"/>
          </a:xfrm>
          <a:prstGeom prst="ellipse">
            <a:avLst/>
          </a:prstGeom>
          <a:solidFill>
            <a:schemeClr val="lt1"/>
          </a:solidFill>
          <a:ln cap="flat" cmpd="sng" w="11050">
            <a:solidFill>
              <a:schemeClr val="dk1"/>
            </a:solidFill>
            <a:prstDash val="solid"/>
            <a:round/>
            <a:headEnd len="sm" w="sm" type="none"/>
            <a:tailEnd len="sm" w="sm" type="none"/>
          </a:ln>
        </p:spPr>
        <p:txBody>
          <a:bodyPr anchorCtr="0" anchor="ctr" bIns="106250" lIns="106250" spcFirstLastPara="1" rIns="106250" wrap="square" tIns="106250">
            <a:noAutofit/>
          </a:bodyPr>
          <a:lstStyle/>
          <a:p>
            <a:pPr indent="0" lvl="0" marL="0" rtl="0" algn="ctr">
              <a:spcBef>
                <a:spcPts val="0"/>
              </a:spcBef>
              <a:spcAft>
                <a:spcPts val="0"/>
              </a:spcAft>
              <a:buNone/>
            </a:pPr>
            <a:r>
              <a:t/>
            </a:r>
            <a:endParaRPr sz="1627">
              <a:latin typeface="Open Sans"/>
              <a:ea typeface="Open Sans"/>
              <a:cs typeface="Open Sans"/>
              <a:sym typeface="Open Sans"/>
            </a:endParaRPr>
          </a:p>
        </p:txBody>
      </p:sp>
      <p:sp>
        <p:nvSpPr>
          <p:cNvPr id="209" name="Google Shape;209;g3c707e37b49_0_20"/>
          <p:cNvSpPr/>
          <p:nvPr/>
        </p:nvSpPr>
        <p:spPr>
          <a:xfrm>
            <a:off x="7630676" y="2490060"/>
            <a:ext cx="3241800" cy="3181500"/>
          </a:xfrm>
          <a:prstGeom prst="ellipse">
            <a:avLst/>
          </a:prstGeom>
          <a:solidFill>
            <a:schemeClr val="lt1"/>
          </a:solidFill>
          <a:ln cap="flat" cmpd="sng" w="11050">
            <a:solidFill>
              <a:schemeClr val="dk1"/>
            </a:solidFill>
            <a:prstDash val="solid"/>
            <a:round/>
            <a:headEnd len="sm" w="sm" type="none"/>
            <a:tailEnd len="sm" w="sm" type="none"/>
          </a:ln>
        </p:spPr>
        <p:txBody>
          <a:bodyPr anchorCtr="0" anchor="ctr" bIns="106250" lIns="106250" spcFirstLastPara="1" rIns="106250" wrap="square" tIns="106250">
            <a:noAutofit/>
          </a:bodyPr>
          <a:lstStyle/>
          <a:p>
            <a:pPr indent="0" lvl="0" marL="0" rtl="0" algn="ctr">
              <a:spcBef>
                <a:spcPts val="0"/>
              </a:spcBef>
              <a:spcAft>
                <a:spcPts val="0"/>
              </a:spcAft>
              <a:buNone/>
            </a:pPr>
            <a:r>
              <a:t/>
            </a:r>
            <a:endParaRPr sz="1627">
              <a:latin typeface="Open Sans"/>
              <a:ea typeface="Open Sans"/>
              <a:cs typeface="Open Sans"/>
              <a:sym typeface="Open Sans"/>
            </a:endParaRPr>
          </a:p>
        </p:txBody>
      </p:sp>
      <p:sp>
        <p:nvSpPr>
          <p:cNvPr id="210" name="Google Shape;210;g3c707e37b49_0_20"/>
          <p:cNvSpPr/>
          <p:nvPr/>
        </p:nvSpPr>
        <p:spPr>
          <a:xfrm rot="8924283">
            <a:off x="7376231" y="2026033"/>
            <a:ext cx="2066089" cy="931560"/>
          </a:xfrm>
          <a:prstGeom prst="triangle">
            <a:avLst>
              <a:gd fmla="val 50000" name="adj"/>
            </a:avLst>
          </a:prstGeom>
          <a:solidFill>
            <a:srgbClr val="00FF00"/>
          </a:solidFill>
          <a:ln cap="flat" cmpd="sng" w="12075">
            <a:solidFill>
              <a:srgbClr val="00FF00"/>
            </a:solidFill>
            <a:prstDash val="solid"/>
            <a:round/>
            <a:headEnd len="sm" w="sm" type="none"/>
            <a:tailEnd len="sm" w="sm" type="none"/>
          </a:ln>
        </p:spPr>
        <p:txBody>
          <a:bodyPr anchorCtr="0" anchor="ctr" bIns="115925" lIns="115925" spcFirstLastPara="1" rIns="115925" wrap="square" tIns="115925">
            <a:noAutofit/>
          </a:bodyPr>
          <a:lstStyle/>
          <a:p>
            <a:pPr indent="0" lvl="0" marL="0" rtl="0" algn="ctr">
              <a:spcBef>
                <a:spcPts val="0"/>
              </a:spcBef>
              <a:spcAft>
                <a:spcPts val="0"/>
              </a:spcAft>
              <a:buNone/>
            </a:pPr>
            <a:r>
              <a:t/>
            </a:r>
            <a:endParaRPr sz="1775">
              <a:latin typeface="Open Sans"/>
              <a:ea typeface="Open Sans"/>
              <a:cs typeface="Open Sans"/>
              <a:sym typeface="Open Sans"/>
            </a:endParaRPr>
          </a:p>
        </p:txBody>
      </p:sp>
      <p:sp>
        <p:nvSpPr>
          <p:cNvPr id="211" name="Google Shape;211;g3c707e37b49_0_20"/>
          <p:cNvSpPr/>
          <p:nvPr/>
        </p:nvSpPr>
        <p:spPr>
          <a:xfrm rot="-1689917">
            <a:off x="8145100" y="2642291"/>
            <a:ext cx="1056954" cy="389488"/>
          </a:xfrm>
          <a:prstGeom prst="rect">
            <a:avLst/>
          </a:prstGeom>
          <a:solidFill>
            <a:schemeClr val="lt1"/>
          </a:solidFill>
          <a:ln cap="flat" cmpd="sng" w="11050">
            <a:solidFill>
              <a:schemeClr val="dk1"/>
            </a:solidFill>
            <a:prstDash val="solid"/>
            <a:round/>
            <a:headEnd len="sm" w="sm" type="none"/>
            <a:tailEnd len="sm" w="sm" type="none"/>
          </a:ln>
        </p:spPr>
        <p:txBody>
          <a:bodyPr anchorCtr="0" anchor="ctr" bIns="106250" lIns="106250" spcFirstLastPara="1" rIns="106250" wrap="square" tIns="106250">
            <a:noAutofit/>
          </a:bodyPr>
          <a:lstStyle/>
          <a:p>
            <a:pPr indent="0" lvl="0" marL="0" rtl="0" algn="ctr">
              <a:spcBef>
                <a:spcPts val="0"/>
              </a:spcBef>
              <a:spcAft>
                <a:spcPts val="0"/>
              </a:spcAft>
              <a:buNone/>
            </a:pPr>
            <a:r>
              <a:t/>
            </a:r>
            <a:endParaRPr sz="1627">
              <a:latin typeface="Open Sans"/>
              <a:ea typeface="Open Sans"/>
              <a:cs typeface="Open Sans"/>
              <a:sym typeface="Open Sans"/>
            </a:endParaRPr>
          </a:p>
        </p:txBody>
      </p:sp>
      <p:sp>
        <p:nvSpPr>
          <p:cNvPr id="212" name="Google Shape;212;g3c707e37b49_0_20"/>
          <p:cNvSpPr/>
          <p:nvPr/>
        </p:nvSpPr>
        <p:spPr>
          <a:xfrm rot="-5400000">
            <a:off x="10083598" y="3615063"/>
            <a:ext cx="2066100" cy="931500"/>
          </a:xfrm>
          <a:prstGeom prst="triangle">
            <a:avLst>
              <a:gd fmla="val 50000" name="adj"/>
            </a:avLst>
          </a:prstGeom>
          <a:solidFill>
            <a:srgbClr val="00FF00"/>
          </a:solidFill>
          <a:ln cap="flat" cmpd="sng" w="12075">
            <a:solidFill>
              <a:srgbClr val="00FF00"/>
            </a:solidFill>
            <a:prstDash val="solid"/>
            <a:round/>
            <a:headEnd len="sm" w="sm" type="none"/>
            <a:tailEnd len="sm" w="sm" type="none"/>
          </a:ln>
        </p:spPr>
        <p:txBody>
          <a:bodyPr anchorCtr="0" anchor="ctr" bIns="115925" lIns="115925" spcFirstLastPara="1" rIns="115925" wrap="square" tIns="115925">
            <a:noAutofit/>
          </a:bodyPr>
          <a:lstStyle/>
          <a:p>
            <a:pPr indent="0" lvl="0" marL="0" rtl="0" algn="ctr">
              <a:spcBef>
                <a:spcPts val="0"/>
              </a:spcBef>
              <a:spcAft>
                <a:spcPts val="0"/>
              </a:spcAft>
              <a:buNone/>
            </a:pPr>
            <a:r>
              <a:t/>
            </a:r>
            <a:endParaRPr sz="1775">
              <a:latin typeface="Open Sans"/>
              <a:ea typeface="Open Sans"/>
              <a:cs typeface="Open Sans"/>
              <a:sym typeface="Open Sans"/>
            </a:endParaRPr>
          </a:p>
        </p:txBody>
      </p:sp>
      <p:sp>
        <p:nvSpPr>
          <p:cNvPr id="213" name="Google Shape;213;g3c707e37b49_0_20"/>
          <p:cNvSpPr/>
          <p:nvPr/>
        </p:nvSpPr>
        <p:spPr>
          <a:xfrm rot="5399024">
            <a:off x="10093866" y="3885874"/>
            <a:ext cx="1056900" cy="389400"/>
          </a:xfrm>
          <a:prstGeom prst="rect">
            <a:avLst/>
          </a:prstGeom>
          <a:solidFill>
            <a:schemeClr val="lt1"/>
          </a:solidFill>
          <a:ln cap="flat" cmpd="sng" w="11050">
            <a:solidFill>
              <a:schemeClr val="dk1"/>
            </a:solidFill>
            <a:prstDash val="solid"/>
            <a:round/>
            <a:headEnd len="sm" w="sm" type="none"/>
            <a:tailEnd len="sm" w="sm" type="none"/>
          </a:ln>
        </p:spPr>
        <p:txBody>
          <a:bodyPr anchorCtr="0" anchor="ctr" bIns="106250" lIns="106250" spcFirstLastPara="1" rIns="106250" wrap="square" tIns="106250">
            <a:noAutofit/>
          </a:bodyPr>
          <a:lstStyle/>
          <a:p>
            <a:pPr indent="0" lvl="0" marL="0" rtl="0" algn="ctr">
              <a:spcBef>
                <a:spcPts val="0"/>
              </a:spcBef>
              <a:spcAft>
                <a:spcPts val="0"/>
              </a:spcAft>
              <a:buNone/>
            </a:pPr>
            <a:r>
              <a:t/>
            </a:r>
            <a:endParaRPr sz="1627">
              <a:latin typeface="Open Sans"/>
              <a:ea typeface="Open Sans"/>
              <a:cs typeface="Open Sans"/>
              <a:sym typeface="Open Sans"/>
            </a:endParaRPr>
          </a:p>
        </p:txBody>
      </p:sp>
      <p:sp>
        <p:nvSpPr>
          <p:cNvPr id="214" name="Google Shape;214;g3c707e37b49_0_20"/>
          <p:cNvSpPr/>
          <p:nvPr/>
        </p:nvSpPr>
        <p:spPr>
          <a:xfrm rot="1849266">
            <a:off x="7376277" y="5072738"/>
            <a:ext cx="2066324" cy="931394"/>
          </a:xfrm>
          <a:prstGeom prst="triangle">
            <a:avLst>
              <a:gd fmla="val 50000" name="adj"/>
            </a:avLst>
          </a:prstGeom>
          <a:solidFill>
            <a:srgbClr val="FF0000"/>
          </a:solidFill>
          <a:ln cap="flat" cmpd="sng" w="12075">
            <a:solidFill>
              <a:srgbClr val="FF0000"/>
            </a:solidFill>
            <a:prstDash val="solid"/>
            <a:round/>
            <a:headEnd len="sm" w="sm" type="none"/>
            <a:tailEnd len="sm" w="sm" type="none"/>
          </a:ln>
        </p:spPr>
        <p:txBody>
          <a:bodyPr anchorCtr="0" anchor="ctr" bIns="115925" lIns="115925" spcFirstLastPara="1" rIns="115925" wrap="square" tIns="115925">
            <a:noAutofit/>
          </a:bodyPr>
          <a:lstStyle/>
          <a:p>
            <a:pPr indent="0" lvl="0" marL="0" rtl="0" algn="ctr">
              <a:spcBef>
                <a:spcPts val="0"/>
              </a:spcBef>
              <a:spcAft>
                <a:spcPts val="0"/>
              </a:spcAft>
              <a:buNone/>
            </a:pPr>
            <a:r>
              <a:t/>
            </a:r>
            <a:endParaRPr sz="1775">
              <a:latin typeface="Open Sans"/>
              <a:ea typeface="Open Sans"/>
              <a:cs typeface="Open Sans"/>
              <a:sym typeface="Open Sans"/>
            </a:endParaRPr>
          </a:p>
        </p:txBody>
      </p:sp>
      <p:sp>
        <p:nvSpPr>
          <p:cNvPr id="215" name="Google Shape;215;g3c707e37b49_0_20"/>
          <p:cNvSpPr/>
          <p:nvPr/>
        </p:nvSpPr>
        <p:spPr>
          <a:xfrm rot="-8996063">
            <a:off x="8058044" y="5043534"/>
            <a:ext cx="1056904" cy="389264"/>
          </a:xfrm>
          <a:prstGeom prst="rect">
            <a:avLst/>
          </a:prstGeom>
          <a:solidFill>
            <a:schemeClr val="lt1"/>
          </a:solidFill>
          <a:ln cap="flat" cmpd="sng" w="11050">
            <a:solidFill>
              <a:schemeClr val="dk1"/>
            </a:solidFill>
            <a:prstDash val="solid"/>
            <a:round/>
            <a:headEnd len="sm" w="sm" type="none"/>
            <a:tailEnd len="sm" w="sm" type="none"/>
          </a:ln>
        </p:spPr>
        <p:txBody>
          <a:bodyPr anchorCtr="0" anchor="ctr" bIns="106250" lIns="106250" spcFirstLastPara="1" rIns="106250" wrap="square" tIns="106250">
            <a:noAutofit/>
          </a:bodyPr>
          <a:lstStyle/>
          <a:p>
            <a:pPr indent="0" lvl="0" marL="0" rtl="0" algn="ctr">
              <a:spcBef>
                <a:spcPts val="0"/>
              </a:spcBef>
              <a:spcAft>
                <a:spcPts val="0"/>
              </a:spcAft>
              <a:buNone/>
            </a:pPr>
            <a:r>
              <a:t/>
            </a:r>
            <a:endParaRPr sz="1627">
              <a:latin typeface="Open Sans"/>
              <a:ea typeface="Open Sans"/>
              <a:cs typeface="Open Sans"/>
              <a:sym typeface="Open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g3bd96a98101_0_37"/>
          <p:cNvSpPr txBox="1"/>
          <p:nvPr>
            <p:ph idx="1" type="body"/>
          </p:nvPr>
        </p:nvSpPr>
        <p:spPr>
          <a:xfrm>
            <a:off x="609600" y="1366775"/>
            <a:ext cx="11252700" cy="5411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a:t>Camera Capture &amp; Identification</a:t>
            </a:r>
            <a:endParaRPr/>
          </a:p>
          <a:p>
            <a:pPr indent="0" lvl="0" marL="457200" rtl="0" algn="l">
              <a:lnSpc>
                <a:spcPct val="100000"/>
              </a:lnSpc>
              <a:spcBef>
                <a:spcPts val="0"/>
              </a:spcBef>
              <a:spcAft>
                <a:spcPts val="0"/>
              </a:spcAft>
              <a:buClr>
                <a:srgbClr val="500000"/>
              </a:buClr>
              <a:buSzPts val="2200"/>
              <a:buNone/>
            </a:pPr>
            <a:r>
              <a:rPr b="0" lang="en-US">
                <a:latin typeface="Open Sans"/>
                <a:ea typeface="Open Sans"/>
                <a:cs typeface="Open Sans"/>
                <a:sym typeface="Open Sans"/>
              </a:rPr>
              <a:t>Verify image accuracy by comparing console output to actual room layouts</a:t>
            </a:r>
            <a:endParaRPr b="0">
              <a:latin typeface="Open Sans"/>
              <a:ea typeface="Open Sans"/>
              <a:cs typeface="Open Sans"/>
              <a:sym typeface="Open Sans"/>
            </a:endParaRPr>
          </a:p>
          <a:p>
            <a:pPr indent="-203200" lvl="0" marL="342900" rtl="0" algn="l">
              <a:lnSpc>
                <a:spcPct val="100000"/>
              </a:lnSpc>
              <a:spcBef>
                <a:spcPts val="0"/>
              </a:spcBef>
              <a:spcAft>
                <a:spcPts val="0"/>
              </a:spcAft>
              <a:buClr>
                <a:srgbClr val="500000"/>
              </a:buClr>
              <a:buSzPts val="2200"/>
              <a:buNone/>
            </a:pPr>
            <a:r>
              <a:t/>
            </a:r>
            <a:endParaRPr/>
          </a:p>
          <a:p>
            <a:pPr indent="0" lvl="0" marL="0" rtl="0" algn="l">
              <a:lnSpc>
                <a:spcPct val="100000"/>
              </a:lnSpc>
              <a:spcBef>
                <a:spcPts val="0"/>
              </a:spcBef>
              <a:spcAft>
                <a:spcPts val="0"/>
              </a:spcAft>
              <a:buNone/>
            </a:pPr>
            <a:r>
              <a:rPr lang="en-US"/>
              <a:t>Wireless Data Transmission</a:t>
            </a:r>
            <a:endParaRPr/>
          </a:p>
          <a:p>
            <a:pPr indent="0" lvl="0" marL="457200" rtl="0" algn="l">
              <a:lnSpc>
                <a:spcPct val="100000"/>
              </a:lnSpc>
              <a:spcBef>
                <a:spcPts val="0"/>
              </a:spcBef>
              <a:spcAft>
                <a:spcPts val="0"/>
              </a:spcAft>
              <a:buClr>
                <a:srgbClr val="500000"/>
              </a:buClr>
              <a:buSzPts val="2200"/>
              <a:buNone/>
            </a:pPr>
            <a:r>
              <a:rPr b="0" lang="en-US">
                <a:latin typeface="Open Sans"/>
                <a:ea typeface="Open Sans"/>
                <a:cs typeface="Open Sans"/>
                <a:sym typeface="Open Sans"/>
              </a:rPr>
              <a:t>Test video and mapping streams through barriers up to 10 m for latency and data loss</a:t>
            </a:r>
            <a:endParaRPr b="0">
              <a:latin typeface="Open Sans"/>
              <a:ea typeface="Open Sans"/>
              <a:cs typeface="Open Sans"/>
              <a:sym typeface="Open Sans"/>
            </a:endParaRPr>
          </a:p>
          <a:p>
            <a:pPr indent="-203200" lvl="0" marL="342900" rtl="0" algn="l">
              <a:lnSpc>
                <a:spcPct val="100000"/>
              </a:lnSpc>
              <a:spcBef>
                <a:spcPts val="0"/>
              </a:spcBef>
              <a:spcAft>
                <a:spcPts val="0"/>
              </a:spcAft>
              <a:buClr>
                <a:srgbClr val="500000"/>
              </a:buClr>
              <a:buSzPts val="2200"/>
              <a:buNone/>
            </a:pPr>
            <a:r>
              <a:t/>
            </a:r>
            <a:endParaRPr/>
          </a:p>
          <a:p>
            <a:pPr indent="0" lvl="0" marL="0" rtl="0" algn="l">
              <a:lnSpc>
                <a:spcPct val="100000"/>
              </a:lnSpc>
              <a:spcBef>
                <a:spcPts val="0"/>
              </a:spcBef>
              <a:spcAft>
                <a:spcPts val="0"/>
              </a:spcAft>
              <a:buNone/>
            </a:pPr>
            <a:r>
              <a:rPr lang="en-US"/>
              <a:t>User Interface &amp; Display</a:t>
            </a:r>
            <a:endParaRPr/>
          </a:p>
          <a:p>
            <a:pPr indent="0" lvl="0" marL="457200" rtl="0" algn="l">
              <a:lnSpc>
                <a:spcPct val="100000"/>
              </a:lnSpc>
              <a:spcBef>
                <a:spcPts val="0"/>
              </a:spcBef>
              <a:spcAft>
                <a:spcPts val="0"/>
              </a:spcAft>
              <a:buClr>
                <a:srgbClr val="500000"/>
              </a:buClr>
              <a:buSzPts val="2200"/>
              <a:buNone/>
            </a:pPr>
            <a:r>
              <a:rPr b="0" lang="en-US">
                <a:latin typeface="Open Sans"/>
                <a:ea typeface="Open Sans"/>
                <a:cs typeface="Open Sans"/>
                <a:sym typeface="Open Sans"/>
              </a:rPr>
              <a:t>Evaluate responsiveness and ease of use through operator trials and feedback</a:t>
            </a:r>
            <a:endParaRPr b="0">
              <a:latin typeface="Open Sans"/>
              <a:ea typeface="Open Sans"/>
              <a:cs typeface="Open Sans"/>
              <a:sym typeface="Open Sans"/>
            </a:endParaRPr>
          </a:p>
          <a:p>
            <a:pPr indent="-203200" lvl="0" marL="342900" rtl="0" algn="l">
              <a:lnSpc>
                <a:spcPct val="100000"/>
              </a:lnSpc>
              <a:spcBef>
                <a:spcPts val="0"/>
              </a:spcBef>
              <a:spcAft>
                <a:spcPts val="0"/>
              </a:spcAft>
              <a:buClr>
                <a:srgbClr val="500000"/>
              </a:buClr>
              <a:buSzPts val="2200"/>
              <a:buNone/>
            </a:pPr>
            <a:r>
              <a:t/>
            </a:r>
            <a:endParaRPr/>
          </a:p>
          <a:p>
            <a:pPr indent="0" lvl="0" marL="0" rtl="0" algn="l">
              <a:lnSpc>
                <a:spcPct val="100000"/>
              </a:lnSpc>
              <a:spcBef>
                <a:spcPts val="0"/>
              </a:spcBef>
              <a:spcAft>
                <a:spcPts val="0"/>
              </a:spcAft>
              <a:buNone/>
            </a:pPr>
            <a:r>
              <a:rPr b="0" lang="en-US"/>
              <a:t>Durability &amp; Impact Resistance</a:t>
            </a:r>
            <a:endParaRPr b="0"/>
          </a:p>
          <a:p>
            <a:pPr indent="457200" lvl="0" marL="0" rtl="0" algn="l">
              <a:lnSpc>
                <a:spcPct val="100000"/>
              </a:lnSpc>
              <a:spcBef>
                <a:spcPts val="0"/>
              </a:spcBef>
              <a:spcAft>
                <a:spcPts val="0"/>
              </a:spcAft>
              <a:buClr>
                <a:srgbClr val="500000"/>
              </a:buClr>
              <a:buSzPts val="2200"/>
              <a:buNone/>
            </a:pPr>
            <a:r>
              <a:rPr b="0" lang="en-US">
                <a:latin typeface="Open Sans"/>
                <a:ea typeface="Open Sans"/>
                <a:cs typeface="Open Sans"/>
                <a:sym typeface="Open Sans"/>
              </a:rPr>
              <a:t>Perform repeated 10-ft drop tests; system must remain fully functional</a:t>
            </a:r>
            <a:endParaRPr b="0">
              <a:latin typeface="Open Sans"/>
              <a:ea typeface="Open Sans"/>
              <a:cs typeface="Open Sans"/>
              <a:sym typeface="Open Sans"/>
            </a:endParaRPr>
          </a:p>
          <a:p>
            <a:pPr indent="-203200" lvl="0" marL="342900" rtl="0" algn="l">
              <a:lnSpc>
                <a:spcPct val="100000"/>
              </a:lnSpc>
              <a:spcBef>
                <a:spcPts val="0"/>
              </a:spcBef>
              <a:spcAft>
                <a:spcPts val="0"/>
              </a:spcAft>
              <a:buClr>
                <a:srgbClr val="500000"/>
              </a:buClr>
              <a:buSzPts val="2200"/>
              <a:buNone/>
            </a:pPr>
            <a:r>
              <a:t/>
            </a:r>
            <a:endParaRPr/>
          </a:p>
          <a:p>
            <a:pPr indent="0" lvl="0" marL="0" rtl="0" algn="l">
              <a:lnSpc>
                <a:spcPct val="100000"/>
              </a:lnSpc>
              <a:spcBef>
                <a:spcPts val="0"/>
              </a:spcBef>
              <a:spcAft>
                <a:spcPts val="0"/>
              </a:spcAft>
              <a:buNone/>
            </a:pPr>
            <a:r>
              <a:rPr lang="en-US"/>
              <a:t>Mapping &amp; Decision Algorithms</a:t>
            </a:r>
            <a:endParaRPr/>
          </a:p>
          <a:p>
            <a:pPr indent="0" lvl="0" marL="457200" rtl="0" algn="l">
              <a:lnSpc>
                <a:spcPct val="100000"/>
              </a:lnSpc>
              <a:spcBef>
                <a:spcPts val="0"/>
              </a:spcBef>
              <a:spcAft>
                <a:spcPts val="0"/>
              </a:spcAft>
              <a:buClr>
                <a:srgbClr val="500000"/>
              </a:buClr>
              <a:buSzPts val="2200"/>
              <a:buNone/>
            </a:pPr>
            <a:r>
              <a:rPr b="0" lang="en-US">
                <a:latin typeface="Open Sans"/>
                <a:ea typeface="Open Sans"/>
                <a:cs typeface="Open Sans"/>
                <a:sym typeface="Open Sans"/>
              </a:rPr>
              <a:t>Validate 3D model accuracy by benchmarking against real room measurements</a:t>
            </a:r>
            <a:endParaRPr b="0">
              <a:latin typeface="Open Sans"/>
              <a:ea typeface="Open Sans"/>
              <a:cs typeface="Open Sans"/>
              <a:sym typeface="Open Sans"/>
            </a:endParaRPr>
          </a:p>
        </p:txBody>
      </p:sp>
      <p:sp>
        <p:nvSpPr>
          <p:cNvPr id="221" name="Google Shape;221;g3bd96a98101_0_37"/>
          <p:cNvSpPr txBox="1"/>
          <p:nvPr>
            <p:ph type="title"/>
          </p:nvPr>
        </p:nvSpPr>
        <p:spPr>
          <a:xfrm>
            <a:off x="609600" y="238118"/>
            <a:ext cx="10972800" cy="8937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00000"/>
              </a:buClr>
              <a:buSzPts val="4400"/>
              <a:buFont typeface="Oswald Medium"/>
              <a:buNone/>
            </a:pPr>
            <a:r>
              <a:rPr lang="en-US">
                <a:solidFill>
                  <a:schemeClr val="lt1"/>
                </a:solidFill>
              </a:rPr>
              <a:t>Approach for design validation</a:t>
            </a:r>
            <a:endParaRPr>
              <a:solidFill>
                <a:schemeClr val="lt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g3bd96a98101_0_43"/>
          <p:cNvSpPr txBox="1"/>
          <p:nvPr>
            <p:ph type="title"/>
          </p:nvPr>
        </p:nvSpPr>
        <p:spPr>
          <a:xfrm>
            <a:off x="609600" y="238118"/>
            <a:ext cx="10972800" cy="8937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00000"/>
              </a:buClr>
              <a:buSzPts val="4400"/>
              <a:buFont typeface="Oswald Medium"/>
              <a:buNone/>
            </a:pPr>
            <a:r>
              <a:rPr lang="en-US">
                <a:solidFill>
                  <a:schemeClr val="lt1"/>
                </a:solidFill>
              </a:rPr>
              <a:t>Economic analysis and budget</a:t>
            </a:r>
            <a:endParaRPr>
              <a:solidFill>
                <a:schemeClr val="lt1"/>
              </a:solidFill>
            </a:endParaRPr>
          </a:p>
        </p:txBody>
      </p:sp>
      <p:graphicFrame>
        <p:nvGraphicFramePr>
          <p:cNvPr id="227" name="Google Shape;227;g3bd96a98101_0_43"/>
          <p:cNvGraphicFramePr/>
          <p:nvPr/>
        </p:nvGraphicFramePr>
        <p:xfrm>
          <a:off x="952500" y="1333500"/>
          <a:ext cx="3000000" cy="3000000"/>
        </p:xfrm>
        <a:graphic>
          <a:graphicData uri="http://schemas.openxmlformats.org/drawingml/2006/table">
            <a:tbl>
              <a:tblPr>
                <a:noFill/>
                <a:tableStyleId>{FD26A37F-556E-48F0-B075-F9ACD07589E8}</a:tableStyleId>
              </a:tblPr>
              <a:tblGrid>
                <a:gridCol w="3420175"/>
                <a:gridCol w="1723325"/>
                <a:gridCol w="2571750"/>
                <a:gridCol w="2571750"/>
              </a:tblGrid>
              <a:tr h="381000">
                <a:tc>
                  <a:txBody>
                    <a:bodyPr/>
                    <a:lstStyle/>
                    <a:p>
                      <a:pPr indent="0" lvl="0" marL="0" rtl="0" algn="l">
                        <a:spcBef>
                          <a:spcPts val="0"/>
                        </a:spcBef>
                        <a:spcAft>
                          <a:spcPts val="0"/>
                        </a:spcAft>
                        <a:buNone/>
                      </a:pPr>
                      <a:r>
                        <a:rPr b="1" lang="en-US"/>
                        <a:t>Item</a:t>
                      </a:r>
                      <a:endParaRPr b="1"/>
                    </a:p>
                  </a:txBody>
                  <a:tcPr marT="91425" marB="91425" marR="91425" marL="91425">
                    <a:solidFill>
                      <a:srgbClr val="D9D9D9"/>
                    </a:solidFill>
                  </a:tcPr>
                </a:tc>
                <a:tc>
                  <a:txBody>
                    <a:bodyPr/>
                    <a:lstStyle/>
                    <a:p>
                      <a:pPr indent="0" lvl="0" marL="0" rtl="0" algn="l">
                        <a:spcBef>
                          <a:spcPts val="0"/>
                        </a:spcBef>
                        <a:spcAft>
                          <a:spcPts val="0"/>
                        </a:spcAft>
                        <a:buNone/>
                      </a:pPr>
                      <a:r>
                        <a:rPr b="1" lang="en-US"/>
                        <a:t>Quantity</a:t>
                      </a:r>
                      <a:endParaRPr b="1"/>
                    </a:p>
                  </a:txBody>
                  <a:tcPr marT="91425" marB="91425" marR="91425" marL="91425">
                    <a:solidFill>
                      <a:srgbClr val="D9D9D9"/>
                    </a:solidFill>
                  </a:tcPr>
                </a:tc>
                <a:tc>
                  <a:txBody>
                    <a:bodyPr/>
                    <a:lstStyle/>
                    <a:p>
                      <a:pPr indent="0" lvl="0" marL="0" rtl="0" algn="l">
                        <a:spcBef>
                          <a:spcPts val="0"/>
                        </a:spcBef>
                        <a:spcAft>
                          <a:spcPts val="0"/>
                        </a:spcAft>
                        <a:buNone/>
                      </a:pPr>
                      <a:r>
                        <a:rPr b="1" lang="en-US"/>
                        <a:t>Unit Cost (USD)</a:t>
                      </a:r>
                      <a:endParaRPr b="1"/>
                    </a:p>
                  </a:txBody>
                  <a:tcPr marT="91425" marB="91425" marR="91425" marL="91425">
                    <a:solidFill>
                      <a:srgbClr val="D9D9D9"/>
                    </a:solidFill>
                  </a:tcPr>
                </a:tc>
                <a:tc>
                  <a:txBody>
                    <a:bodyPr/>
                    <a:lstStyle/>
                    <a:p>
                      <a:pPr indent="0" lvl="0" marL="0" rtl="0" algn="l">
                        <a:spcBef>
                          <a:spcPts val="0"/>
                        </a:spcBef>
                        <a:spcAft>
                          <a:spcPts val="0"/>
                        </a:spcAft>
                        <a:buNone/>
                      </a:pPr>
                      <a:r>
                        <a:rPr b="1" lang="en-US"/>
                        <a:t>Total (USD)</a:t>
                      </a:r>
                      <a:endParaRPr b="1"/>
                    </a:p>
                  </a:txBody>
                  <a:tcPr marT="91425" marB="91425" marR="91425" marL="91425">
                    <a:solidFill>
                      <a:srgbClr val="D9D9D9"/>
                    </a:solidFill>
                  </a:tcPr>
                </a:tc>
              </a:tr>
              <a:tr h="381000">
                <a:tc>
                  <a:txBody>
                    <a:bodyPr/>
                    <a:lstStyle/>
                    <a:p>
                      <a:pPr indent="0" lvl="0" marL="0" rtl="0" algn="l">
                        <a:spcBef>
                          <a:spcPts val="0"/>
                        </a:spcBef>
                        <a:spcAft>
                          <a:spcPts val="0"/>
                        </a:spcAft>
                        <a:buNone/>
                      </a:pPr>
                      <a:r>
                        <a:rPr lang="en-US"/>
                        <a:t>Raspberry Pi 4 Model B, 1GB</a:t>
                      </a:r>
                      <a:endParaRPr/>
                    </a:p>
                  </a:txBody>
                  <a:tcPr marT="91425" marB="91425" marR="91425" marL="91425"/>
                </a:tc>
                <a:tc>
                  <a:txBody>
                    <a:bodyPr/>
                    <a:lstStyle/>
                    <a:p>
                      <a:pPr indent="0" lvl="0" marL="0" rtl="0" algn="l">
                        <a:spcBef>
                          <a:spcPts val="0"/>
                        </a:spcBef>
                        <a:spcAft>
                          <a:spcPts val="0"/>
                        </a:spcAft>
                        <a:buNone/>
                      </a:pPr>
                      <a:r>
                        <a:rPr lang="en-US"/>
                        <a:t>1</a:t>
                      </a:r>
                      <a:endParaRPr/>
                    </a:p>
                  </a:txBody>
                  <a:tcPr marT="91425" marB="91425" marR="91425" marL="91425"/>
                </a:tc>
                <a:tc>
                  <a:txBody>
                    <a:bodyPr/>
                    <a:lstStyle/>
                    <a:p>
                      <a:pPr indent="0" lvl="0" marL="0" rtl="0" algn="l">
                        <a:spcBef>
                          <a:spcPts val="0"/>
                        </a:spcBef>
                        <a:spcAft>
                          <a:spcPts val="0"/>
                        </a:spcAft>
                        <a:buNone/>
                      </a:pPr>
                      <a:r>
                        <a:rPr lang="en-US"/>
                        <a:t>38.50</a:t>
                      </a:r>
                      <a:endParaRPr/>
                    </a:p>
                  </a:txBody>
                  <a:tcPr marT="91425" marB="91425" marR="91425" marL="91425"/>
                </a:tc>
                <a:tc>
                  <a:txBody>
                    <a:bodyPr/>
                    <a:lstStyle/>
                    <a:p>
                      <a:pPr indent="0" lvl="0" marL="0" rtl="0" algn="l">
                        <a:spcBef>
                          <a:spcPts val="0"/>
                        </a:spcBef>
                        <a:spcAft>
                          <a:spcPts val="0"/>
                        </a:spcAft>
                        <a:buNone/>
                      </a:pPr>
                      <a:r>
                        <a:rPr lang="en-US"/>
                        <a:t>38.50</a:t>
                      </a:r>
                      <a:endParaRPr/>
                    </a:p>
                  </a:txBody>
                  <a:tcPr marT="91425" marB="91425" marR="91425" marL="91425"/>
                </a:tc>
              </a:tr>
              <a:tr h="381000">
                <a:tc>
                  <a:txBody>
                    <a:bodyPr/>
                    <a:lstStyle/>
                    <a:p>
                      <a:pPr indent="0" lvl="0" marL="0" rtl="0" algn="l">
                        <a:spcBef>
                          <a:spcPts val="0"/>
                        </a:spcBef>
                        <a:spcAft>
                          <a:spcPts val="0"/>
                        </a:spcAft>
                        <a:buNone/>
                      </a:pPr>
                      <a:r>
                        <a:rPr lang="en-US"/>
                        <a:t>Raspberry Pi Camera Module 3 Wide</a:t>
                      </a:r>
                      <a:endParaRPr/>
                    </a:p>
                  </a:txBody>
                  <a:tcPr marT="91425" marB="91425" marR="91425" marL="91425"/>
                </a:tc>
                <a:tc>
                  <a:txBody>
                    <a:bodyPr/>
                    <a:lstStyle/>
                    <a:p>
                      <a:pPr indent="0" lvl="0" marL="0" rtl="0" algn="l">
                        <a:spcBef>
                          <a:spcPts val="0"/>
                        </a:spcBef>
                        <a:spcAft>
                          <a:spcPts val="0"/>
                        </a:spcAft>
                        <a:buNone/>
                      </a:pPr>
                      <a:r>
                        <a:rPr lang="en-US"/>
                        <a:t>3</a:t>
                      </a:r>
                      <a:endParaRPr/>
                    </a:p>
                  </a:txBody>
                  <a:tcPr marT="91425" marB="91425" marR="91425" marL="91425"/>
                </a:tc>
                <a:tc>
                  <a:txBody>
                    <a:bodyPr/>
                    <a:lstStyle/>
                    <a:p>
                      <a:pPr indent="0" lvl="0" marL="0" rtl="0" algn="l">
                        <a:spcBef>
                          <a:spcPts val="0"/>
                        </a:spcBef>
                        <a:spcAft>
                          <a:spcPts val="0"/>
                        </a:spcAft>
                        <a:buNone/>
                      </a:pPr>
                      <a:r>
                        <a:rPr lang="en-US"/>
                        <a:t>37</a:t>
                      </a:r>
                      <a:endParaRPr/>
                    </a:p>
                  </a:txBody>
                  <a:tcPr marT="91425" marB="91425" marR="91425" marL="91425"/>
                </a:tc>
                <a:tc>
                  <a:txBody>
                    <a:bodyPr/>
                    <a:lstStyle/>
                    <a:p>
                      <a:pPr indent="0" lvl="0" marL="0" rtl="0" algn="l">
                        <a:spcBef>
                          <a:spcPts val="0"/>
                        </a:spcBef>
                        <a:spcAft>
                          <a:spcPts val="0"/>
                        </a:spcAft>
                        <a:buNone/>
                      </a:pPr>
                      <a:r>
                        <a:rPr lang="en-US"/>
                        <a:t>111</a:t>
                      </a:r>
                      <a:endParaRPr/>
                    </a:p>
                  </a:txBody>
                  <a:tcPr marT="91425" marB="91425" marR="91425" marL="91425"/>
                </a:tc>
              </a:tr>
              <a:tr h="381000">
                <a:tc>
                  <a:txBody>
                    <a:bodyPr/>
                    <a:lstStyle/>
                    <a:p>
                      <a:pPr indent="0" lvl="0" marL="0" rtl="0" algn="l">
                        <a:spcBef>
                          <a:spcPts val="0"/>
                        </a:spcBef>
                        <a:spcAft>
                          <a:spcPts val="0"/>
                        </a:spcAft>
                        <a:buNone/>
                      </a:pPr>
                      <a:r>
                        <a:rPr lang="en-US"/>
                        <a:t>Inertial Measurement Unit</a:t>
                      </a:r>
                      <a:endParaRPr/>
                    </a:p>
                  </a:txBody>
                  <a:tcPr marT="91425" marB="91425" marR="91425" marL="91425"/>
                </a:tc>
                <a:tc>
                  <a:txBody>
                    <a:bodyPr/>
                    <a:lstStyle/>
                    <a:p>
                      <a:pPr indent="0" lvl="0" marL="0" rtl="0" algn="l">
                        <a:spcBef>
                          <a:spcPts val="0"/>
                        </a:spcBef>
                        <a:spcAft>
                          <a:spcPts val="0"/>
                        </a:spcAft>
                        <a:buNone/>
                      </a:pPr>
                      <a:r>
                        <a:rPr lang="en-US"/>
                        <a:t>1</a:t>
                      </a:r>
                      <a:endParaRPr/>
                    </a:p>
                  </a:txBody>
                  <a:tcPr marT="91425" marB="91425" marR="91425" marL="91425"/>
                </a:tc>
                <a:tc>
                  <a:txBody>
                    <a:bodyPr/>
                    <a:lstStyle/>
                    <a:p>
                      <a:pPr indent="0" lvl="0" marL="0" rtl="0" algn="l">
                        <a:spcBef>
                          <a:spcPts val="0"/>
                        </a:spcBef>
                        <a:spcAft>
                          <a:spcPts val="0"/>
                        </a:spcAft>
                        <a:buNone/>
                      </a:pPr>
                      <a:r>
                        <a:rPr lang="en-US"/>
                        <a:t>5</a:t>
                      </a:r>
                      <a:endParaRPr/>
                    </a:p>
                  </a:txBody>
                  <a:tcPr marT="91425" marB="91425" marR="91425" marL="91425"/>
                </a:tc>
                <a:tc>
                  <a:txBody>
                    <a:bodyPr/>
                    <a:lstStyle/>
                    <a:p>
                      <a:pPr indent="0" lvl="0" marL="0" rtl="0" algn="l">
                        <a:spcBef>
                          <a:spcPts val="0"/>
                        </a:spcBef>
                        <a:spcAft>
                          <a:spcPts val="0"/>
                        </a:spcAft>
                        <a:buNone/>
                      </a:pPr>
                      <a:r>
                        <a:rPr lang="en-US"/>
                        <a:t>5</a:t>
                      </a:r>
                      <a:endParaRPr/>
                    </a:p>
                  </a:txBody>
                  <a:tcPr marT="91425" marB="91425" marR="91425" marL="91425"/>
                </a:tc>
              </a:tr>
              <a:tr h="381000">
                <a:tc>
                  <a:txBody>
                    <a:bodyPr/>
                    <a:lstStyle/>
                    <a:p>
                      <a:pPr indent="0" lvl="0" marL="0" rtl="0" algn="l">
                        <a:spcBef>
                          <a:spcPts val="0"/>
                        </a:spcBef>
                        <a:spcAft>
                          <a:spcPts val="0"/>
                        </a:spcAft>
                        <a:buNone/>
                      </a:pPr>
                      <a:r>
                        <a:rPr lang="en-US"/>
                        <a:t>Anker Power Bank 5V/3A</a:t>
                      </a:r>
                      <a:endParaRPr/>
                    </a:p>
                  </a:txBody>
                  <a:tcPr marT="91425" marB="91425" marR="91425" marL="91425"/>
                </a:tc>
                <a:tc>
                  <a:txBody>
                    <a:bodyPr/>
                    <a:lstStyle/>
                    <a:p>
                      <a:pPr indent="0" lvl="0" marL="0" rtl="0" algn="l">
                        <a:spcBef>
                          <a:spcPts val="0"/>
                        </a:spcBef>
                        <a:spcAft>
                          <a:spcPts val="0"/>
                        </a:spcAft>
                        <a:buNone/>
                      </a:pPr>
                      <a:r>
                        <a:rPr lang="en-US"/>
                        <a:t>1</a:t>
                      </a:r>
                      <a:endParaRPr/>
                    </a:p>
                  </a:txBody>
                  <a:tcPr marT="91425" marB="91425" marR="91425" marL="91425"/>
                </a:tc>
                <a:tc>
                  <a:txBody>
                    <a:bodyPr/>
                    <a:lstStyle/>
                    <a:p>
                      <a:pPr indent="0" lvl="0" marL="0" rtl="0" algn="l">
                        <a:spcBef>
                          <a:spcPts val="0"/>
                        </a:spcBef>
                        <a:spcAft>
                          <a:spcPts val="0"/>
                        </a:spcAft>
                        <a:buNone/>
                      </a:pPr>
                      <a:r>
                        <a:rPr lang="en-US"/>
                        <a:t>20</a:t>
                      </a:r>
                      <a:endParaRPr/>
                    </a:p>
                  </a:txBody>
                  <a:tcPr marT="91425" marB="91425" marR="91425" marL="91425"/>
                </a:tc>
                <a:tc>
                  <a:txBody>
                    <a:bodyPr/>
                    <a:lstStyle/>
                    <a:p>
                      <a:pPr indent="0" lvl="0" marL="0" rtl="0" algn="l">
                        <a:spcBef>
                          <a:spcPts val="0"/>
                        </a:spcBef>
                        <a:spcAft>
                          <a:spcPts val="0"/>
                        </a:spcAft>
                        <a:buNone/>
                      </a:pPr>
                      <a:r>
                        <a:rPr lang="en-US"/>
                        <a:t>20</a:t>
                      </a:r>
                      <a:endParaRPr/>
                    </a:p>
                  </a:txBody>
                  <a:tcPr marT="91425" marB="91425" marR="91425" marL="91425"/>
                </a:tc>
              </a:tr>
              <a:tr h="381000">
                <a:tc>
                  <a:txBody>
                    <a:bodyPr/>
                    <a:lstStyle/>
                    <a:p>
                      <a:pPr indent="0" lvl="0" marL="0" rtl="0" algn="l">
                        <a:spcBef>
                          <a:spcPts val="0"/>
                        </a:spcBef>
                        <a:spcAft>
                          <a:spcPts val="0"/>
                        </a:spcAft>
                        <a:buNone/>
                      </a:pPr>
                      <a:r>
                        <a:rPr lang="en-US"/>
                        <a:t>Multi Camera Adapter Module</a:t>
                      </a:r>
                      <a:endParaRPr/>
                    </a:p>
                  </a:txBody>
                  <a:tcPr marT="91425" marB="91425" marR="91425" marL="91425"/>
                </a:tc>
                <a:tc>
                  <a:txBody>
                    <a:bodyPr/>
                    <a:lstStyle/>
                    <a:p>
                      <a:pPr indent="0" lvl="0" marL="0" rtl="0" algn="l">
                        <a:spcBef>
                          <a:spcPts val="0"/>
                        </a:spcBef>
                        <a:spcAft>
                          <a:spcPts val="0"/>
                        </a:spcAft>
                        <a:buNone/>
                      </a:pPr>
                      <a:r>
                        <a:rPr lang="en-US"/>
                        <a:t>1</a:t>
                      </a:r>
                      <a:endParaRPr/>
                    </a:p>
                  </a:txBody>
                  <a:tcPr marT="91425" marB="91425" marR="91425" marL="91425"/>
                </a:tc>
                <a:tc>
                  <a:txBody>
                    <a:bodyPr/>
                    <a:lstStyle/>
                    <a:p>
                      <a:pPr indent="0" lvl="0" marL="0" rtl="0" algn="l">
                        <a:spcBef>
                          <a:spcPts val="0"/>
                        </a:spcBef>
                        <a:spcAft>
                          <a:spcPts val="0"/>
                        </a:spcAft>
                        <a:buNone/>
                      </a:pPr>
                      <a:r>
                        <a:rPr lang="en-US"/>
                        <a:t>50</a:t>
                      </a:r>
                      <a:endParaRPr/>
                    </a:p>
                  </a:txBody>
                  <a:tcPr marT="91425" marB="91425" marR="91425" marL="91425"/>
                </a:tc>
                <a:tc>
                  <a:txBody>
                    <a:bodyPr/>
                    <a:lstStyle/>
                    <a:p>
                      <a:pPr indent="0" lvl="0" marL="0" rtl="0" algn="l">
                        <a:spcBef>
                          <a:spcPts val="0"/>
                        </a:spcBef>
                        <a:spcAft>
                          <a:spcPts val="0"/>
                        </a:spcAft>
                        <a:buNone/>
                      </a:pPr>
                      <a:r>
                        <a:rPr lang="en-US"/>
                        <a:t>50</a:t>
                      </a:r>
                      <a:endParaRPr/>
                    </a:p>
                  </a:txBody>
                  <a:tcPr marT="91425" marB="91425" marR="91425" marL="91425"/>
                </a:tc>
              </a:tr>
              <a:tr h="381000">
                <a:tc>
                  <a:txBody>
                    <a:bodyPr/>
                    <a:lstStyle/>
                    <a:p>
                      <a:pPr indent="0" lvl="0" marL="0" rtl="0" algn="l">
                        <a:spcBef>
                          <a:spcPts val="0"/>
                        </a:spcBef>
                        <a:spcAft>
                          <a:spcPts val="0"/>
                        </a:spcAft>
                        <a:buNone/>
                      </a:pPr>
                      <a:r>
                        <a:rPr lang="en-US"/>
                        <a:t>3D-printer filament (ABS, 1 kg)</a:t>
                      </a:r>
                      <a:endParaRPr/>
                    </a:p>
                  </a:txBody>
                  <a:tcPr marT="91425" marB="91425" marR="91425" marL="91425"/>
                </a:tc>
                <a:tc>
                  <a:txBody>
                    <a:bodyPr/>
                    <a:lstStyle/>
                    <a:p>
                      <a:pPr indent="0" lvl="0" marL="0" rtl="0" algn="l">
                        <a:spcBef>
                          <a:spcPts val="0"/>
                        </a:spcBef>
                        <a:spcAft>
                          <a:spcPts val="0"/>
                        </a:spcAft>
                        <a:buNone/>
                      </a:pPr>
                      <a:r>
                        <a:rPr lang="en-US"/>
                        <a:t>1</a:t>
                      </a:r>
                      <a:endParaRPr/>
                    </a:p>
                  </a:txBody>
                  <a:tcPr marT="91425" marB="91425" marR="91425" marL="91425"/>
                </a:tc>
                <a:tc>
                  <a:txBody>
                    <a:bodyPr/>
                    <a:lstStyle/>
                    <a:p>
                      <a:pPr indent="0" lvl="0" marL="0" rtl="0" algn="l">
                        <a:spcBef>
                          <a:spcPts val="0"/>
                        </a:spcBef>
                        <a:spcAft>
                          <a:spcPts val="0"/>
                        </a:spcAft>
                        <a:buNone/>
                      </a:pPr>
                      <a:r>
                        <a:rPr lang="en-US"/>
                        <a:t>11</a:t>
                      </a:r>
                      <a:endParaRPr/>
                    </a:p>
                  </a:txBody>
                  <a:tcPr marT="91425" marB="91425" marR="91425" marL="91425"/>
                </a:tc>
                <a:tc>
                  <a:txBody>
                    <a:bodyPr/>
                    <a:lstStyle/>
                    <a:p>
                      <a:pPr indent="0" lvl="0" marL="0" rtl="0" algn="l">
                        <a:spcBef>
                          <a:spcPts val="0"/>
                        </a:spcBef>
                        <a:spcAft>
                          <a:spcPts val="0"/>
                        </a:spcAft>
                        <a:buNone/>
                      </a:pPr>
                      <a:r>
                        <a:rPr lang="en-US"/>
                        <a:t>11</a:t>
                      </a:r>
                      <a:endParaRPr/>
                    </a:p>
                  </a:txBody>
                  <a:tcPr marT="91425" marB="91425" marR="91425" marL="91425"/>
                </a:tc>
              </a:tr>
              <a:tr h="381000">
                <a:tc>
                  <a:txBody>
                    <a:bodyPr/>
                    <a:lstStyle/>
                    <a:p>
                      <a:pPr indent="0" lvl="0" marL="0" rtl="0" algn="l">
                        <a:spcBef>
                          <a:spcPts val="0"/>
                        </a:spcBef>
                        <a:spcAft>
                          <a:spcPts val="0"/>
                        </a:spcAft>
                        <a:buNone/>
                      </a:pPr>
                      <a:r>
                        <a:rPr lang="en-US"/>
                        <a:t>Solder</a:t>
                      </a:r>
                      <a:endParaRPr/>
                    </a:p>
                  </a:txBody>
                  <a:tcPr marT="91425" marB="91425" marR="91425" marL="91425"/>
                </a:tc>
                <a:tc>
                  <a:txBody>
                    <a:bodyPr/>
                    <a:lstStyle/>
                    <a:p>
                      <a:pPr indent="0" lvl="0" marL="0" rtl="0" algn="l">
                        <a:spcBef>
                          <a:spcPts val="0"/>
                        </a:spcBef>
                        <a:spcAft>
                          <a:spcPts val="0"/>
                        </a:spcAft>
                        <a:buNone/>
                      </a:pPr>
                      <a:r>
                        <a:rPr lang="en-US"/>
                        <a:t>-</a:t>
                      </a:r>
                      <a:endParaRPr/>
                    </a:p>
                  </a:txBody>
                  <a:tcPr marT="91425" marB="91425" marR="91425" marL="91425"/>
                </a:tc>
                <a:tc>
                  <a:txBody>
                    <a:bodyPr/>
                    <a:lstStyle/>
                    <a:p>
                      <a:pPr indent="0" lvl="0" marL="0" rtl="0" algn="l">
                        <a:spcBef>
                          <a:spcPts val="0"/>
                        </a:spcBef>
                        <a:spcAft>
                          <a:spcPts val="0"/>
                        </a:spcAft>
                        <a:buNone/>
                      </a:pPr>
                      <a:r>
                        <a:rPr lang="en-US"/>
                        <a:t>5</a:t>
                      </a:r>
                      <a:endParaRPr/>
                    </a:p>
                  </a:txBody>
                  <a:tcPr marT="91425" marB="91425" marR="91425" marL="91425"/>
                </a:tc>
                <a:tc>
                  <a:txBody>
                    <a:bodyPr/>
                    <a:lstStyle/>
                    <a:p>
                      <a:pPr indent="0" lvl="0" marL="0" rtl="0" algn="l">
                        <a:spcBef>
                          <a:spcPts val="0"/>
                        </a:spcBef>
                        <a:spcAft>
                          <a:spcPts val="0"/>
                        </a:spcAft>
                        <a:buNone/>
                      </a:pPr>
                      <a:r>
                        <a:rPr lang="en-US"/>
                        <a:t>5</a:t>
                      </a:r>
                      <a:endParaRPr/>
                    </a:p>
                  </a:txBody>
                  <a:tcPr marT="91425" marB="91425" marR="91425" marL="91425"/>
                </a:tc>
              </a:tr>
              <a:tr h="381000">
                <a:tc>
                  <a:txBody>
                    <a:bodyPr/>
                    <a:lstStyle/>
                    <a:p>
                      <a:pPr indent="0" lvl="0" marL="0" rtl="0" algn="l">
                        <a:spcBef>
                          <a:spcPts val="0"/>
                        </a:spcBef>
                        <a:spcAft>
                          <a:spcPts val="0"/>
                        </a:spcAft>
                        <a:buNone/>
                      </a:pPr>
                      <a:r>
                        <a:rPr lang="en-US"/>
                        <a:t>Wire spool (22–24 AWG)</a:t>
                      </a:r>
                      <a:endParaRPr/>
                    </a:p>
                  </a:txBody>
                  <a:tcPr marT="91425" marB="91425" marR="91425" marL="91425"/>
                </a:tc>
                <a:tc>
                  <a:txBody>
                    <a:bodyPr/>
                    <a:lstStyle/>
                    <a:p>
                      <a:pPr indent="0" lvl="0" marL="0" rtl="0" algn="l">
                        <a:spcBef>
                          <a:spcPts val="0"/>
                        </a:spcBef>
                        <a:spcAft>
                          <a:spcPts val="0"/>
                        </a:spcAft>
                        <a:buNone/>
                      </a:pPr>
                      <a:r>
                        <a:rPr lang="en-US"/>
                        <a:t>1</a:t>
                      </a:r>
                      <a:endParaRPr/>
                    </a:p>
                  </a:txBody>
                  <a:tcPr marT="91425" marB="91425" marR="91425" marL="91425"/>
                </a:tc>
                <a:tc>
                  <a:txBody>
                    <a:bodyPr/>
                    <a:lstStyle/>
                    <a:p>
                      <a:pPr indent="0" lvl="0" marL="0" rtl="0" algn="l">
                        <a:spcBef>
                          <a:spcPts val="0"/>
                        </a:spcBef>
                        <a:spcAft>
                          <a:spcPts val="0"/>
                        </a:spcAft>
                        <a:buNone/>
                      </a:pPr>
                      <a:r>
                        <a:rPr lang="en-US"/>
                        <a:t>3</a:t>
                      </a:r>
                      <a:endParaRPr/>
                    </a:p>
                  </a:txBody>
                  <a:tcPr marT="91425" marB="91425" marR="91425" marL="91425"/>
                </a:tc>
                <a:tc>
                  <a:txBody>
                    <a:bodyPr/>
                    <a:lstStyle/>
                    <a:p>
                      <a:pPr indent="0" lvl="0" marL="0" rtl="0" algn="l">
                        <a:spcBef>
                          <a:spcPts val="0"/>
                        </a:spcBef>
                        <a:spcAft>
                          <a:spcPts val="0"/>
                        </a:spcAft>
                        <a:buNone/>
                      </a:pPr>
                      <a:r>
                        <a:rPr lang="en-US"/>
                        <a:t>3</a:t>
                      </a:r>
                      <a:endParaRPr/>
                    </a:p>
                  </a:txBody>
                  <a:tcPr marT="91425" marB="91425" marR="91425" marL="91425"/>
                </a:tc>
              </a:tr>
              <a:tr h="381000">
                <a:tc>
                  <a:txBody>
                    <a:bodyPr/>
                    <a:lstStyle/>
                    <a:p>
                      <a:pPr indent="0" lvl="0" marL="0" rtl="0" algn="l">
                        <a:spcBef>
                          <a:spcPts val="0"/>
                        </a:spcBef>
                        <a:spcAft>
                          <a:spcPts val="0"/>
                        </a:spcAft>
                        <a:buNone/>
                      </a:pPr>
                      <a:r>
                        <a:rPr lang="en-US"/>
                        <a:t>Misc. fasteners, heat-shrink, etc.</a:t>
                      </a:r>
                      <a:endParaRPr/>
                    </a:p>
                  </a:txBody>
                  <a:tcPr marT="91425" marB="91425" marR="91425" marL="91425"/>
                </a:tc>
                <a:tc>
                  <a:txBody>
                    <a:bodyPr/>
                    <a:lstStyle/>
                    <a:p>
                      <a:pPr indent="0" lvl="0" marL="0" rtl="0" algn="l">
                        <a:spcBef>
                          <a:spcPts val="0"/>
                        </a:spcBef>
                        <a:spcAft>
                          <a:spcPts val="0"/>
                        </a:spcAft>
                        <a:buNone/>
                      </a:pPr>
                      <a:r>
                        <a:rPr lang="en-US"/>
                        <a:t>-</a:t>
                      </a:r>
                      <a:endParaRPr/>
                    </a:p>
                  </a:txBody>
                  <a:tcPr marT="91425" marB="91425" marR="91425" marL="91425"/>
                </a:tc>
                <a:tc>
                  <a:txBody>
                    <a:bodyPr/>
                    <a:lstStyle/>
                    <a:p>
                      <a:pPr indent="0" lvl="0" marL="0" rtl="0" algn="l">
                        <a:spcBef>
                          <a:spcPts val="0"/>
                        </a:spcBef>
                        <a:spcAft>
                          <a:spcPts val="0"/>
                        </a:spcAft>
                        <a:buNone/>
                      </a:pPr>
                      <a:r>
                        <a:rPr lang="en-US"/>
                        <a:t>~5</a:t>
                      </a:r>
                      <a:endParaRPr/>
                    </a:p>
                  </a:txBody>
                  <a:tcPr marT="91425" marB="91425" marR="91425" marL="91425"/>
                </a:tc>
                <a:tc>
                  <a:txBody>
                    <a:bodyPr/>
                    <a:lstStyle/>
                    <a:p>
                      <a:pPr indent="0" lvl="0" marL="0" rtl="0" algn="l">
                        <a:spcBef>
                          <a:spcPts val="0"/>
                        </a:spcBef>
                        <a:spcAft>
                          <a:spcPts val="0"/>
                        </a:spcAft>
                        <a:buNone/>
                      </a:pPr>
                      <a:r>
                        <a:rPr lang="en-US"/>
                        <a:t>~5</a:t>
                      </a:r>
                      <a:endParaRPr/>
                    </a:p>
                  </a:txBody>
                  <a:tcPr marT="91425" marB="91425" marR="91425" marL="91425"/>
                </a:tc>
              </a:tr>
              <a:tr h="381000">
                <a:tc>
                  <a:txBody>
                    <a:bodyPr/>
                    <a:lstStyle/>
                    <a:p>
                      <a:pPr indent="0" lvl="0" marL="0" rtl="0" algn="l">
                        <a:spcBef>
                          <a:spcPts val="0"/>
                        </a:spcBef>
                        <a:spcAft>
                          <a:spcPts val="0"/>
                        </a:spcAft>
                        <a:buNone/>
                      </a:pPr>
                      <a:r>
                        <a:rPr b="1" lang="en-US"/>
                        <a:t>Estimated total</a:t>
                      </a:r>
                      <a:endParaRPr b="1"/>
                    </a:p>
                  </a:txBody>
                  <a:tcPr marT="91425" marB="91425" marR="91425" marL="91425"/>
                </a:tc>
                <a:tc>
                  <a:txBody>
                    <a:bodyPr/>
                    <a:lstStyle/>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None/>
                      </a:pPr>
                      <a:r>
                        <a:rPr b="1" lang="en-US"/>
                        <a:t>248.50</a:t>
                      </a:r>
                      <a:endParaRPr b="1"/>
                    </a:p>
                  </a:txBody>
                  <a:tcPr marT="91425" marB="91425" marR="91425" marL="91425"/>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g3bd96a98101_0_49"/>
          <p:cNvSpPr txBox="1"/>
          <p:nvPr>
            <p:ph type="title"/>
          </p:nvPr>
        </p:nvSpPr>
        <p:spPr>
          <a:xfrm>
            <a:off x="609600" y="238118"/>
            <a:ext cx="10972800" cy="8937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00000"/>
              </a:buClr>
              <a:buSzPts val="4400"/>
              <a:buFont typeface="Oswald Medium"/>
              <a:buNone/>
            </a:pPr>
            <a:r>
              <a:rPr lang="en-US">
                <a:solidFill>
                  <a:schemeClr val="lt1"/>
                </a:solidFill>
              </a:rPr>
              <a:t>Schedule of tasks</a:t>
            </a:r>
            <a:endParaRPr>
              <a:solidFill>
                <a:schemeClr val="lt1"/>
              </a:solidFill>
            </a:endParaRPr>
          </a:p>
        </p:txBody>
      </p:sp>
      <p:pic>
        <p:nvPicPr>
          <p:cNvPr id="233" name="Google Shape;233;g3bd96a98101_0_49" title="CSCE483.png"/>
          <p:cNvPicPr preferRelativeResize="0"/>
          <p:nvPr/>
        </p:nvPicPr>
        <p:blipFill>
          <a:blip r:embed="rId3">
            <a:alphaModFix/>
          </a:blip>
          <a:stretch>
            <a:fillRect/>
          </a:stretch>
        </p:blipFill>
        <p:spPr>
          <a:xfrm>
            <a:off x="152400" y="2044449"/>
            <a:ext cx="11887198" cy="37252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g3bd96a98101_0_55"/>
          <p:cNvSpPr txBox="1"/>
          <p:nvPr>
            <p:ph idx="1" type="body"/>
          </p:nvPr>
        </p:nvSpPr>
        <p:spPr>
          <a:xfrm>
            <a:off x="609600" y="1418576"/>
            <a:ext cx="5384700" cy="5209200"/>
          </a:xfrm>
          <a:prstGeom prst="rect">
            <a:avLst/>
          </a:prstGeom>
          <a:noFill/>
          <a:ln>
            <a:noFill/>
          </a:ln>
        </p:spPr>
        <p:txBody>
          <a:bodyPr anchorCtr="0" anchor="t" bIns="45700" lIns="91425" spcFirstLastPara="1" rIns="91425" wrap="square" tIns="45700">
            <a:normAutofit lnSpcReduction="20000"/>
          </a:bodyPr>
          <a:lstStyle/>
          <a:p>
            <a:pPr indent="0" lvl="0" marL="0" rtl="0" algn="l">
              <a:spcBef>
                <a:spcPts val="0"/>
              </a:spcBef>
              <a:spcAft>
                <a:spcPts val="0"/>
              </a:spcAft>
              <a:buNone/>
            </a:pPr>
            <a:r>
              <a:rPr lang="en-US"/>
              <a:t>Hardware &amp; CAD Designing</a:t>
            </a:r>
            <a:endParaRPr/>
          </a:p>
          <a:p>
            <a:pPr indent="0" lvl="0" marL="0" rtl="0" algn="l">
              <a:spcBef>
                <a:spcPts val="0"/>
              </a:spcBef>
              <a:spcAft>
                <a:spcPts val="0"/>
              </a:spcAft>
              <a:buNone/>
            </a:pPr>
            <a:r>
              <a:rPr b="0" lang="en-US" sz="2400" u="sng">
                <a:latin typeface="Open Sans"/>
                <a:ea typeface="Open Sans"/>
                <a:cs typeface="Open Sans"/>
                <a:sym typeface="Open Sans"/>
              </a:rPr>
              <a:t>Antony &amp; Kiet</a:t>
            </a:r>
            <a:endParaRPr b="0" sz="2400" u="sng">
              <a:latin typeface="Open Sans"/>
              <a:ea typeface="Open Sans"/>
              <a:cs typeface="Open Sans"/>
              <a:sym typeface="Open Sans"/>
            </a:endParaRPr>
          </a:p>
          <a:p>
            <a:pPr indent="0" lvl="0" marL="0" rtl="0" algn="l">
              <a:spcBef>
                <a:spcPts val="0"/>
              </a:spcBef>
              <a:spcAft>
                <a:spcPts val="0"/>
              </a:spcAft>
              <a:buNone/>
            </a:pPr>
            <a:r>
              <a:rPr lang="en-US" sz="2400">
                <a:latin typeface="Open Sans"/>
                <a:ea typeface="Open Sans"/>
                <a:cs typeface="Open Sans"/>
                <a:sym typeface="Open Sans"/>
              </a:rPr>
              <a:t>&gt;Antony: Team Lead</a:t>
            </a:r>
            <a:endParaRPr sz="2400">
              <a:latin typeface="Open Sans"/>
              <a:ea typeface="Open Sans"/>
              <a:cs typeface="Open Sans"/>
              <a:sym typeface="Open Sans"/>
            </a:endParaRPr>
          </a:p>
          <a:p>
            <a:pPr indent="0" lvl="0" marL="0" rtl="0" algn="l">
              <a:spcBef>
                <a:spcPts val="0"/>
              </a:spcBef>
              <a:spcAft>
                <a:spcPts val="0"/>
              </a:spcAft>
              <a:buNone/>
            </a:pPr>
            <a:r>
              <a:rPr lang="en-US" sz="2400">
                <a:latin typeface="Open Sans"/>
                <a:ea typeface="Open Sans"/>
                <a:cs typeface="Open Sans"/>
                <a:sym typeface="Open Sans"/>
              </a:rPr>
              <a:t>&gt;Kiet: Finance &amp; Purchases</a:t>
            </a:r>
            <a:endParaRPr sz="2400">
              <a:latin typeface="Open Sans"/>
              <a:ea typeface="Open Sans"/>
              <a:cs typeface="Open Sans"/>
              <a:sym typeface="Open Sans"/>
            </a:endParaRPr>
          </a:p>
          <a:p>
            <a:pPr indent="-381000" lvl="0" marL="457200" rtl="0" algn="l">
              <a:spcBef>
                <a:spcPts val="0"/>
              </a:spcBef>
              <a:spcAft>
                <a:spcPts val="0"/>
              </a:spcAft>
              <a:buSzPts val="2400"/>
              <a:buFont typeface="Open Sans"/>
              <a:buChar char="●"/>
            </a:pPr>
            <a:r>
              <a:rPr b="0" lang="en-US" sz="2400">
                <a:latin typeface="Open Sans"/>
                <a:ea typeface="Open Sans"/>
                <a:cs typeface="Open Sans"/>
                <a:sym typeface="Open Sans"/>
              </a:rPr>
              <a:t>Design inner mounting of cameras and pi board</a:t>
            </a:r>
            <a:endParaRPr b="0" sz="2400">
              <a:latin typeface="Open Sans"/>
              <a:ea typeface="Open Sans"/>
              <a:cs typeface="Open Sans"/>
              <a:sym typeface="Open Sans"/>
            </a:endParaRPr>
          </a:p>
          <a:p>
            <a:pPr indent="-381000" lvl="0" marL="457200" rtl="0" algn="l">
              <a:spcBef>
                <a:spcPts val="0"/>
              </a:spcBef>
              <a:spcAft>
                <a:spcPts val="0"/>
              </a:spcAft>
              <a:buSzPts val="2400"/>
              <a:buFont typeface="Open Sans"/>
              <a:buChar char="●"/>
            </a:pPr>
            <a:r>
              <a:rPr b="0" lang="en-US" sz="2400">
                <a:latin typeface="Open Sans"/>
                <a:ea typeface="Open Sans"/>
                <a:cs typeface="Open Sans"/>
                <a:sym typeface="Open Sans"/>
              </a:rPr>
              <a:t>CAD design for shell modification</a:t>
            </a:r>
            <a:endParaRPr b="0" sz="2400">
              <a:latin typeface="Open Sans"/>
              <a:ea typeface="Open Sans"/>
              <a:cs typeface="Open Sans"/>
              <a:sym typeface="Open Sans"/>
            </a:endParaRPr>
          </a:p>
          <a:p>
            <a:pPr indent="-381000" lvl="0" marL="457200" rtl="0" algn="l">
              <a:spcBef>
                <a:spcPts val="0"/>
              </a:spcBef>
              <a:spcAft>
                <a:spcPts val="0"/>
              </a:spcAft>
              <a:buSzPts val="2400"/>
              <a:buFont typeface="Open Sans"/>
              <a:buChar char="●"/>
            </a:pPr>
            <a:r>
              <a:rPr b="0" lang="en-US" sz="2400">
                <a:latin typeface="Open Sans"/>
                <a:ea typeface="Open Sans"/>
                <a:cs typeface="Open Sans"/>
                <a:sym typeface="Open Sans"/>
              </a:rPr>
              <a:t>Plan component connections</a:t>
            </a:r>
            <a:endParaRPr b="0" sz="2400">
              <a:latin typeface="Open Sans"/>
              <a:ea typeface="Open Sans"/>
              <a:cs typeface="Open Sans"/>
              <a:sym typeface="Open Sans"/>
            </a:endParaRPr>
          </a:p>
          <a:p>
            <a:pPr indent="-381000" lvl="0" marL="457200" rtl="0" algn="l">
              <a:spcBef>
                <a:spcPts val="0"/>
              </a:spcBef>
              <a:spcAft>
                <a:spcPts val="0"/>
              </a:spcAft>
              <a:buSzPts val="2400"/>
              <a:buFont typeface="Open Sans"/>
              <a:buChar char="●"/>
            </a:pPr>
            <a:r>
              <a:rPr b="0" lang="en-US" sz="2400">
                <a:latin typeface="Open Sans"/>
                <a:ea typeface="Open Sans"/>
                <a:cs typeface="Open Sans"/>
                <a:sym typeface="Open Sans"/>
              </a:rPr>
              <a:t>Physical debugging</a:t>
            </a:r>
            <a:endParaRPr b="0" sz="2400">
              <a:latin typeface="Open Sans"/>
              <a:ea typeface="Open Sans"/>
              <a:cs typeface="Open Sans"/>
              <a:sym typeface="Open Sans"/>
            </a:endParaRPr>
          </a:p>
          <a:p>
            <a:pPr indent="-381000" lvl="0" marL="457200" rtl="0" algn="l">
              <a:spcBef>
                <a:spcPts val="0"/>
              </a:spcBef>
              <a:spcAft>
                <a:spcPts val="0"/>
              </a:spcAft>
              <a:buSzPts val="2400"/>
              <a:buFont typeface="Open Sans"/>
              <a:buChar char="●"/>
            </a:pPr>
            <a:r>
              <a:rPr b="0" lang="en-US" sz="2400">
                <a:latin typeface="Open Sans"/>
                <a:ea typeface="Open Sans"/>
                <a:cs typeface="Open Sans"/>
                <a:sym typeface="Open Sans"/>
              </a:rPr>
              <a:t>Calculate capacity needs (power, etc)</a:t>
            </a:r>
            <a:endParaRPr b="0" sz="2400">
              <a:latin typeface="Open Sans"/>
              <a:ea typeface="Open Sans"/>
              <a:cs typeface="Open Sans"/>
              <a:sym typeface="Open Sans"/>
            </a:endParaRPr>
          </a:p>
          <a:p>
            <a:pPr indent="-381000" lvl="0" marL="457200" rtl="0" algn="l">
              <a:spcBef>
                <a:spcPts val="0"/>
              </a:spcBef>
              <a:spcAft>
                <a:spcPts val="0"/>
              </a:spcAft>
              <a:buSzPts val="2400"/>
              <a:buFont typeface="Open Sans"/>
              <a:buChar char="●"/>
            </a:pPr>
            <a:r>
              <a:rPr b="0" lang="en-US" sz="2400">
                <a:latin typeface="Open Sans"/>
                <a:ea typeface="Open Sans"/>
                <a:cs typeface="Open Sans"/>
                <a:sym typeface="Open Sans"/>
              </a:rPr>
              <a:t>Document hardware assembly procedures</a:t>
            </a:r>
            <a:endParaRPr b="0" sz="2400">
              <a:latin typeface="Open Sans"/>
              <a:ea typeface="Open Sans"/>
              <a:cs typeface="Open Sans"/>
              <a:sym typeface="Open Sans"/>
            </a:endParaRPr>
          </a:p>
          <a:p>
            <a:pPr indent="0" lvl="0" marL="0" rtl="0" algn="l">
              <a:spcBef>
                <a:spcPts val="0"/>
              </a:spcBef>
              <a:spcAft>
                <a:spcPts val="0"/>
              </a:spcAft>
              <a:buNone/>
            </a:pPr>
            <a:r>
              <a:t/>
            </a:r>
            <a:endParaRPr/>
          </a:p>
          <a:p>
            <a:pPr indent="-203200" lvl="0" marL="342900" rtl="0" algn="l">
              <a:spcBef>
                <a:spcPts val="0"/>
              </a:spcBef>
              <a:spcAft>
                <a:spcPts val="0"/>
              </a:spcAft>
              <a:buClr>
                <a:srgbClr val="500000"/>
              </a:buClr>
              <a:buSzPts val="2200"/>
              <a:buNone/>
            </a:pPr>
            <a:r>
              <a:t/>
            </a:r>
            <a:endParaRPr/>
          </a:p>
          <a:p>
            <a:pPr indent="-203200" lvl="0" marL="342900" rtl="0" algn="l">
              <a:spcBef>
                <a:spcPts val="0"/>
              </a:spcBef>
              <a:spcAft>
                <a:spcPts val="0"/>
              </a:spcAft>
              <a:buClr>
                <a:srgbClr val="500000"/>
              </a:buClr>
              <a:buSzPts val="2200"/>
              <a:buNone/>
            </a:pPr>
            <a:r>
              <a:t/>
            </a:r>
            <a:endParaRPr/>
          </a:p>
        </p:txBody>
      </p:sp>
      <p:sp>
        <p:nvSpPr>
          <p:cNvPr id="239" name="Google Shape;239;g3bd96a98101_0_55"/>
          <p:cNvSpPr txBox="1"/>
          <p:nvPr>
            <p:ph type="title"/>
          </p:nvPr>
        </p:nvSpPr>
        <p:spPr>
          <a:xfrm>
            <a:off x="609600" y="238118"/>
            <a:ext cx="10972800" cy="8937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00000"/>
              </a:buClr>
              <a:buSzPts val="4400"/>
              <a:buFont typeface="Oswald Medium"/>
              <a:buNone/>
            </a:pPr>
            <a:r>
              <a:rPr lang="en-US">
                <a:solidFill>
                  <a:schemeClr val="lt1"/>
                </a:solidFill>
              </a:rPr>
              <a:t>Project management &amp; teamwork</a:t>
            </a:r>
            <a:endParaRPr>
              <a:solidFill>
                <a:schemeClr val="lt1"/>
              </a:solidFill>
            </a:endParaRPr>
          </a:p>
        </p:txBody>
      </p:sp>
      <p:sp>
        <p:nvSpPr>
          <p:cNvPr id="240" name="Google Shape;240;g3bd96a98101_0_55"/>
          <p:cNvSpPr txBox="1"/>
          <p:nvPr/>
        </p:nvSpPr>
        <p:spPr>
          <a:xfrm>
            <a:off x="6197700" y="1418575"/>
            <a:ext cx="5384700" cy="52092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US" sz="2200">
                <a:solidFill>
                  <a:srgbClr val="500000"/>
                </a:solidFill>
                <a:latin typeface="Open Sans ExtraBold"/>
                <a:ea typeface="Open Sans ExtraBold"/>
                <a:cs typeface="Open Sans ExtraBold"/>
                <a:sym typeface="Open Sans ExtraBold"/>
              </a:rPr>
              <a:t>Software</a:t>
            </a:r>
            <a:endParaRPr b="1" sz="2200">
              <a:solidFill>
                <a:srgbClr val="500000"/>
              </a:solidFill>
              <a:latin typeface="Open Sans ExtraBold"/>
              <a:ea typeface="Open Sans ExtraBold"/>
              <a:cs typeface="Open Sans ExtraBold"/>
              <a:sym typeface="Open Sans ExtraBold"/>
            </a:endParaRPr>
          </a:p>
          <a:p>
            <a:pPr indent="0" lvl="0" marL="0" rtl="0" algn="l">
              <a:spcBef>
                <a:spcPts val="0"/>
              </a:spcBef>
              <a:spcAft>
                <a:spcPts val="0"/>
              </a:spcAft>
              <a:buNone/>
            </a:pPr>
            <a:r>
              <a:rPr lang="en-US" sz="2000" u="sng">
                <a:solidFill>
                  <a:srgbClr val="500000"/>
                </a:solidFill>
                <a:latin typeface="Open Sans"/>
                <a:ea typeface="Open Sans"/>
                <a:cs typeface="Open Sans"/>
                <a:sym typeface="Open Sans"/>
              </a:rPr>
              <a:t>Brandon (Computer Vision &amp; SLAM)</a:t>
            </a:r>
            <a:endParaRPr sz="2000" u="sng">
              <a:solidFill>
                <a:srgbClr val="500000"/>
              </a:solidFill>
              <a:latin typeface="Open Sans"/>
              <a:ea typeface="Open Sans"/>
              <a:cs typeface="Open Sans"/>
              <a:sym typeface="Open Sans"/>
            </a:endParaRPr>
          </a:p>
          <a:p>
            <a:pPr indent="0" lvl="0" marL="0" rtl="0" algn="l">
              <a:spcBef>
                <a:spcPts val="0"/>
              </a:spcBef>
              <a:spcAft>
                <a:spcPts val="0"/>
              </a:spcAft>
              <a:buNone/>
            </a:pPr>
            <a:r>
              <a:rPr lang="en-US" sz="2000">
                <a:solidFill>
                  <a:srgbClr val="500000"/>
                </a:solidFill>
                <a:latin typeface="Open Sans ExtraBold"/>
                <a:ea typeface="Open Sans ExtraBold"/>
                <a:cs typeface="Open Sans ExtraBold"/>
                <a:sym typeface="Open Sans ExtraBold"/>
              </a:rPr>
              <a:t>&gt;System Design Architect</a:t>
            </a:r>
            <a:endParaRPr sz="2000">
              <a:solidFill>
                <a:srgbClr val="500000"/>
              </a:solidFill>
              <a:latin typeface="Open Sans ExtraBold"/>
              <a:ea typeface="Open Sans ExtraBold"/>
              <a:cs typeface="Open Sans ExtraBold"/>
              <a:sym typeface="Open Sans ExtraBold"/>
            </a:endParaRPr>
          </a:p>
          <a:p>
            <a:pPr indent="-355600" lvl="0" marL="457200" rtl="0" algn="l">
              <a:spcBef>
                <a:spcPts val="0"/>
              </a:spcBef>
              <a:spcAft>
                <a:spcPts val="0"/>
              </a:spcAft>
              <a:buClr>
                <a:srgbClr val="500000"/>
              </a:buClr>
              <a:buSzPts val="2000"/>
              <a:buFont typeface="Open Sans"/>
              <a:buChar char="●"/>
            </a:pPr>
            <a:r>
              <a:rPr lang="en-US" sz="2000">
                <a:solidFill>
                  <a:srgbClr val="500000"/>
                </a:solidFill>
                <a:latin typeface="Open Sans"/>
                <a:ea typeface="Open Sans"/>
                <a:cs typeface="Open Sans"/>
                <a:sym typeface="Open Sans"/>
              </a:rPr>
              <a:t>S</a:t>
            </a:r>
            <a:r>
              <a:rPr lang="en-US" sz="2000">
                <a:solidFill>
                  <a:srgbClr val="500000"/>
                </a:solidFill>
                <a:latin typeface="Open Sans"/>
                <a:ea typeface="Open Sans"/>
                <a:cs typeface="Open Sans"/>
                <a:sym typeface="Open Sans"/>
              </a:rPr>
              <a:t>LAM implementation</a:t>
            </a:r>
            <a:endParaRPr sz="2000">
              <a:solidFill>
                <a:srgbClr val="500000"/>
              </a:solidFill>
              <a:latin typeface="Open Sans"/>
              <a:ea typeface="Open Sans"/>
              <a:cs typeface="Open Sans"/>
              <a:sym typeface="Open Sans"/>
            </a:endParaRPr>
          </a:p>
          <a:p>
            <a:pPr indent="-355600" lvl="0" marL="457200" rtl="0" algn="l">
              <a:spcBef>
                <a:spcPts val="0"/>
              </a:spcBef>
              <a:spcAft>
                <a:spcPts val="0"/>
              </a:spcAft>
              <a:buClr>
                <a:srgbClr val="500000"/>
              </a:buClr>
              <a:buSzPts val="2000"/>
              <a:buFont typeface="Open Sans"/>
              <a:buChar char="●"/>
            </a:pPr>
            <a:r>
              <a:rPr lang="en-US" sz="2000">
                <a:solidFill>
                  <a:srgbClr val="500000"/>
                </a:solidFill>
                <a:latin typeface="Open Sans"/>
                <a:ea typeface="Open Sans"/>
                <a:cs typeface="Open Sans"/>
                <a:sym typeface="Open Sans"/>
              </a:rPr>
              <a:t>3D map generation + visualization</a:t>
            </a:r>
            <a:endParaRPr sz="2000">
              <a:solidFill>
                <a:srgbClr val="500000"/>
              </a:solidFill>
              <a:latin typeface="Open Sans"/>
              <a:ea typeface="Open Sans"/>
              <a:cs typeface="Open Sans"/>
              <a:sym typeface="Open Sans"/>
            </a:endParaRPr>
          </a:p>
          <a:p>
            <a:pPr indent="-355600" lvl="0" marL="457200" rtl="0" algn="l">
              <a:spcBef>
                <a:spcPts val="0"/>
              </a:spcBef>
              <a:spcAft>
                <a:spcPts val="0"/>
              </a:spcAft>
              <a:buClr>
                <a:srgbClr val="500000"/>
              </a:buClr>
              <a:buSzPts val="2000"/>
              <a:buFont typeface="Open Sans"/>
              <a:buChar char="●"/>
            </a:pPr>
            <a:r>
              <a:rPr lang="en-US" sz="2000">
                <a:solidFill>
                  <a:srgbClr val="500000"/>
                </a:solidFill>
                <a:latin typeface="Open Sans"/>
                <a:ea typeface="Open Sans"/>
                <a:cs typeface="Open Sans"/>
                <a:sym typeface="Open Sans"/>
              </a:rPr>
              <a:t>Object-detection implementation</a:t>
            </a:r>
            <a:endParaRPr sz="2000">
              <a:solidFill>
                <a:srgbClr val="500000"/>
              </a:solidFill>
              <a:latin typeface="Open Sans"/>
              <a:ea typeface="Open Sans"/>
              <a:cs typeface="Open Sans"/>
              <a:sym typeface="Open Sans"/>
            </a:endParaRPr>
          </a:p>
          <a:p>
            <a:pPr indent="-355600" lvl="0" marL="457200" rtl="0" algn="l">
              <a:spcBef>
                <a:spcPts val="0"/>
              </a:spcBef>
              <a:spcAft>
                <a:spcPts val="0"/>
              </a:spcAft>
              <a:buClr>
                <a:srgbClr val="500000"/>
              </a:buClr>
              <a:buSzPts val="2000"/>
              <a:buFont typeface="Open Sans"/>
              <a:buChar char="●"/>
            </a:pPr>
            <a:r>
              <a:rPr lang="en-US" sz="2000">
                <a:solidFill>
                  <a:srgbClr val="500000"/>
                </a:solidFill>
                <a:latin typeface="Open Sans"/>
                <a:ea typeface="Open Sans"/>
                <a:cs typeface="Open Sans"/>
                <a:sym typeface="Open Sans"/>
              </a:rPr>
              <a:t>Camera-cut algorithm</a:t>
            </a:r>
            <a:endParaRPr sz="2000">
              <a:solidFill>
                <a:srgbClr val="500000"/>
              </a:solidFill>
              <a:latin typeface="Open Sans"/>
              <a:ea typeface="Open Sans"/>
              <a:cs typeface="Open Sans"/>
              <a:sym typeface="Open Sans"/>
            </a:endParaRPr>
          </a:p>
          <a:p>
            <a:pPr indent="0" lvl="0" marL="0" rtl="0" algn="l">
              <a:spcBef>
                <a:spcPts val="0"/>
              </a:spcBef>
              <a:spcAft>
                <a:spcPts val="0"/>
              </a:spcAft>
              <a:buNone/>
            </a:pPr>
            <a:r>
              <a:rPr lang="en-US" sz="2000" u="sng">
                <a:solidFill>
                  <a:srgbClr val="500000"/>
                </a:solidFill>
                <a:latin typeface="Open Sans"/>
                <a:ea typeface="Open Sans"/>
                <a:cs typeface="Open Sans"/>
                <a:sym typeface="Open Sans"/>
              </a:rPr>
              <a:t>Hai Yen (Embedded Systems &amp; UI)</a:t>
            </a:r>
            <a:endParaRPr sz="2000" u="sng">
              <a:solidFill>
                <a:srgbClr val="500000"/>
              </a:solidFill>
              <a:latin typeface="Open Sans"/>
              <a:ea typeface="Open Sans"/>
              <a:cs typeface="Open Sans"/>
              <a:sym typeface="Open Sans"/>
            </a:endParaRPr>
          </a:p>
          <a:p>
            <a:pPr indent="0" lvl="0" marL="0" rtl="0" algn="l">
              <a:spcBef>
                <a:spcPts val="0"/>
              </a:spcBef>
              <a:spcAft>
                <a:spcPts val="0"/>
              </a:spcAft>
              <a:buNone/>
            </a:pPr>
            <a:r>
              <a:rPr lang="en-US" sz="2000">
                <a:solidFill>
                  <a:srgbClr val="500000"/>
                </a:solidFill>
                <a:latin typeface="Open Sans ExtraBold"/>
                <a:ea typeface="Open Sans ExtraBold"/>
                <a:cs typeface="Open Sans ExtraBold"/>
                <a:sym typeface="Open Sans ExtraBold"/>
              </a:rPr>
              <a:t>&gt;Testing Coordinator</a:t>
            </a:r>
            <a:endParaRPr sz="2000">
              <a:solidFill>
                <a:srgbClr val="500000"/>
              </a:solidFill>
              <a:latin typeface="Open Sans ExtraBold"/>
              <a:ea typeface="Open Sans ExtraBold"/>
              <a:cs typeface="Open Sans ExtraBold"/>
              <a:sym typeface="Open Sans ExtraBold"/>
            </a:endParaRPr>
          </a:p>
          <a:p>
            <a:pPr indent="-355600" lvl="0" marL="457200" rtl="0" algn="l">
              <a:spcBef>
                <a:spcPts val="0"/>
              </a:spcBef>
              <a:spcAft>
                <a:spcPts val="0"/>
              </a:spcAft>
              <a:buClr>
                <a:srgbClr val="500000"/>
              </a:buClr>
              <a:buSzPts val="2000"/>
              <a:buFont typeface="Open Sans"/>
              <a:buChar char="●"/>
            </a:pPr>
            <a:r>
              <a:rPr lang="en-US" sz="2000">
                <a:solidFill>
                  <a:srgbClr val="500000"/>
                </a:solidFill>
                <a:latin typeface="Open Sans"/>
                <a:ea typeface="Open Sans"/>
                <a:cs typeface="Open Sans"/>
                <a:sym typeface="Open Sans"/>
              </a:rPr>
              <a:t>User interface design</a:t>
            </a:r>
            <a:endParaRPr sz="2000">
              <a:solidFill>
                <a:srgbClr val="500000"/>
              </a:solidFill>
              <a:latin typeface="Open Sans"/>
              <a:ea typeface="Open Sans"/>
              <a:cs typeface="Open Sans"/>
              <a:sym typeface="Open Sans"/>
            </a:endParaRPr>
          </a:p>
          <a:p>
            <a:pPr indent="-355600" lvl="0" marL="457200" rtl="0" algn="l">
              <a:spcBef>
                <a:spcPts val="0"/>
              </a:spcBef>
              <a:spcAft>
                <a:spcPts val="0"/>
              </a:spcAft>
              <a:buClr>
                <a:srgbClr val="500000"/>
              </a:buClr>
              <a:buSzPts val="2000"/>
              <a:buFont typeface="Open Sans"/>
              <a:buChar char="●"/>
            </a:pPr>
            <a:r>
              <a:rPr lang="en-US" sz="2000">
                <a:solidFill>
                  <a:srgbClr val="500000"/>
                </a:solidFill>
                <a:latin typeface="Open Sans"/>
                <a:ea typeface="Open Sans"/>
                <a:cs typeface="Open Sans"/>
                <a:sym typeface="Open Sans"/>
              </a:rPr>
              <a:t>Sensor data processing</a:t>
            </a:r>
            <a:endParaRPr sz="2000">
              <a:solidFill>
                <a:srgbClr val="500000"/>
              </a:solidFill>
              <a:latin typeface="Open Sans"/>
              <a:ea typeface="Open Sans"/>
              <a:cs typeface="Open Sans"/>
              <a:sym typeface="Open Sans"/>
            </a:endParaRPr>
          </a:p>
          <a:p>
            <a:pPr indent="-355600" lvl="0" marL="457200" rtl="0" algn="l">
              <a:spcBef>
                <a:spcPts val="0"/>
              </a:spcBef>
              <a:spcAft>
                <a:spcPts val="0"/>
              </a:spcAft>
              <a:buClr>
                <a:srgbClr val="500000"/>
              </a:buClr>
              <a:buSzPts val="2000"/>
              <a:buFont typeface="Open Sans"/>
              <a:buChar char="●"/>
            </a:pPr>
            <a:r>
              <a:rPr lang="en-US" sz="2000">
                <a:solidFill>
                  <a:srgbClr val="500000"/>
                </a:solidFill>
                <a:latin typeface="Open Sans"/>
                <a:ea typeface="Open Sans"/>
                <a:cs typeface="Open Sans"/>
                <a:sym typeface="Open Sans"/>
              </a:rPr>
              <a:t>Sensor calibration</a:t>
            </a:r>
            <a:endParaRPr sz="2000">
              <a:solidFill>
                <a:srgbClr val="500000"/>
              </a:solidFill>
              <a:latin typeface="Open Sans"/>
              <a:ea typeface="Open Sans"/>
              <a:cs typeface="Open Sans"/>
              <a:sym typeface="Open Sans"/>
            </a:endParaRPr>
          </a:p>
          <a:p>
            <a:pPr indent="0" lvl="0" marL="0" rtl="0" algn="l">
              <a:spcBef>
                <a:spcPts val="0"/>
              </a:spcBef>
              <a:spcAft>
                <a:spcPts val="0"/>
              </a:spcAft>
              <a:buNone/>
            </a:pPr>
            <a:r>
              <a:rPr lang="en-US" sz="2000" u="sng">
                <a:solidFill>
                  <a:srgbClr val="500000"/>
                </a:solidFill>
                <a:latin typeface="Open Sans"/>
                <a:ea typeface="Open Sans"/>
                <a:cs typeface="Open Sans"/>
                <a:sym typeface="Open Sans"/>
              </a:rPr>
              <a:t>Josh (Networking &amp; Streaming Design)</a:t>
            </a:r>
            <a:endParaRPr sz="2000" u="sng">
              <a:solidFill>
                <a:srgbClr val="500000"/>
              </a:solidFill>
              <a:latin typeface="Open Sans"/>
              <a:ea typeface="Open Sans"/>
              <a:cs typeface="Open Sans"/>
              <a:sym typeface="Open Sans"/>
            </a:endParaRPr>
          </a:p>
          <a:p>
            <a:pPr indent="0" lvl="0" marL="0" rtl="0" algn="l">
              <a:spcBef>
                <a:spcPts val="0"/>
              </a:spcBef>
              <a:spcAft>
                <a:spcPts val="0"/>
              </a:spcAft>
              <a:buNone/>
            </a:pPr>
            <a:r>
              <a:rPr lang="en-US" sz="2000">
                <a:solidFill>
                  <a:srgbClr val="500000"/>
                </a:solidFill>
                <a:latin typeface="Open Sans ExtraBold"/>
                <a:ea typeface="Open Sans ExtraBold"/>
                <a:cs typeface="Open Sans ExtraBold"/>
                <a:sym typeface="Open Sans ExtraBold"/>
              </a:rPr>
              <a:t>&gt;Technical Reporting &amp; Documentation</a:t>
            </a:r>
            <a:endParaRPr sz="2000">
              <a:solidFill>
                <a:srgbClr val="500000"/>
              </a:solidFill>
              <a:latin typeface="Open Sans ExtraBold"/>
              <a:ea typeface="Open Sans ExtraBold"/>
              <a:cs typeface="Open Sans ExtraBold"/>
              <a:sym typeface="Open Sans ExtraBold"/>
            </a:endParaRPr>
          </a:p>
          <a:p>
            <a:pPr indent="-355600" lvl="0" marL="457200" rtl="0" algn="l">
              <a:spcBef>
                <a:spcPts val="0"/>
              </a:spcBef>
              <a:spcAft>
                <a:spcPts val="0"/>
              </a:spcAft>
              <a:buClr>
                <a:srgbClr val="500000"/>
              </a:buClr>
              <a:buSzPts val="2000"/>
              <a:buFont typeface="Open Sans"/>
              <a:buChar char="●"/>
            </a:pPr>
            <a:r>
              <a:rPr lang="en-US" sz="2000">
                <a:solidFill>
                  <a:srgbClr val="500000"/>
                </a:solidFill>
                <a:latin typeface="Open Sans"/>
                <a:ea typeface="Open Sans"/>
                <a:cs typeface="Open Sans"/>
                <a:sym typeface="Open Sans"/>
              </a:rPr>
              <a:t>Real-time data processing</a:t>
            </a:r>
            <a:endParaRPr sz="2000">
              <a:solidFill>
                <a:srgbClr val="500000"/>
              </a:solidFill>
              <a:latin typeface="Open Sans"/>
              <a:ea typeface="Open Sans"/>
              <a:cs typeface="Open Sans"/>
              <a:sym typeface="Open Sans"/>
            </a:endParaRPr>
          </a:p>
          <a:p>
            <a:pPr indent="-355600" lvl="0" marL="457200" rtl="0" algn="l">
              <a:spcBef>
                <a:spcPts val="0"/>
              </a:spcBef>
              <a:spcAft>
                <a:spcPts val="0"/>
              </a:spcAft>
              <a:buClr>
                <a:srgbClr val="500000"/>
              </a:buClr>
              <a:buSzPts val="2000"/>
              <a:buFont typeface="Open Sans"/>
              <a:buChar char="●"/>
            </a:pPr>
            <a:r>
              <a:rPr lang="en-US" sz="2000">
                <a:solidFill>
                  <a:srgbClr val="500000"/>
                </a:solidFill>
                <a:latin typeface="Open Sans"/>
                <a:ea typeface="Open Sans"/>
                <a:cs typeface="Open Sans"/>
                <a:sym typeface="Open Sans"/>
              </a:rPr>
              <a:t>Backend API management</a:t>
            </a:r>
            <a:endParaRPr sz="2000">
              <a:solidFill>
                <a:srgbClr val="500000"/>
              </a:solidFill>
              <a:latin typeface="Open Sans"/>
              <a:ea typeface="Open Sans"/>
              <a:cs typeface="Open Sans"/>
              <a:sym typeface="Open Sans"/>
            </a:endParaRPr>
          </a:p>
          <a:p>
            <a:pPr indent="-355600" lvl="0" marL="457200" rtl="0" algn="l">
              <a:spcBef>
                <a:spcPts val="0"/>
              </a:spcBef>
              <a:spcAft>
                <a:spcPts val="0"/>
              </a:spcAft>
              <a:buClr>
                <a:srgbClr val="500000"/>
              </a:buClr>
              <a:buSzPts val="2000"/>
              <a:buFont typeface="Open Sans"/>
              <a:buChar char="●"/>
            </a:pPr>
            <a:r>
              <a:rPr lang="en-US" sz="2000">
                <a:solidFill>
                  <a:srgbClr val="500000"/>
                </a:solidFill>
                <a:latin typeface="Open Sans"/>
                <a:ea typeface="Open Sans"/>
                <a:cs typeface="Open Sans"/>
                <a:sym typeface="Open Sans"/>
              </a:rPr>
              <a:t>Camera feed synchronization</a:t>
            </a:r>
            <a:endParaRPr b="1" sz="2000">
              <a:solidFill>
                <a:srgbClr val="500000"/>
              </a:solidFill>
              <a:latin typeface="Open Sans ExtraBold"/>
              <a:ea typeface="Open Sans ExtraBold"/>
              <a:cs typeface="Open Sans ExtraBold"/>
              <a:sym typeface="Open Sans ExtraBo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g3c82bc410a0_0_14"/>
          <p:cNvSpPr txBox="1"/>
          <p:nvPr>
            <p:ph idx="1" type="body"/>
          </p:nvPr>
        </p:nvSpPr>
        <p:spPr>
          <a:xfrm>
            <a:off x="609600" y="1623250"/>
            <a:ext cx="10972800" cy="4503000"/>
          </a:xfrm>
          <a:prstGeom prst="rect">
            <a:avLst/>
          </a:prstGeom>
          <a:noFill/>
          <a:ln>
            <a:noFill/>
          </a:ln>
        </p:spPr>
        <p:txBody>
          <a:bodyPr anchorCtr="0" anchor="t" bIns="45700" lIns="91425" spcFirstLastPara="1" rIns="91425" wrap="square" tIns="45700">
            <a:normAutofit lnSpcReduction="20000"/>
          </a:bodyPr>
          <a:lstStyle/>
          <a:p>
            <a:pPr indent="0" lvl="0" marL="0" rtl="0" algn="l">
              <a:spcBef>
                <a:spcPts val="0"/>
              </a:spcBef>
              <a:spcAft>
                <a:spcPts val="0"/>
              </a:spcAft>
              <a:buNone/>
            </a:pPr>
            <a:r>
              <a:rPr lang="en-US"/>
              <a:t>General Responsibilities</a:t>
            </a:r>
            <a:endParaRPr b="0" sz="2400" u="sng">
              <a:latin typeface="Open Sans"/>
              <a:ea typeface="Open Sans"/>
              <a:cs typeface="Open Sans"/>
              <a:sym typeface="Open Sans"/>
            </a:endParaRPr>
          </a:p>
          <a:p>
            <a:pPr indent="-355600" lvl="0" marL="457200" rtl="0" algn="l">
              <a:spcBef>
                <a:spcPts val="0"/>
              </a:spcBef>
              <a:spcAft>
                <a:spcPts val="0"/>
              </a:spcAft>
              <a:buSzPts val="2000"/>
              <a:buFont typeface="Open Sans"/>
              <a:buChar char="●"/>
            </a:pPr>
            <a:r>
              <a:rPr b="0" lang="en-US" sz="2000">
                <a:latin typeface="Open Sans"/>
                <a:ea typeface="Open Sans"/>
                <a:cs typeface="Open Sans"/>
                <a:sym typeface="Open Sans"/>
              </a:rPr>
              <a:t>Testing product via dropping, throwing, rolling</a:t>
            </a:r>
            <a:endParaRPr b="0" sz="2000">
              <a:latin typeface="Open Sans"/>
              <a:ea typeface="Open Sans"/>
              <a:cs typeface="Open Sans"/>
              <a:sym typeface="Open Sans"/>
            </a:endParaRPr>
          </a:p>
          <a:p>
            <a:pPr indent="-355600" lvl="0" marL="457200" rtl="0" algn="l">
              <a:spcBef>
                <a:spcPts val="0"/>
              </a:spcBef>
              <a:spcAft>
                <a:spcPts val="0"/>
              </a:spcAft>
              <a:buSzPts val="2000"/>
              <a:buFont typeface="Open Sans"/>
              <a:buChar char="●"/>
            </a:pPr>
            <a:r>
              <a:rPr b="0" lang="en-US" sz="2000">
                <a:latin typeface="Open Sans"/>
                <a:ea typeface="Open Sans"/>
                <a:cs typeface="Open Sans"/>
                <a:sym typeface="Open Sans"/>
              </a:rPr>
              <a:t>Debugging</a:t>
            </a:r>
            <a:endParaRPr b="0" sz="2000">
              <a:latin typeface="Open Sans"/>
              <a:ea typeface="Open Sans"/>
              <a:cs typeface="Open Sans"/>
              <a:sym typeface="Open Sans"/>
            </a:endParaRPr>
          </a:p>
          <a:p>
            <a:pPr indent="-355600" lvl="0" marL="457200" rtl="0" algn="l">
              <a:spcBef>
                <a:spcPts val="0"/>
              </a:spcBef>
              <a:spcAft>
                <a:spcPts val="0"/>
              </a:spcAft>
              <a:buSzPts val="2000"/>
              <a:buFont typeface="Open Sans"/>
              <a:buChar char="●"/>
            </a:pPr>
            <a:r>
              <a:rPr b="0" lang="en-US" sz="2000">
                <a:latin typeface="Open Sans"/>
                <a:ea typeface="Open Sans"/>
                <a:cs typeface="Open Sans"/>
                <a:sym typeface="Open Sans"/>
              </a:rPr>
              <a:t>Documentation</a:t>
            </a:r>
            <a:endParaRPr b="0" sz="2000">
              <a:latin typeface="Open Sans"/>
              <a:ea typeface="Open Sans"/>
              <a:cs typeface="Open Sans"/>
              <a:sym typeface="Open Sans"/>
            </a:endParaRPr>
          </a:p>
          <a:p>
            <a:pPr indent="-355600" lvl="1" marL="914400" rtl="0" algn="l">
              <a:spcBef>
                <a:spcPts val="0"/>
              </a:spcBef>
              <a:spcAft>
                <a:spcPts val="0"/>
              </a:spcAft>
              <a:buSzPts val="2000"/>
              <a:buFont typeface="Open Sans"/>
              <a:buChar char="○"/>
            </a:pPr>
            <a:r>
              <a:rPr lang="en-US" sz="2000"/>
              <a:t>Personal notebook on general progress, thoughts, tasks</a:t>
            </a:r>
            <a:endParaRPr sz="2000"/>
          </a:p>
          <a:p>
            <a:pPr indent="-355600" lvl="1" marL="914400" rtl="0" algn="l">
              <a:spcBef>
                <a:spcPts val="0"/>
              </a:spcBef>
              <a:spcAft>
                <a:spcPts val="0"/>
              </a:spcAft>
              <a:buSzPts val="2000"/>
              <a:buChar char="○"/>
            </a:pPr>
            <a:r>
              <a:rPr lang="en-US" sz="2000"/>
              <a:t>Documenting respective specialized role for other team members to use for referencing cross-dependency tasks and timeline </a:t>
            </a:r>
            <a:endParaRPr sz="2000"/>
          </a:p>
          <a:p>
            <a:pPr indent="0" lvl="0" marL="914400" rtl="0" algn="l">
              <a:spcBef>
                <a:spcPts val="0"/>
              </a:spcBef>
              <a:spcAft>
                <a:spcPts val="0"/>
              </a:spcAft>
              <a:buNone/>
            </a:pPr>
            <a:r>
              <a:rPr b="0" lang="en-US" sz="2000">
                <a:latin typeface="Open Sans"/>
                <a:ea typeface="Open Sans"/>
                <a:cs typeface="Open Sans"/>
                <a:sym typeface="Open Sans"/>
              </a:rPr>
              <a:t>(Ex: Embedded Systems and Hardware team for debugging sensors feed)</a:t>
            </a:r>
            <a:endParaRPr b="0" sz="2000">
              <a:latin typeface="Open Sans"/>
              <a:ea typeface="Open Sans"/>
              <a:cs typeface="Open Sans"/>
              <a:sym typeface="Open Sans"/>
            </a:endParaRPr>
          </a:p>
          <a:p>
            <a:pPr indent="0" lvl="0" marL="0" rtl="0" algn="l">
              <a:spcBef>
                <a:spcPts val="0"/>
              </a:spcBef>
              <a:spcAft>
                <a:spcPts val="0"/>
              </a:spcAft>
              <a:buNone/>
            </a:pPr>
            <a:r>
              <a:t/>
            </a:r>
            <a:endParaRPr b="0" sz="2400">
              <a:latin typeface="Open Sans"/>
              <a:ea typeface="Open Sans"/>
              <a:cs typeface="Open Sans"/>
              <a:sym typeface="Open Sans"/>
            </a:endParaRPr>
          </a:p>
          <a:p>
            <a:pPr indent="0" lvl="0" marL="0" rtl="0" algn="l">
              <a:spcBef>
                <a:spcPts val="0"/>
              </a:spcBef>
              <a:spcAft>
                <a:spcPts val="0"/>
              </a:spcAft>
              <a:buNone/>
            </a:pPr>
            <a:r>
              <a:rPr lang="en-US" sz="2400">
                <a:latin typeface="Open Sans"/>
                <a:ea typeface="Open Sans"/>
                <a:cs typeface="Open Sans"/>
                <a:sym typeface="Open Sans"/>
              </a:rPr>
              <a:t>Management</a:t>
            </a:r>
            <a:endParaRPr b="0" sz="2400">
              <a:latin typeface="Open Sans"/>
              <a:ea typeface="Open Sans"/>
              <a:cs typeface="Open Sans"/>
              <a:sym typeface="Open Sans"/>
            </a:endParaRPr>
          </a:p>
          <a:p>
            <a:pPr indent="-355600" lvl="0" marL="457200" rtl="0" algn="l">
              <a:spcBef>
                <a:spcPts val="0"/>
              </a:spcBef>
              <a:spcAft>
                <a:spcPts val="0"/>
              </a:spcAft>
              <a:buSzPts val="2000"/>
              <a:buFont typeface="Open Sans"/>
              <a:buChar char="●"/>
            </a:pPr>
            <a:r>
              <a:rPr lang="en-US" sz="2000">
                <a:latin typeface="Open Sans"/>
                <a:ea typeface="Open Sans"/>
                <a:cs typeface="Open Sans"/>
                <a:sym typeface="Open Sans"/>
              </a:rPr>
              <a:t>Weekly meetings</a:t>
            </a:r>
            <a:r>
              <a:rPr b="0" lang="en-US" sz="2000">
                <a:latin typeface="Open Sans"/>
                <a:ea typeface="Open Sans"/>
                <a:cs typeface="Open Sans"/>
                <a:sym typeface="Open Sans"/>
              </a:rPr>
              <a:t> and agenda for updating progress status and upcoming tasks</a:t>
            </a:r>
            <a:endParaRPr b="0" sz="2000">
              <a:latin typeface="Open Sans"/>
              <a:ea typeface="Open Sans"/>
              <a:cs typeface="Open Sans"/>
              <a:sym typeface="Open Sans"/>
            </a:endParaRPr>
          </a:p>
          <a:p>
            <a:pPr indent="-355600" lvl="0" marL="457200" rtl="0" algn="l">
              <a:spcBef>
                <a:spcPts val="0"/>
              </a:spcBef>
              <a:spcAft>
                <a:spcPts val="0"/>
              </a:spcAft>
              <a:buSzPts val="2000"/>
              <a:buFont typeface="Open Sans"/>
              <a:buChar char="●"/>
            </a:pPr>
            <a:r>
              <a:rPr b="0" lang="en-US" sz="2000">
                <a:latin typeface="Open Sans"/>
                <a:ea typeface="Open Sans"/>
                <a:cs typeface="Open Sans"/>
                <a:sym typeface="Open Sans"/>
              </a:rPr>
              <a:t>Primary communication: </a:t>
            </a:r>
            <a:r>
              <a:rPr lang="en-US" sz="2000">
                <a:latin typeface="Open Sans"/>
                <a:ea typeface="Open Sans"/>
                <a:cs typeface="Open Sans"/>
                <a:sym typeface="Open Sans"/>
              </a:rPr>
              <a:t>Discord </a:t>
            </a:r>
            <a:r>
              <a:rPr b="0" lang="en-US" sz="2000">
                <a:latin typeface="Open Sans"/>
                <a:ea typeface="Open Sans"/>
                <a:cs typeface="Open Sans"/>
                <a:sym typeface="Open Sans"/>
              </a:rPr>
              <a:t>with dedicated channels for hardware, software, testing, sharing useful links and notes</a:t>
            </a:r>
            <a:endParaRPr b="0" sz="2000">
              <a:latin typeface="Open Sans"/>
              <a:ea typeface="Open Sans"/>
              <a:cs typeface="Open Sans"/>
              <a:sym typeface="Open Sans"/>
            </a:endParaRPr>
          </a:p>
          <a:p>
            <a:pPr indent="-355600" lvl="0" marL="457200" rtl="0" algn="l">
              <a:spcBef>
                <a:spcPts val="0"/>
              </a:spcBef>
              <a:spcAft>
                <a:spcPts val="0"/>
              </a:spcAft>
              <a:buSzPts val="2000"/>
              <a:buFont typeface="Open Sans"/>
              <a:buChar char="●"/>
            </a:pPr>
            <a:r>
              <a:rPr b="0" lang="en-US" sz="2000">
                <a:latin typeface="Open Sans"/>
                <a:ea typeface="Open Sans"/>
                <a:cs typeface="Open Sans"/>
                <a:sym typeface="Open Sans"/>
              </a:rPr>
              <a:t>Task and progress tracking: </a:t>
            </a:r>
            <a:r>
              <a:rPr lang="en-US" sz="2000">
                <a:latin typeface="Open Sans"/>
                <a:ea typeface="Open Sans"/>
                <a:cs typeface="Open Sans"/>
                <a:sym typeface="Open Sans"/>
              </a:rPr>
              <a:t>Github </a:t>
            </a:r>
            <a:r>
              <a:rPr b="0" lang="en-US" sz="2000">
                <a:latin typeface="Open Sans"/>
                <a:ea typeface="Open Sans"/>
                <a:cs typeface="Open Sans"/>
                <a:sym typeface="Open Sans"/>
              </a:rPr>
              <a:t>for all coding documentation and changes, </a:t>
            </a:r>
            <a:r>
              <a:rPr lang="en-US" sz="2000">
                <a:latin typeface="Open Sans"/>
                <a:ea typeface="Open Sans"/>
                <a:cs typeface="Open Sans"/>
                <a:sym typeface="Open Sans"/>
              </a:rPr>
              <a:t>Spreadsheets </a:t>
            </a:r>
            <a:r>
              <a:rPr b="0" lang="en-US" sz="2000">
                <a:latin typeface="Open Sans"/>
                <a:ea typeface="Open Sans"/>
                <a:cs typeface="Open Sans"/>
                <a:sym typeface="Open Sans"/>
              </a:rPr>
              <a:t>for team’s overall task progress and individual tasks to ensure transparency</a:t>
            </a:r>
            <a:endParaRPr b="0" sz="2000">
              <a:latin typeface="Open Sans"/>
              <a:ea typeface="Open Sans"/>
              <a:cs typeface="Open Sans"/>
              <a:sym typeface="Open Sans"/>
            </a:endParaRPr>
          </a:p>
          <a:p>
            <a:pPr indent="0" lvl="0" marL="0" rtl="0" algn="l">
              <a:spcBef>
                <a:spcPts val="0"/>
              </a:spcBef>
              <a:spcAft>
                <a:spcPts val="0"/>
              </a:spcAft>
              <a:buClr>
                <a:srgbClr val="500000"/>
              </a:buClr>
              <a:buSzPts val="2200"/>
              <a:buNone/>
            </a:pPr>
            <a:r>
              <a:t/>
            </a:r>
            <a:endParaRPr/>
          </a:p>
        </p:txBody>
      </p:sp>
      <p:sp>
        <p:nvSpPr>
          <p:cNvPr id="246" name="Google Shape;246;g3c82bc410a0_0_14"/>
          <p:cNvSpPr txBox="1"/>
          <p:nvPr>
            <p:ph type="title"/>
          </p:nvPr>
        </p:nvSpPr>
        <p:spPr>
          <a:xfrm>
            <a:off x="609600" y="238118"/>
            <a:ext cx="10972800" cy="8937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00000"/>
              </a:buClr>
              <a:buSzPts val="4400"/>
              <a:buFont typeface="Oswald Medium"/>
              <a:buNone/>
            </a:pPr>
            <a:r>
              <a:rPr lang="en-US">
                <a:solidFill>
                  <a:schemeClr val="lt1"/>
                </a:solidFill>
              </a:rPr>
              <a:t>Project management &amp; teamwork</a:t>
            </a:r>
            <a:endParaRPr>
              <a:solidFill>
                <a:schemeClr val="lt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g3bd96a98101_0_61"/>
          <p:cNvSpPr txBox="1"/>
          <p:nvPr>
            <p:ph idx="1" type="body"/>
          </p:nvPr>
        </p:nvSpPr>
        <p:spPr>
          <a:xfrm>
            <a:off x="609600" y="1520600"/>
            <a:ext cx="10147500" cy="5131800"/>
          </a:xfrm>
          <a:prstGeom prst="rect">
            <a:avLst/>
          </a:prstGeom>
          <a:noFill/>
          <a:ln>
            <a:noFill/>
          </a:ln>
        </p:spPr>
        <p:txBody>
          <a:bodyPr anchorCtr="0" anchor="t" bIns="45700" lIns="91425" spcFirstLastPara="1" rIns="91425" wrap="square" tIns="45700">
            <a:normAutofit fontScale="77500" lnSpcReduction="10000"/>
          </a:bodyPr>
          <a:lstStyle/>
          <a:p>
            <a:pPr indent="-203200" lvl="0" marL="342900" rtl="0" algn="l">
              <a:spcBef>
                <a:spcPts val="0"/>
              </a:spcBef>
              <a:spcAft>
                <a:spcPts val="0"/>
              </a:spcAft>
              <a:buClr>
                <a:srgbClr val="500000"/>
              </a:buClr>
              <a:buSzPct val="86274"/>
              <a:buNone/>
            </a:pPr>
            <a:r>
              <a:rPr b="0" lang="en-US" sz="2550"/>
              <a:t>Societal Impact</a:t>
            </a:r>
            <a:endParaRPr b="0" sz="2550"/>
          </a:p>
          <a:p>
            <a:pPr indent="-354091" lvl="0" marL="457200" rtl="0" algn="l">
              <a:spcBef>
                <a:spcPts val="0"/>
              </a:spcBef>
              <a:spcAft>
                <a:spcPts val="0"/>
              </a:spcAft>
              <a:buSzPct val="100000"/>
              <a:buChar char="•"/>
            </a:pPr>
            <a:r>
              <a:rPr b="0" lang="en-US" sz="2550">
                <a:latin typeface="Open Sans"/>
                <a:ea typeface="Open Sans"/>
                <a:cs typeface="Open Sans"/>
                <a:sym typeface="Open Sans"/>
              </a:rPr>
              <a:t>Enhances first responder safety and mission success in hazardous environments</a:t>
            </a:r>
            <a:endParaRPr b="0" sz="2550">
              <a:latin typeface="Open Sans"/>
              <a:ea typeface="Open Sans"/>
              <a:cs typeface="Open Sans"/>
              <a:sym typeface="Open Sans"/>
            </a:endParaRPr>
          </a:p>
          <a:p>
            <a:pPr indent="-354091" lvl="0" marL="457200" rtl="0" algn="l">
              <a:spcBef>
                <a:spcPts val="0"/>
              </a:spcBef>
              <a:spcAft>
                <a:spcPts val="0"/>
              </a:spcAft>
              <a:buSzPct val="100000"/>
              <a:buChar char="•"/>
            </a:pPr>
            <a:r>
              <a:rPr b="0" lang="en-US" sz="2550">
                <a:latin typeface="Open Sans"/>
                <a:ea typeface="Open Sans"/>
                <a:cs typeface="Open Sans"/>
                <a:sym typeface="Open Sans"/>
              </a:rPr>
              <a:t>Enables faster, more informed emergency decisions through real-time 3D situational awareness</a:t>
            </a:r>
            <a:endParaRPr b="0" sz="2550">
              <a:latin typeface="Open Sans"/>
              <a:ea typeface="Open Sans"/>
              <a:cs typeface="Open Sans"/>
              <a:sym typeface="Open Sans"/>
            </a:endParaRPr>
          </a:p>
          <a:p>
            <a:pPr indent="-354091" lvl="0" marL="457200" rtl="0" algn="l">
              <a:spcBef>
                <a:spcPts val="0"/>
              </a:spcBef>
              <a:spcAft>
                <a:spcPts val="0"/>
              </a:spcAft>
              <a:buSzPct val="100000"/>
              <a:buFont typeface="Open Sans"/>
              <a:buChar char="•"/>
            </a:pPr>
            <a:r>
              <a:rPr b="0" lang="en-US" sz="2550">
                <a:latin typeface="Open Sans"/>
                <a:ea typeface="Open Sans"/>
                <a:cs typeface="Open Sans"/>
                <a:sym typeface="Open Sans"/>
              </a:rPr>
              <a:t>Low cost and lack of need for training enables rapidly deployable safety at scale</a:t>
            </a:r>
            <a:endParaRPr b="0" sz="2550">
              <a:latin typeface="Open Sans"/>
              <a:ea typeface="Open Sans"/>
              <a:cs typeface="Open Sans"/>
              <a:sym typeface="Open Sans"/>
            </a:endParaRPr>
          </a:p>
          <a:p>
            <a:pPr indent="0" lvl="0" marL="457200" rtl="0" algn="l">
              <a:spcBef>
                <a:spcPts val="0"/>
              </a:spcBef>
              <a:spcAft>
                <a:spcPts val="0"/>
              </a:spcAft>
              <a:buNone/>
            </a:pPr>
            <a:r>
              <a:t/>
            </a:r>
            <a:endParaRPr b="0" sz="2550">
              <a:latin typeface="Open Sans"/>
              <a:ea typeface="Open Sans"/>
              <a:cs typeface="Open Sans"/>
              <a:sym typeface="Open Sans"/>
            </a:endParaRPr>
          </a:p>
          <a:p>
            <a:pPr indent="-203200" lvl="0" marL="342900" rtl="0" algn="l">
              <a:spcBef>
                <a:spcPts val="0"/>
              </a:spcBef>
              <a:spcAft>
                <a:spcPts val="0"/>
              </a:spcAft>
              <a:buNone/>
            </a:pPr>
            <a:r>
              <a:rPr b="0" lang="en-US" sz="2550"/>
              <a:t>Safety Considerations</a:t>
            </a:r>
            <a:endParaRPr b="0" sz="2550"/>
          </a:p>
          <a:p>
            <a:pPr indent="-354091" lvl="0" marL="457200" rtl="0" algn="l">
              <a:spcBef>
                <a:spcPts val="0"/>
              </a:spcBef>
              <a:spcAft>
                <a:spcPts val="0"/>
              </a:spcAft>
              <a:buSzPct val="100000"/>
              <a:buChar char="•"/>
            </a:pPr>
            <a:r>
              <a:rPr b="0" lang="en-US" sz="2550">
                <a:latin typeface="Open Sans"/>
                <a:ea typeface="Open Sans"/>
                <a:cs typeface="Open Sans"/>
                <a:sym typeface="Open Sans"/>
              </a:rPr>
              <a:t>Battery protection circuitry prevents electrical hazards such as overheating, overcharging, and short-circuiting </a:t>
            </a:r>
            <a:endParaRPr b="0" sz="2550">
              <a:latin typeface="Open Sans"/>
              <a:ea typeface="Open Sans"/>
              <a:cs typeface="Open Sans"/>
              <a:sym typeface="Open Sans"/>
            </a:endParaRPr>
          </a:p>
          <a:p>
            <a:pPr indent="-354091" lvl="0" marL="457200" rtl="0" algn="l">
              <a:spcBef>
                <a:spcPts val="0"/>
              </a:spcBef>
              <a:spcAft>
                <a:spcPts val="0"/>
              </a:spcAft>
              <a:buSzPct val="100000"/>
              <a:buFont typeface="Open Sans"/>
              <a:buChar char="•"/>
            </a:pPr>
            <a:r>
              <a:rPr b="0" lang="en-US" sz="2550">
                <a:latin typeface="Open Sans"/>
                <a:ea typeface="Open Sans"/>
                <a:cs typeface="Open Sans"/>
                <a:sym typeface="Open Sans"/>
              </a:rPr>
              <a:t>Remote operation capability limits direct human exposure to dangerous environments</a:t>
            </a:r>
            <a:endParaRPr b="0" sz="2550">
              <a:latin typeface="Open Sans"/>
              <a:ea typeface="Open Sans"/>
              <a:cs typeface="Open Sans"/>
              <a:sym typeface="Open Sans"/>
            </a:endParaRPr>
          </a:p>
          <a:p>
            <a:pPr indent="0" lvl="0" marL="457200" rtl="0" algn="l">
              <a:spcBef>
                <a:spcPts val="0"/>
              </a:spcBef>
              <a:spcAft>
                <a:spcPts val="0"/>
              </a:spcAft>
              <a:buNone/>
            </a:pPr>
            <a:r>
              <a:t/>
            </a:r>
            <a:endParaRPr b="0" sz="2550">
              <a:latin typeface="Open Sans"/>
              <a:ea typeface="Open Sans"/>
              <a:cs typeface="Open Sans"/>
              <a:sym typeface="Open Sans"/>
            </a:endParaRPr>
          </a:p>
          <a:p>
            <a:pPr indent="-203200" lvl="0" marL="342900" rtl="0" algn="l">
              <a:spcBef>
                <a:spcPts val="0"/>
              </a:spcBef>
              <a:spcAft>
                <a:spcPts val="0"/>
              </a:spcAft>
              <a:buNone/>
            </a:pPr>
            <a:r>
              <a:rPr b="0" lang="en-US" sz="2550"/>
              <a:t>Environmental Considerations</a:t>
            </a:r>
            <a:endParaRPr b="0" sz="2550"/>
          </a:p>
          <a:p>
            <a:pPr indent="-354091" lvl="0" marL="457200" rtl="0" algn="l">
              <a:spcBef>
                <a:spcPts val="0"/>
              </a:spcBef>
              <a:spcAft>
                <a:spcPts val="0"/>
              </a:spcAft>
              <a:buSzPct val="100000"/>
              <a:buFont typeface="Open Sans"/>
              <a:buChar char="•"/>
            </a:pPr>
            <a:r>
              <a:rPr b="0" lang="en-US" sz="2550">
                <a:latin typeface="Open Sans"/>
                <a:ea typeface="Open Sans"/>
                <a:cs typeface="Open Sans"/>
                <a:sym typeface="Open Sans"/>
              </a:rPr>
              <a:t>Compact 3D-printed shell minimizes the material waste and enables rapid prototyping </a:t>
            </a:r>
            <a:endParaRPr b="0" sz="2550">
              <a:latin typeface="Open Sans"/>
              <a:ea typeface="Open Sans"/>
              <a:cs typeface="Open Sans"/>
              <a:sym typeface="Open Sans"/>
            </a:endParaRPr>
          </a:p>
          <a:p>
            <a:pPr indent="-354091" lvl="0" marL="457200" rtl="0" algn="l">
              <a:spcBef>
                <a:spcPts val="0"/>
              </a:spcBef>
              <a:spcAft>
                <a:spcPts val="0"/>
              </a:spcAft>
              <a:buSzPct val="100000"/>
              <a:buFont typeface="Open Sans"/>
              <a:buChar char="•"/>
            </a:pPr>
            <a:r>
              <a:rPr b="0" lang="en-US" sz="2550">
                <a:latin typeface="Open Sans"/>
                <a:ea typeface="Open Sans"/>
                <a:cs typeface="Open Sans"/>
                <a:sym typeface="Open Sans"/>
              </a:rPr>
              <a:t>Energy-efficient electronics freduce power consumption and extend battery life</a:t>
            </a:r>
            <a:endParaRPr b="0" sz="2550">
              <a:latin typeface="Open Sans"/>
              <a:ea typeface="Open Sans"/>
              <a:cs typeface="Open Sans"/>
              <a:sym typeface="Open Sans"/>
            </a:endParaRPr>
          </a:p>
          <a:p>
            <a:pPr indent="0" lvl="0" marL="0" rtl="0" algn="l">
              <a:spcBef>
                <a:spcPts val="0"/>
              </a:spcBef>
              <a:spcAft>
                <a:spcPts val="0"/>
              </a:spcAft>
              <a:buNone/>
            </a:pPr>
            <a:r>
              <a:t/>
            </a:r>
            <a:endParaRPr b="0">
              <a:latin typeface="Open Sans"/>
              <a:ea typeface="Open Sans"/>
              <a:cs typeface="Open Sans"/>
              <a:sym typeface="Open Sans"/>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52" name="Google Shape;252;g3bd96a98101_0_61"/>
          <p:cNvSpPr txBox="1"/>
          <p:nvPr>
            <p:ph type="title"/>
          </p:nvPr>
        </p:nvSpPr>
        <p:spPr>
          <a:xfrm>
            <a:off x="609600" y="238118"/>
            <a:ext cx="10972800" cy="8937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00000"/>
              </a:buClr>
              <a:buSzPts val="4400"/>
              <a:buFont typeface="Oswald Medium"/>
              <a:buNone/>
            </a:pPr>
            <a:r>
              <a:rPr lang="en-US" sz="3700">
                <a:solidFill>
                  <a:schemeClr val="lt1"/>
                </a:solidFill>
              </a:rPr>
              <a:t>Societal, Safety &amp; Environmental Analysis</a:t>
            </a:r>
            <a:endParaRPr sz="3700">
              <a:solidFill>
                <a:schemeClr val="lt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
          <p:cNvSpPr txBox="1"/>
          <p:nvPr>
            <p:ph type="title"/>
          </p:nvPr>
        </p:nvSpPr>
        <p:spPr>
          <a:xfrm>
            <a:off x="1499616" y="2949047"/>
            <a:ext cx="9192768" cy="138903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00000"/>
              </a:buClr>
              <a:buSzPts val="3400"/>
              <a:buFont typeface="Oswald Medium"/>
              <a:buNone/>
            </a:pPr>
            <a:r>
              <a:rPr lang="en-US"/>
              <a:t>Questions?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
          <p:cNvSpPr txBox="1"/>
          <p:nvPr>
            <p:ph type="ctrTitle"/>
          </p:nvPr>
        </p:nvSpPr>
        <p:spPr>
          <a:xfrm>
            <a:off x="914400" y="3025293"/>
            <a:ext cx="10363200" cy="14700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5400"/>
              <a:buFont typeface="Oswald Medium"/>
              <a:buNone/>
            </a:pPr>
            <a:r>
              <a:rPr lang="en-US"/>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2017-04-06T15:59:40Z</dcterms:created>
  <dc:creator>Larua Root</dc:creator>
</cp:coreProperties>
</file>